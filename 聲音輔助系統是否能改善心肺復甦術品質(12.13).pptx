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8"/>
  </p:notesMasterIdLst>
  <p:handoutMasterIdLst>
    <p:handoutMasterId r:id="rId39"/>
  </p:handoutMasterIdLst>
  <p:sldIdLst>
    <p:sldId id="303" r:id="rId2"/>
    <p:sldId id="274" r:id="rId3"/>
    <p:sldId id="275" r:id="rId4"/>
    <p:sldId id="276" r:id="rId5"/>
    <p:sldId id="273" r:id="rId6"/>
    <p:sldId id="278" r:id="rId7"/>
    <p:sldId id="258" r:id="rId8"/>
    <p:sldId id="259" r:id="rId9"/>
    <p:sldId id="262" r:id="rId10"/>
    <p:sldId id="279" r:id="rId11"/>
    <p:sldId id="280" r:id="rId12"/>
    <p:sldId id="281" r:id="rId13"/>
    <p:sldId id="283" r:id="rId14"/>
    <p:sldId id="284" r:id="rId15"/>
    <p:sldId id="285" r:id="rId16"/>
    <p:sldId id="286" r:id="rId17"/>
    <p:sldId id="287" r:id="rId18"/>
    <p:sldId id="288" r:id="rId19"/>
    <p:sldId id="289" r:id="rId20"/>
    <p:sldId id="290" r:id="rId21"/>
    <p:sldId id="291" r:id="rId22"/>
    <p:sldId id="292" r:id="rId23"/>
    <p:sldId id="293" r:id="rId24"/>
    <p:sldId id="295" r:id="rId25"/>
    <p:sldId id="296" r:id="rId26"/>
    <p:sldId id="297" r:id="rId27"/>
    <p:sldId id="298" r:id="rId28"/>
    <p:sldId id="299" r:id="rId29"/>
    <p:sldId id="300" r:id="rId30"/>
    <p:sldId id="301" r:id="rId31"/>
    <p:sldId id="302" r:id="rId32"/>
    <p:sldId id="265" r:id="rId33"/>
    <p:sldId id="307" r:id="rId34"/>
    <p:sldId id="306" r:id="rId35"/>
    <p:sldId id="268" r:id="rId36"/>
    <p:sldId id="304" r:id="rId3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C69EFD-4DD5-438D-63D1-BC9282B42B1A}" name="萬先亞" initials="先萬" userId="S::141146401@office365.ntunhs.edu.tw::93d0a61a-da56-4fc3-ad60-c4ac1e565951"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淺色樣式 1 - 輔色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1EBBBCC-DAD2-459C-BE2E-F6DE35CF9A28}" styleName="深色樣式 2 - 輔色 3/輔色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深色樣式 2 - 輔色 1/輔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607" autoAdjust="0"/>
  </p:normalViewPr>
  <p:slideViewPr>
    <p:cSldViewPr snapToGrid="0">
      <p:cViewPr varScale="1">
        <p:scale>
          <a:sx n="52" d="100"/>
          <a:sy n="52" d="100"/>
        </p:scale>
        <p:origin x="1160"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4E59DD-095F-4CCB-97D6-7D8D548DC17F}"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DF7048CD-DDED-4D67-8B46-93EB0646818F}">
      <dgm:prSet custT="1"/>
      <dgm:spPr/>
      <dgm:t>
        <a:bodyPr/>
        <a:lstStyle/>
        <a:p>
          <a:r>
            <a:rPr lang="zh-TW" sz="2400" dirty="0">
              <a:latin typeface="Microsoft YaHei" panose="020B0503020204020204" pitchFamily="34" charset="-122"/>
              <a:ea typeface="Microsoft YaHei" panose="020B0503020204020204" pitchFamily="34" charset="-122"/>
            </a:rPr>
            <a:t>院內心臟驟停（</a:t>
          </a:r>
          <a:r>
            <a:rPr lang="en-US" sz="2400" dirty="0">
              <a:latin typeface="Microsoft YaHei" panose="020B0503020204020204" pitchFamily="34" charset="-122"/>
              <a:ea typeface="Microsoft YaHei" panose="020B0503020204020204" pitchFamily="34" charset="-122"/>
            </a:rPr>
            <a:t>in-hospital cardiac arrest, IHCA</a:t>
          </a:r>
          <a:r>
            <a:rPr lang="zh-TW" sz="2400" dirty="0">
              <a:latin typeface="Microsoft YaHei" panose="020B0503020204020204" pitchFamily="34" charset="-122"/>
              <a:ea typeface="Microsoft YaHei" panose="020B0503020204020204" pitchFamily="34" charset="-122"/>
            </a:rPr>
            <a:t>）不僅出院存活率偏低，倖存者也常伴隨神經功能障礙，並造成相當程度的醫療費用負擔。</a:t>
          </a:r>
          <a:r>
            <a:rPr lang="en-US" sz="2400" dirty="0">
              <a:latin typeface="Microsoft YaHei" panose="020B0503020204020204" pitchFamily="34" charset="-122"/>
              <a:ea typeface="Microsoft YaHei" panose="020B0503020204020204" pitchFamily="34" charset="-122"/>
            </a:rPr>
            <a:t>(Del et al., 2025; Martinet al., 2025)</a:t>
          </a:r>
          <a:r>
            <a:rPr lang="zh-TW" sz="2400" dirty="0">
              <a:latin typeface="Microsoft YaHei" panose="020B0503020204020204" pitchFamily="34" charset="-122"/>
              <a:ea typeface="Microsoft YaHei" panose="020B0503020204020204" pitchFamily="34" charset="-122"/>
            </a:rPr>
            <a:t>。</a:t>
          </a:r>
          <a:endParaRPr lang="en-US" sz="2400" dirty="0">
            <a:latin typeface="Microsoft YaHei" panose="020B0503020204020204" pitchFamily="34" charset="-122"/>
            <a:ea typeface="Microsoft YaHei" panose="020B0503020204020204" pitchFamily="34" charset="-122"/>
          </a:endParaRPr>
        </a:p>
      </dgm:t>
    </dgm:pt>
    <dgm:pt modelId="{4FD1FD2C-6CFC-4E50-8517-FC5BD086F5BD}" type="parTrans" cxnId="{4595655F-951F-473A-BD21-05DC44E53A2B}">
      <dgm:prSet/>
      <dgm:spPr/>
      <dgm:t>
        <a:bodyPr/>
        <a:lstStyle/>
        <a:p>
          <a:endParaRPr lang="en-US"/>
        </a:p>
      </dgm:t>
    </dgm:pt>
    <dgm:pt modelId="{3377C2DD-85E4-42EA-9071-AB3BE728ACC6}" type="sibTrans" cxnId="{4595655F-951F-473A-BD21-05DC44E53A2B}">
      <dgm:prSet/>
      <dgm:spPr/>
      <dgm:t>
        <a:bodyPr/>
        <a:lstStyle/>
        <a:p>
          <a:endParaRPr lang="en-US"/>
        </a:p>
      </dgm:t>
    </dgm:pt>
    <dgm:pt modelId="{8A0D3738-9364-409D-930E-2DB88060B317}">
      <dgm:prSet custT="1"/>
      <dgm:spPr/>
      <dgm:t>
        <a:bodyPr/>
        <a:lstStyle/>
        <a:p>
          <a:r>
            <a:rPr lang="zh-TW" sz="2400" dirty="0">
              <a:latin typeface="Microsoft YaHei" panose="020B0503020204020204" pitchFamily="34" charset="-122"/>
              <a:ea typeface="Microsoft YaHei" panose="020B0503020204020204" pitchFamily="34" charset="-122"/>
            </a:rPr>
            <a:t>早期啟動心肺復甦術</a:t>
          </a:r>
          <a:r>
            <a:rPr lang="en-US" sz="2400" dirty="0">
              <a:latin typeface="Microsoft YaHei" panose="020B0503020204020204" pitchFamily="34" charset="-122"/>
              <a:ea typeface="Microsoft YaHei" panose="020B0503020204020204" pitchFamily="34" charset="-122"/>
            </a:rPr>
            <a:t>(cardiopulmonary resuscitation, CPR)</a:t>
          </a:r>
          <a:r>
            <a:rPr lang="zh-TW" sz="2400" dirty="0">
              <a:latin typeface="Microsoft YaHei" panose="020B0503020204020204" pitchFamily="34" charset="-122"/>
              <a:ea typeface="Microsoft YaHei" panose="020B0503020204020204" pitchFamily="34" charset="-122"/>
            </a:rPr>
            <a:t>已被證實可改善</a:t>
          </a:r>
          <a:r>
            <a:rPr lang="en-US" sz="2400" dirty="0">
              <a:latin typeface="Microsoft YaHei" panose="020B0503020204020204" pitchFamily="34" charset="-122"/>
              <a:ea typeface="Microsoft YaHei" panose="020B0503020204020204" pitchFamily="34" charset="-122"/>
            </a:rPr>
            <a:t>IHCA</a:t>
          </a:r>
          <a:r>
            <a:rPr lang="zh-TW" sz="2400" dirty="0">
              <a:latin typeface="Microsoft YaHei" panose="020B0503020204020204" pitchFamily="34" charset="-122"/>
              <a:ea typeface="Microsoft YaHei" panose="020B0503020204020204" pitchFamily="34" charset="-122"/>
            </a:rPr>
            <a:t>的預後</a:t>
          </a:r>
          <a:r>
            <a:rPr lang="en-US" sz="2400" dirty="0">
              <a:latin typeface="Microsoft YaHei" panose="020B0503020204020204" pitchFamily="34" charset="-122"/>
              <a:ea typeface="Microsoft YaHei" panose="020B0503020204020204" pitchFamily="34" charset="-122"/>
            </a:rPr>
            <a:t>(Andersen et al., 2019)</a:t>
          </a:r>
          <a:r>
            <a:rPr lang="zh-TW" sz="2400" dirty="0">
              <a:latin typeface="Microsoft YaHei" panose="020B0503020204020204" pitchFamily="34" charset="-122"/>
              <a:ea typeface="Microsoft YaHei" panose="020B0503020204020204" pitchFamily="34" charset="-122"/>
            </a:rPr>
            <a:t>。</a:t>
          </a:r>
          <a:endParaRPr lang="en-US" sz="2400" dirty="0">
            <a:latin typeface="Microsoft YaHei" panose="020B0503020204020204" pitchFamily="34" charset="-122"/>
            <a:ea typeface="Microsoft YaHei" panose="020B0503020204020204" pitchFamily="34" charset="-122"/>
          </a:endParaRPr>
        </a:p>
      </dgm:t>
    </dgm:pt>
    <dgm:pt modelId="{501BE2B7-0529-41C7-9C0C-B5B785D151FF}" type="parTrans" cxnId="{543F1879-FDD7-4099-ACD1-D12F863323C7}">
      <dgm:prSet/>
      <dgm:spPr/>
      <dgm:t>
        <a:bodyPr/>
        <a:lstStyle/>
        <a:p>
          <a:endParaRPr lang="en-US"/>
        </a:p>
      </dgm:t>
    </dgm:pt>
    <dgm:pt modelId="{F9E9A3D1-FBA3-4EBA-8695-67B351711C93}" type="sibTrans" cxnId="{543F1879-FDD7-4099-ACD1-D12F863323C7}">
      <dgm:prSet/>
      <dgm:spPr/>
      <dgm:t>
        <a:bodyPr/>
        <a:lstStyle/>
        <a:p>
          <a:endParaRPr lang="en-US"/>
        </a:p>
      </dgm:t>
    </dgm:pt>
    <dgm:pt modelId="{BAAD4CED-6CB4-4062-8EEE-A0DBCCEFB294}">
      <dgm:prSet custT="1"/>
      <dgm:spPr/>
      <dgm:t>
        <a:bodyPr/>
        <a:lstStyle/>
        <a:p>
          <a:r>
            <a:rPr lang="zh-TW" sz="2400" dirty="0">
              <a:latin typeface="Microsoft YaHei" panose="020B0503020204020204" pitchFamily="34" charset="-122"/>
              <a:ea typeface="Microsoft YaHei" panose="020B0503020204020204" pitchFamily="34" charset="-122"/>
            </a:rPr>
            <a:t>美國心臟協會</a:t>
          </a:r>
          <a:r>
            <a:rPr lang="en-US" sz="2400" dirty="0">
              <a:latin typeface="Microsoft YaHei" panose="020B0503020204020204" pitchFamily="34" charset="-122"/>
              <a:ea typeface="Microsoft YaHei" panose="020B0503020204020204" pitchFamily="34" charset="-122"/>
            </a:rPr>
            <a:t>2025</a:t>
          </a:r>
          <a:r>
            <a:rPr lang="zh-TW" sz="2400" dirty="0">
              <a:latin typeface="Microsoft YaHei" panose="020B0503020204020204" pitchFamily="34" charset="-122"/>
              <a:ea typeface="Microsoft YaHei" panose="020B0503020204020204" pitchFamily="34" charset="-122"/>
            </a:rPr>
            <a:t>年指引建議使用回饋裝置以改善</a:t>
          </a:r>
          <a:r>
            <a:rPr lang="en-US" sz="2400" dirty="0">
              <a:latin typeface="Microsoft YaHei" panose="020B0503020204020204" pitchFamily="34" charset="-122"/>
              <a:ea typeface="Microsoft YaHei" panose="020B0503020204020204" pitchFamily="34" charset="-122"/>
            </a:rPr>
            <a:t>CPR</a:t>
          </a:r>
          <a:r>
            <a:rPr lang="zh-TW" sz="2400" dirty="0">
              <a:latin typeface="Microsoft YaHei" panose="020B0503020204020204" pitchFamily="34" charset="-122"/>
              <a:ea typeface="Microsoft YaHei" panose="020B0503020204020204" pitchFamily="34" charset="-122"/>
            </a:rPr>
            <a:t>流程與品質</a:t>
          </a:r>
          <a:r>
            <a:rPr lang="en-US" sz="2400" dirty="0">
              <a:latin typeface="Microsoft YaHei" panose="020B0503020204020204" pitchFamily="34" charset="-122"/>
              <a:ea typeface="Microsoft YaHei" panose="020B0503020204020204" pitchFamily="34" charset="-122"/>
            </a:rPr>
            <a:t>(Del et al., 2025)</a:t>
          </a:r>
          <a:r>
            <a:rPr lang="zh-TW" sz="2400" dirty="0">
              <a:latin typeface="Microsoft YaHei" panose="020B0503020204020204" pitchFamily="34" charset="-122"/>
              <a:ea typeface="Microsoft YaHei" panose="020B0503020204020204" pitchFamily="34" charset="-122"/>
            </a:rPr>
            <a:t>。在眾多回饋形式中，聲音回饋被視為一種簡單且具成本效益的輔助裝置，協助施作者維持穩定且適當的按壓速度，在臨床與訓練情境中被廣泛採用</a:t>
          </a:r>
          <a:r>
            <a:rPr lang="en-US" sz="2400" dirty="0">
              <a:latin typeface="Microsoft YaHei" panose="020B0503020204020204" pitchFamily="34" charset="-122"/>
              <a:ea typeface="Microsoft YaHei" panose="020B0503020204020204" pitchFamily="34" charset="-122"/>
            </a:rPr>
            <a:t>(Kennedy et al., 2023)</a:t>
          </a:r>
          <a:r>
            <a:rPr lang="zh-TW" sz="2400" dirty="0">
              <a:latin typeface="Microsoft YaHei" panose="020B0503020204020204" pitchFamily="34" charset="-122"/>
              <a:ea typeface="Microsoft YaHei" panose="020B0503020204020204" pitchFamily="34" charset="-122"/>
            </a:rPr>
            <a:t>。</a:t>
          </a:r>
          <a:endParaRPr lang="en-US" sz="2400" dirty="0">
            <a:latin typeface="Microsoft YaHei" panose="020B0503020204020204" pitchFamily="34" charset="-122"/>
            <a:ea typeface="Microsoft YaHei" panose="020B0503020204020204" pitchFamily="34" charset="-122"/>
          </a:endParaRPr>
        </a:p>
      </dgm:t>
    </dgm:pt>
    <dgm:pt modelId="{4B329F53-C26B-47F4-B26C-16177DA27F33}" type="parTrans" cxnId="{3072B7C3-5D44-432D-9636-BAA7EC4F9FD7}">
      <dgm:prSet/>
      <dgm:spPr/>
      <dgm:t>
        <a:bodyPr/>
        <a:lstStyle/>
        <a:p>
          <a:endParaRPr lang="en-US"/>
        </a:p>
      </dgm:t>
    </dgm:pt>
    <dgm:pt modelId="{C79B6F88-78BA-4E8B-B94B-70BDF6DAC9BE}" type="sibTrans" cxnId="{3072B7C3-5D44-432D-9636-BAA7EC4F9FD7}">
      <dgm:prSet/>
      <dgm:spPr/>
      <dgm:t>
        <a:bodyPr/>
        <a:lstStyle/>
        <a:p>
          <a:endParaRPr lang="en-US"/>
        </a:p>
      </dgm:t>
    </dgm:pt>
    <dgm:pt modelId="{FA430A94-4444-4EF4-B75F-72BD3A53969D}" type="pres">
      <dgm:prSet presAssocID="{654E59DD-095F-4CCB-97D6-7D8D548DC17F}" presName="vert0" presStyleCnt="0">
        <dgm:presLayoutVars>
          <dgm:dir/>
          <dgm:animOne val="branch"/>
          <dgm:animLvl val="lvl"/>
        </dgm:presLayoutVars>
      </dgm:prSet>
      <dgm:spPr/>
    </dgm:pt>
    <dgm:pt modelId="{06407E3E-F228-4592-AE1D-6A76577A917B}" type="pres">
      <dgm:prSet presAssocID="{DF7048CD-DDED-4D67-8B46-93EB0646818F}" presName="thickLine" presStyleLbl="alignNode1" presStyleIdx="0" presStyleCnt="3"/>
      <dgm:spPr/>
    </dgm:pt>
    <dgm:pt modelId="{6A97DF83-20B8-4FBF-9422-BFC5E7C7D676}" type="pres">
      <dgm:prSet presAssocID="{DF7048CD-DDED-4D67-8B46-93EB0646818F}" presName="horz1" presStyleCnt="0"/>
      <dgm:spPr/>
    </dgm:pt>
    <dgm:pt modelId="{432E9E2B-BBD5-4371-AA18-25E3A53696D2}" type="pres">
      <dgm:prSet presAssocID="{DF7048CD-DDED-4D67-8B46-93EB0646818F}" presName="tx1" presStyleLbl="revTx" presStyleIdx="0" presStyleCnt="3" custScaleY="137734"/>
      <dgm:spPr/>
    </dgm:pt>
    <dgm:pt modelId="{C0E0848E-D852-43BC-A2DF-009BB303554E}" type="pres">
      <dgm:prSet presAssocID="{DF7048CD-DDED-4D67-8B46-93EB0646818F}" presName="vert1" presStyleCnt="0"/>
      <dgm:spPr/>
    </dgm:pt>
    <dgm:pt modelId="{C465E02A-7395-4B5A-980F-8CBFAB754082}" type="pres">
      <dgm:prSet presAssocID="{8A0D3738-9364-409D-930E-2DB88060B317}" presName="thickLine" presStyleLbl="alignNode1" presStyleIdx="1" presStyleCnt="3"/>
      <dgm:spPr/>
    </dgm:pt>
    <dgm:pt modelId="{15C713AB-7340-4B8F-AC2D-22822A831F30}" type="pres">
      <dgm:prSet presAssocID="{8A0D3738-9364-409D-930E-2DB88060B317}" presName="horz1" presStyleCnt="0"/>
      <dgm:spPr/>
    </dgm:pt>
    <dgm:pt modelId="{0B796D19-7B15-4F39-8074-DA76C1D82313}" type="pres">
      <dgm:prSet presAssocID="{8A0D3738-9364-409D-930E-2DB88060B317}" presName="tx1" presStyleLbl="revTx" presStyleIdx="1" presStyleCnt="3" custScaleY="106550"/>
      <dgm:spPr/>
    </dgm:pt>
    <dgm:pt modelId="{8B61F2C0-4328-4CAD-A4AB-E12D0BED4116}" type="pres">
      <dgm:prSet presAssocID="{8A0D3738-9364-409D-930E-2DB88060B317}" presName="vert1" presStyleCnt="0"/>
      <dgm:spPr/>
    </dgm:pt>
    <dgm:pt modelId="{7351C895-B4C7-4F34-99A1-C35C510E0E83}" type="pres">
      <dgm:prSet presAssocID="{BAAD4CED-6CB4-4062-8EEE-A0DBCCEFB294}" presName="thickLine" presStyleLbl="alignNode1" presStyleIdx="2" presStyleCnt="3"/>
      <dgm:spPr/>
    </dgm:pt>
    <dgm:pt modelId="{AB7ADB2A-23F3-4FF2-AC01-2AE6C6A97918}" type="pres">
      <dgm:prSet presAssocID="{BAAD4CED-6CB4-4062-8EEE-A0DBCCEFB294}" presName="horz1" presStyleCnt="0"/>
      <dgm:spPr/>
    </dgm:pt>
    <dgm:pt modelId="{6725D449-15C4-4E04-B64A-F736DB123B17}" type="pres">
      <dgm:prSet presAssocID="{BAAD4CED-6CB4-4062-8EEE-A0DBCCEFB294}" presName="tx1" presStyleLbl="revTx" presStyleIdx="2" presStyleCnt="3" custScaleY="173290"/>
      <dgm:spPr/>
    </dgm:pt>
    <dgm:pt modelId="{CAFB559C-D944-427C-890C-8B45BDA2B373}" type="pres">
      <dgm:prSet presAssocID="{BAAD4CED-6CB4-4062-8EEE-A0DBCCEFB294}" presName="vert1" presStyleCnt="0"/>
      <dgm:spPr/>
    </dgm:pt>
  </dgm:ptLst>
  <dgm:cxnLst>
    <dgm:cxn modelId="{B3D83410-5648-4F5A-9CE6-3C8CBE30D929}" type="presOf" srcId="{8A0D3738-9364-409D-930E-2DB88060B317}" destId="{0B796D19-7B15-4F39-8074-DA76C1D82313}" srcOrd="0" destOrd="0" presId="urn:microsoft.com/office/officeart/2008/layout/LinedList"/>
    <dgm:cxn modelId="{4595655F-951F-473A-BD21-05DC44E53A2B}" srcId="{654E59DD-095F-4CCB-97D6-7D8D548DC17F}" destId="{DF7048CD-DDED-4D67-8B46-93EB0646818F}" srcOrd="0" destOrd="0" parTransId="{4FD1FD2C-6CFC-4E50-8517-FC5BD086F5BD}" sibTransId="{3377C2DD-85E4-42EA-9071-AB3BE728ACC6}"/>
    <dgm:cxn modelId="{6439D557-3FBB-4FA7-98C3-F87D552A9EB1}" type="presOf" srcId="{DF7048CD-DDED-4D67-8B46-93EB0646818F}" destId="{432E9E2B-BBD5-4371-AA18-25E3A53696D2}" srcOrd="0" destOrd="0" presId="urn:microsoft.com/office/officeart/2008/layout/LinedList"/>
    <dgm:cxn modelId="{543F1879-FDD7-4099-ACD1-D12F863323C7}" srcId="{654E59DD-095F-4CCB-97D6-7D8D548DC17F}" destId="{8A0D3738-9364-409D-930E-2DB88060B317}" srcOrd="1" destOrd="0" parTransId="{501BE2B7-0529-41C7-9C0C-B5B785D151FF}" sibTransId="{F9E9A3D1-FBA3-4EBA-8695-67B351711C93}"/>
    <dgm:cxn modelId="{BB17BAA9-76D7-4312-831C-214C1AA5B504}" type="presOf" srcId="{654E59DD-095F-4CCB-97D6-7D8D548DC17F}" destId="{FA430A94-4444-4EF4-B75F-72BD3A53969D}" srcOrd="0" destOrd="0" presId="urn:microsoft.com/office/officeart/2008/layout/LinedList"/>
    <dgm:cxn modelId="{3072B7C3-5D44-432D-9636-BAA7EC4F9FD7}" srcId="{654E59DD-095F-4CCB-97D6-7D8D548DC17F}" destId="{BAAD4CED-6CB4-4062-8EEE-A0DBCCEFB294}" srcOrd="2" destOrd="0" parTransId="{4B329F53-C26B-47F4-B26C-16177DA27F33}" sibTransId="{C79B6F88-78BA-4E8B-B94B-70BDF6DAC9BE}"/>
    <dgm:cxn modelId="{D72149C5-1BA9-45A4-9B50-BC687906BE32}" type="presOf" srcId="{BAAD4CED-6CB4-4062-8EEE-A0DBCCEFB294}" destId="{6725D449-15C4-4E04-B64A-F736DB123B17}" srcOrd="0" destOrd="0" presId="urn:microsoft.com/office/officeart/2008/layout/LinedList"/>
    <dgm:cxn modelId="{606CFD36-6198-484A-BFE6-736D4C4C40BC}" type="presParOf" srcId="{FA430A94-4444-4EF4-B75F-72BD3A53969D}" destId="{06407E3E-F228-4592-AE1D-6A76577A917B}" srcOrd="0" destOrd="0" presId="urn:microsoft.com/office/officeart/2008/layout/LinedList"/>
    <dgm:cxn modelId="{9D894DA2-27F5-49AA-A841-0F657A74389D}" type="presParOf" srcId="{FA430A94-4444-4EF4-B75F-72BD3A53969D}" destId="{6A97DF83-20B8-4FBF-9422-BFC5E7C7D676}" srcOrd="1" destOrd="0" presId="urn:microsoft.com/office/officeart/2008/layout/LinedList"/>
    <dgm:cxn modelId="{53F7E941-5F37-4BE2-B3D1-EB11F1A4E740}" type="presParOf" srcId="{6A97DF83-20B8-4FBF-9422-BFC5E7C7D676}" destId="{432E9E2B-BBD5-4371-AA18-25E3A53696D2}" srcOrd="0" destOrd="0" presId="urn:microsoft.com/office/officeart/2008/layout/LinedList"/>
    <dgm:cxn modelId="{F3ACF5C0-9814-4462-91E5-3B97EC57F02A}" type="presParOf" srcId="{6A97DF83-20B8-4FBF-9422-BFC5E7C7D676}" destId="{C0E0848E-D852-43BC-A2DF-009BB303554E}" srcOrd="1" destOrd="0" presId="urn:microsoft.com/office/officeart/2008/layout/LinedList"/>
    <dgm:cxn modelId="{C67CC48A-5628-46CC-9AB9-8448828C84D0}" type="presParOf" srcId="{FA430A94-4444-4EF4-B75F-72BD3A53969D}" destId="{C465E02A-7395-4B5A-980F-8CBFAB754082}" srcOrd="2" destOrd="0" presId="urn:microsoft.com/office/officeart/2008/layout/LinedList"/>
    <dgm:cxn modelId="{0B980121-D7A7-47B1-A1A8-A474D08F9A63}" type="presParOf" srcId="{FA430A94-4444-4EF4-B75F-72BD3A53969D}" destId="{15C713AB-7340-4B8F-AC2D-22822A831F30}" srcOrd="3" destOrd="0" presId="urn:microsoft.com/office/officeart/2008/layout/LinedList"/>
    <dgm:cxn modelId="{150403DE-1365-4821-9B9F-C95B4D801CA8}" type="presParOf" srcId="{15C713AB-7340-4B8F-AC2D-22822A831F30}" destId="{0B796D19-7B15-4F39-8074-DA76C1D82313}" srcOrd="0" destOrd="0" presId="urn:microsoft.com/office/officeart/2008/layout/LinedList"/>
    <dgm:cxn modelId="{542C01C7-482A-4510-9CE6-E4827399C560}" type="presParOf" srcId="{15C713AB-7340-4B8F-AC2D-22822A831F30}" destId="{8B61F2C0-4328-4CAD-A4AB-E12D0BED4116}" srcOrd="1" destOrd="0" presId="urn:microsoft.com/office/officeart/2008/layout/LinedList"/>
    <dgm:cxn modelId="{E52D6D4B-354C-489E-9786-E96ADC1D5246}" type="presParOf" srcId="{FA430A94-4444-4EF4-B75F-72BD3A53969D}" destId="{7351C895-B4C7-4F34-99A1-C35C510E0E83}" srcOrd="4" destOrd="0" presId="urn:microsoft.com/office/officeart/2008/layout/LinedList"/>
    <dgm:cxn modelId="{4BACE218-A904-41E6-99C6-1C95535FE963}" type="presParOf" srcId="{FA430A94-4444-4EF4-B75F-72BD3A53969D}" destId="{AB7ADB2A-23F3-4FF2-AC01-2AE6C6A97918}" srcOrd="5" destOrd="0" presId="urn:microsoft.com/office/officeart/2008/layout/LinedList"/>
    <dgm:cxn modelId="{51592842-D591-4BC1-BE0C-94AD0CE61E6B}" type="presParOf" srcId="{AB7ADB2A-23F3-4FF2-AC01-2AE6C6A97918}" destId="{6725D449-15C4-4E04-B64A-F736DB123B17}" srcOrd="0" destOrd="0" presId="urn:microsoft.com/office/officeart/2008/layout/LinedList"/>
    <dgm:cxn modelId="{A7B27DDC-679F-4DD0-8C68-078B4AC5E471}" type="presParOf" srcId="{AB7ADB2A-23F3-4FF2-AC01-2AE6C6A97918}" destId="{CAFB559C-D944-427C-890C-8B45BDA2B37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2D215ED-DDCE-4038-8021-348E712BD2F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D9363B1-074B-4B09-A48A-0AE425E4C7D9}">
      <dgm:prSet/>
      <dgm:spPr/>
      <dgm:t>
        <a:bodyPr/>
        <a:lstStyle/>
        <a:p>
          <a:r>
            <a:rPr lang="zh-TW" altLang="en-US" dirty="0"/>
            <a:t>導入「聲音輔助 </a:t>
          </a:r>
          <a:r>
            <a:rPr lang="en-US" altLang="zh-TW" dirty="0"/>
            <a:t>CPR </a:t>
          </a:r>
          <a:r>
            <a:rPr lang="zh-TW" altLang="en-US" dirty="0"/>
            <a:t>系統」作為訓練工具，節拍器頻率設為</a:t>
          </a:r>
          <a:r>
            <a:rPr lang="en-US" altLang="zh-TW" dirty="0"/>
            <a:t>100-120bpm</a:t>
          </a:r>
          <a:r>
            <a:rPr lang="zh-TW" altLang="en-US" dirty="0"/>
            <a:t>，並以聲音「提醒」施作者按壓深度、頻率及「急救流程」是否「達到」</a:t>
          </a:r>
          <a:r>
            <a:rPr lang="en-US" altLang="zh-TW" dirty="0"/>
            <a:t>AHA</a:t>
          </a:r>
          <a:r>
            <a:rPr lang="zh-TW" altLang="en-US" dirty="0"/>
            <a:t>規範。</a:t>
          </a:r>
          <a:endParaRPr lang="en-US" dirty="0"/>
        </a:p>
      </dgm:t>
    </dgm:pt>
    <dgm:pt modelId="{CC82756E-D4A7-4F59-99CA-78DE4F408922}" type="parTrans" cxnId="{8F74ED59-FAB2-454F-A177-4F6BD14B9068}">
      <dgm:prSet/>
      <dgm:spPr/>
      <dgm:t>
        <a:bodyPr/>
        <a:lstStyle/>
        <a:p>
          <a:endParaRPr lang="en-US"/>
        </a:p>
      </dgm:t>
    </dgm:pt>
    <dgm:pt modelId="{C56348A5-7F1D-46DC-9F0E-DC824EE50276}" type="sibTrans" cxnId="{8F74ED59-FAB2-454F-A177-4F6BD14B9068}">
      <dgm:prSet/>
      <dgm:spPr/>
      <dgm:t>
        <a:bodyPr/>
        <a:lstStyle/>
        <a:p>
          <a:endParaRPr lang="en-US"/>
        </a:p>
      </dgm:t>
    </dgm:pt>
    <dgm:pt modelId="{617DCEC8-7CE8-475F-969C-4F20D42D87FE}">
      <dgm:prSet/>
      <dgm:spPr/>
      <dgm:t>
        <a:bodyPr/>
        <a:lstStyle/>
        <a:p>
          <a:r>
            <a:rPr lang="zh-TW" dirty="0"/>
            <a:t>成效指標：</a:t>
          </a:r>
          <a:r>
            <a:rPr lang="zh-TW" altLang="en-US" dirty="0"/>
            <a:t>胸外按壓頻率、</a:t>
          </a:r>
          <a:r>
            <a:rPr lang="en-US" altLang="zh-TW" dirty="0"/>
            <a:t>CPR</a:t>
          </a:r>
          <a:r>
            <a:rPr lang="zh-TW" altLang="en-US"/>
            <a:t>流程達成率</a:t>
          </a:r>
          <a:r>
            <a:rPr lang="zh-TW"/>
            <a:t>。</a:t>
          </a:r>
          <a:endParaRPr lang="en-US" dirty="0"/>
        </a:p>
      </dgm:t>
    </dgm:pt>
    <dgm:pt modelId="{D9043B5A-7913-4ECA-A7B7-DF97AAB6C433}" type="parTrans" cxnId="{8405E92C-0F32-4E88-A819-F99BF7B52B4A}">
      <dgm:prSet/>
      <dgm:spPr/>
      <dgm:t>
        <a:bodyPr/>
        <a:lstStyle/>
        <a:p>
          <a:endParaRPr lang="en-US"/>
        </a:p>
      </dgm:t>
    </dgm:pt>
    <dgm:pt modelId="{AA078529-54FE-4CB7-9626-1CA2A5A45579}" type="sibTrans" cxnId="{8405E92C-0F32-4E88-A819-F99BF7B52B4A}">
      <dgm:prSet/>
      <dgm:spPr/>
      <dgm:t>
        <a:bodyPr/>
        <a:lstStyle/>
        <a:p>
          <a:endParaRPr lang="en-US"/>
        </a:p>
      </dgm:t>
    </dgm:pt>
    <dgm:pt modelId="{FE57BC38-B6ED-47E5-A283-A2BC87C88509}">
      <dgm:prSet/>
      <dgm:spPr/>
      <dgm:t>
        <a:bodyPr/>
        <a:lstStyle/>
        <a:p>
          <a:r>
            <a:rPr lang="zh-TW" altLang="en-US" dirty="0"/>
            <a:t>於院內急救推車上或行動裝置配置聲音輔助</a:t>
          </a:r>
          <a:r>
            <a:rPr lang="en-US" altLang="zh-TW" dirty="0"/>
            <a:t>CPR</a:t>
          </a:r>
          <a:r>
            <a:rPr lang="zh-TW" altLang="en-US" dirty="0"/>
            <a:t>系統。</a:t>
          </a:r>
        </a:p>
      </dgm:t>
    </dgm:pt>
    <dgm:pt modelId="{7E8C5897-D82B-4D35-8E27-360D6FBC15C9}" type="parTrans" cxnId="{F06721C9-904B-4DAF-A1E2-6F8BA02BE89C}">
      <dgm:prSet/>
      <dgm:spPr/>
      <dgm:t>
        <a:bodyPr/>
        <a:lstStyle/>
        <a:p>
          <a:endParaRPr lang="zh-TW" altLang="en-US"/>
        </a:p>
      </dgm:t>
    </dgm:pt>
    <dgm:pt modelId="{25F7EAC5-6A1F-406E-A451-7D00F5B91905}" type="sibTrans" cxnId="{F06721C9-904B-4DAF-A1E2-6F8BA02BE89C}">
      <dgm:prSet/>
      <dgm:spPr/>
      <dgm:t>
        <a:bodyPr/>
        <a:lstStyle/>
        <a:p>
          <a:endParaRPr lang="zh-TW" altLang="en-US"/>
        </a:p>
      </dgm:t>
    </dgm:pt>
    <dgm:pt modelId="{B94A1E9F-A843-4D9B-B827-E98205703A92}" type="pres">
      <dgm:prSet presAssocID="{92D215ED-DDCE-4038-8021-348E712BD2FC}" presName="linear" presStyleCnt="0">
        <dgm:presLayoutVars>
          <dgm:animLvl val="lvl"/>
          <dgm:resizeHandles val="exact"/>
        </dgm:presLayoutVars>
      </dgm:prSet>
      <dgm:spPr/>
    </dgm:pt>
    <dgm:pt modelId="{FC0A65EA-BF2E-407B-A0E7-56D5DBF745FF}" type="pres">
      <dgm:prSet presAssocID="{BD9363B1-074B-4B09-A48A-0AE425E4C7D9}" presName="parentText" presStyleLbl="node1" presStyleIdx="0" presStyleCnt="3">
        <dgm:presLayoutVars>
          <dgm:chMax val="0"/>
          <dgm:bulletEnabled val="1"/>
        </dgm:presLayoutVars>
      </dgm:prSet>
      <dgm:spPr/>
    </dgm:pt>
    <dgm:pt modelId="{36A92ABD-F864-479A-9D84-0A538EBB1C11}" type="pres">
      <dgm:prSet presAssocID="{C56348A5-7F1D-46DC-9F0E-DC824EE50276}" presName="spacer" presStyleCnt="0"/>
      <dgm:spPr/>
    </dgm:pt>
    <dgm:pt modelId="{435B8155-3C1B-4F83-BE0C-3C925020AF97}" type="pres">
      <dgm:prSet presAssocID="{FE57BC38-B6ED-47E5-A283-A2BC87C88509}" presName="parentText" presStyleLbl="node1" presStyleIdx="1" presStyleCnt="3">
        <dgm:presLayoutVars>
          <dgm:chMax val="0"/>
          <dgm:bulletEnabled val="1"/>
        </dgm:presLayoutVars>
      </dgm:prSet>
      <dgm:spPr/>
    </dgm:pt>
    <dgm:pt modelId="{8EC08727-9C28-41F9-A003-2D9627B40852}" type="pres">
      <dgm:prSet presAssocID="{25F7EAC5-6A1F-406E-A451-7D00F5B91905}" presName="spacer" presStyleCnt="0"/>
      <dgm:spPr/>
    </dgm:pt>
    <dgm:pt modelId="{476B6EBB-E132-4F87-8104-C2D673EC0999}" type="pres">
      <dgm:prSet presAssocID="{617DCEC8-7CE8-475F-969C-4F20D42D87FE}" presName="parentText" presStyleLbl="node1" presStyleIdx="2" presStyleCnt="3">
        <dgm:presLayoutVars>
          <dgm:chMax val="0"/>
          <dgm:bulletEnabled val="1"/>
        </dgm:presLayoutVars>
      </dgm:prSet>
      <dgm:spPr/>
    </dgm:pt>
  </dgm:ptLst>
  <dgm:cxnLst>
    <dgm:cxn modelId="{8405E92C-0F32-4E88-A819-F99BF7B52B4A}" srcId="{92D215ED-DDCE-4038-8021-348E712BD2FC}" destId="{617DCEC8-7CE8-475F-969C-4F20D42D87FE}" srcOrd="2" destOrd="0" parTransId="{D9043B5A-7913-4ECA-A7B7-DF97AAB6C433}" sibTransId="{AA078529-54FE-4CB7-9626-1CA2A5A45579}"/>
    <dgm:cxn modelId="{43F63D76-419D-48D4-BE3F-F31B7A0670C5}" type="presOf" srcId="{92D215ED-DDCE-4038-8021-348E712BD2FC}" destId="{B94A1E9F-A843-4D9B-B827-E98205703A92}" srcOrd="0" destOrd="0" presId="urn:microsoft.com/office/officeart/2005/8/layout/vList2"/>
    <dgm:cxn modelId="{D7746F77-B2E1-41B0-A9C9-C5247AE97E7D}" type="presOf" srcId="{BD9363B1-074B-4B09-A48A-0AE425E4C7D9}" destId="{FC0A65EA-BF2E-407B-A0E7-56D5DBF745FF}" srcOrd="0" destOrd="0" presId="urn:microsoft.com/office/officeart/2005/8/layout/vList2"/>
    <dgm:cxn modelId="{8F74ED59-FAB2-454F-A177-4F6BD14B9068}" srcId="{92D215ED-DDCE-4038-8021-348E712BD2FC}" destId="{BD9363B1-074B-4B09-A48A-0AE425E4C7D9}" srcOrd="0" destOrd="0" parTransId="{CC82756E-D4A7-4F59-99CA-78DE4F408922}" sibTransId="{C56348A5-7F1D-46DC-9F0E-DC824EE50276}"/>
    <dgm:cxn modelId="{6170989F-ADA7-4847-A590-16535B599F1F}" type="presOf" srcId="{FE57BC38-B6ED-47E5-A283-A2BC87C88509}" destId="{435B8155-3C1B-4F83-BE0C-3C925020AF97}" srcOrd="0" destOrd="0" presId="urn:microsoft.com/office/officeart/2005/8/layout/vList2"/>
    <dgm:cxn modelId="{862D7BB9-3F18-4EFA-8622-040EB34C8157}" type="presOf" srcId="{617DCEC8-7CE8-475F-969C-4F20D42D87FE}" destId="{476B6EBB-E132-4F87-8104-C2D673EC0999}" srcOrd="0" destOrd="0" presId="urn:microsoft.com/office/officeart/2005/8/layout/vList2"/>
    <dgm:cxn modelId="{F06721C9-904B-4DAF-A1E2-6F8BA02BE89C}" srcId="{92D215ED-DDCE-4038-8021-348E712BD2FC}" destId="{FE57BC38-B6ED-47E5-A283-A2BC87C88509}" srcOrd="1" destOrd="0" parTransId="{7E8C5897-D82B-4D35-8E27-360D6FBC15C9}" sibTransId="{25F7EAC5-6A1F-406E-A451-7D00F5B91905}"/>
    <dgm:cxn modelId="{3A997F0D-C5D4-483A-B234-16AA4AEE4BF2}" type="presParOf" srcId="{B94A1E9F-A843-4D9B-B827-E98205703A92}" destId="{FC0A65EA-BF2E-407B-A0E7-56D5DBF745FF}" srcOrd="0" destOrd="0" presId="urn:microsoft.com/office/officeart/2005/8/layout/vList2"/>
    <dgm:cxn modelId="{5E9B96B1-E852-4341-A6ED-D71F3548E9F6}" type="presParOf" srcId="{B94A1E9F-A843-4D9B-B827-E98205703A92}" destId="{36A92ABD-F864-479A-9D84-0A538EBB1C11}" srcOrd="1" destOrd="0" presId="urn:microsoft.com/office/officeart/2005/8/layout/vList2"/>
    <dgm:cxn modelId="{0BED6922-1636-428F-9007-F1E3E7BD9874}" type="presParOf" srcId="{B94A1E9F-A843-4D9B-B827-E98205703A92}" destId="{435B8155-3C1B-4F83-BE0C-3C925020AF97}" srcOrd="2" destOrd="0" presId="urn:microsoft.com/office/officeart/2005/8/layout/vList2"/>
    <dgm:cxn modelId="{88C97629-03D8-4168-9E4F-776CBCA2C0FA}" type="presParOf" srcId="{B94A1E9F-A843-4D9B-B827-E98205703A92}" destId="{8EC08727-9C28-41F9-A003-2D9627B40852}" srcOrd="3" destOrd="0" presId="urn:microsoft.com/office/officeart/2005/8/layout/vList2"/>
    <dgm:cxn modelId="{57068765-BA9D-470B-BEFC-BB7F4E5DB3A1}" type="presParOf" srcId="{B94A1E9F-A843-4D9B-B827-E98205703A92}" destId="{476B6EBB-E132-4F87-8104-C2D673EC099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407E3E-F228-4592-AE1D-6A76577A917B}">
      <dsp:nvSpPr>
        <dsp:cNvPr id="0" name=""/>
        <dsp:cNvSpPr/>
      </dsp:nvSpPr>
      <dsp:spPr>
        <a:xfrm>
          <a:off x="0" y="2894"/>
          <a:ext cx="730466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2E9E2B-BBD5-4371-AA18-25E3A53696D2}">
      <dsp:nvSpPr>
        <dsp:cNvPr id="0" name=""/>
        <dsp:cNvSpPr/>
      </dsp:nvSpPr>
      <dsp:spPr>
        <a:xfrm>
          <a:off x="0" y="2894"/>
          <a:ext cx="7297529" cy="20702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zh-TW" sz="2400" kern="1200" dirty="0">
              <a:latin typeface="Microsoft YaHei" panose="020B0503020204020204" pitchFamily="34" charset="-122"/>
              <a:ea typeface="Microsoft YaHei" panose="020B0503020204020204" pitchFamily="34" charset="-122"/>
            </a:rPr>
            <a:t>院內心臟驟停（</a:t>
          </a:r>
          <a:r>
            <a:rPr lang="en-US" sz="2400" kern="1200" dirty="0">
              <a:latin typeface="Microsoft YaHei" panose="020B0503020204020204" pitchFamily="34" charset="-122"/>
              <a:ea typeface="Microsoft YaHei" panose="020B0503020204020204" pitchFamily="34" charset="-122"/>
            </a:rPr>
            <a:t>in-hospital cardiac arrest, IHCA</a:t>
          </a:r>
          <a:r>
            <a:rPr lang="zh-TW" sz="2400" kern="1200" dirty="0">
              <a:latin typeface="Microsoft YaHei" panose="020B0503020204020204" pitchFamily="34" charset="-122"/>
              <a:ea typeface="Microsoft YaHei" panose="020B0503020204020204" pitchFamily="34" charset="-122"/>
            </a:rPr>
            <a:t>）不僅出院存活率偏低，倖存者也常伴隨神經功能障礙，並造成相當程度的醫療費用負擔。</a:t>
          </a:r>
          <a:r>
            <a:rPr lang="en-US" sz="2400" kern="1200" dirty="0">
              <a:latin typeface="Microsoft YaHei" panose="020B0503020204020204" pitchFamily="34" charset="-122"/>
              <a:ea typeface="Microsoft YaHei" panose="020B0503020204020204" pitchFamily="34" charset="-122"/>
            </a:rPr>
            <a:t>(Del et al., 2025; Martinet al., 2025)</a:t>
          </a:r>
          <a:r>
            <a:rPr lang="zh-TW" sz="2400" kern="1200" dirty="0">
              <a:latin typeface="Microsoft YaHei" panose="020B0503020204020204" pitchFamily="34" charset="-122"/>
              <a:ea typeface="Microsoft YaHei" panose="020B0503020204020204" pitchFamily="34" charset="-122"/>
            </a:rPr>
            <a:t>。</a:t>
          </a:r>
          <a:endParaRPr lang="en-US" sz="2400" kern="1200" dirty="0">
            <a:latin typeface="Microsoft YaHei" panose="020B0503020204020204" pitchFamily="34" charset="-122"/>
            <a:ea typeface="Microsoft YaHei" panose="020B0503020204020204" pitchFamily="34" charset="-122"/>
          </a:endParaRPr>
        </a:p>
      </dsp:txBody>
      <dsp:txXfrm>
        <a:off x="0" y="2894"/>
        <a:ext cx="7297529" cy="2070225"/>
      </dsp:txXfrm>
    </dsp:sp>
    <dsp:sp modelId="{C465E02A-7395-4B5A-980F-8CBFAB754082}">
      <dsp:nvSpPr>
        <dsp:cNvPr id="0" name=""/>
        <dsp:cNvSpPr/>
      </dsp:nvSpPr>
      <dsp:spPr>
        <a:xfrm>
          <a:off x="0" y="2073120"/>
          <a:ext cx="730466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796D19-7B15-4F39-8074-DA76C1D82313}">
      <dsp:nvSpPr>
        <dsp:cNvPr id="0" name=""/>
        <dsp:cNvSpPr/>
      </dsp:nvSpPr>
      <dsp:spPr>
        <a:xfrm>
          <a:off x="0" y="2073120"/>
          <a:ext cx="7297529" cy="1601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zh-TW" sz="2400" kern="1200" dirty="0">
              <a:latin typeface="Microsoft YaHei" panose="020B0503020204020204" pitchFamily="34" charset="-122"/>
              <a:ea typeface="Microsoft YaHei" panose="020B0503020204020204" pitchFamily="34" charset="-122"/>
            </a:rPr>
            <a:t>早期啟動心肺復甦術</a:t>
          </a:r>
          <a:r>
            <a:rPr lang="en-US" sz="2400" kern="1200" dirty="0">
              <a:latin typeface="Microsoft YaHei" panose="020B0503020204020204" pitchFamily="34" charset="-122"/>
              <a:ea typeface="Microsoft YaHei" panose="020B0503020204020204" pitchFamily="34" charset="-122"/>
            </a:rPr>
            <a:t>(cardiopulmonary resuscitation, CPR)</a:t>
          </a:r>
          <a:r>
            <a:rPr lang="zh-TW" sz="2400" kern="1200" dirty="0">
              <a:latin typeface="Microsoft YaHei" panose="020B0503020204020204" pitchFamily="34" charset="-122"/>
              <a:ea typeface="Microsoft YaHei" panose="020B0503020204020204" pitchFamily="34" charset="-122"/>
            </a:rPr>
            <a:t>已被證實可改善</a:t>
          </a:r>
          <a:r>
            <a:rPr lang="en-US" sz="2400" kern="1200" dirty="0">
              <a:latin typeface="Microsoft YaHei" panose="020B0503020204020204" pitchFamily="34" charset="-122"/>
              <a:ea typeface="Microsoft YaHei" panose="020B0503020204020204" pitchFamily="34" charset="-122"/>
            </a:rPr>
            <a:t>IHCA</a:t>
          </a:r>
          <a:r>
            <a:rPr lang="zh-TW" sz="2400" kern="1200" dirty="0">
              <a:latin typeface="Microsoft YaHei" panose="020B0503020204020204" pitchFamily="34" charset="-122"/>
              <a:ea typeface="Microsoft YaHei" panose="020B0503020204020204" pitchFamily="34" charset="-122"/>
            </a:rPr>
            <a:t>的預後</a:t>
          </a:r>
          <a:r>
            <a:rPr lang="en-US" sz="2400" kern="1200" dirty="0">
              <a:latin typeface="Microsoft YaHei" panose="020B0503020204020204" pitchFamily="34" charset="-122"/>
              <a:ea typeface="Microsoft YaHei" panose="020B0503020204020204" pitchFamily="34" charset="-122"/>
            </a:rPr>
            <a:t>(Andersen et al., 2019)</a:t>
          </a:r>
          <a:r>
            <a:rPr lang="zh-TW" sz="2400" kern="1200" dirty="0">
              <a:latin typeface="Microsoft YaHei" panose="020B0503020204020204" pitchFamily="34" charset="-122"/>
              <a:ea typeface="Microsoft YaHei" panose="020B0503020204020204" pitchFamily="34" charset="-122"/>
            </a:rPr>
            <a:t>。</a:t>
          </a:r>
          <a:endParaRPr lang="en-US" sz="2400" kern="1200" dirty="0">
            <a:latin typeface="Microsoft YaHei" panose="020B0503020204020204" pitchFamily="34" charset="-122"/>
            <a:ea typeface="Microsoft YaHei" panose="020B0503020204020204" pitchFamily="34" charset="-122"/>
          </a:endParaRPr>
        </a:p>
      </dsp:txBody>
      <dsp:txXfrm>
        <a:off x="0" y="2073120"/>
        <a:ext cx="7297529" cy="1601511"/>
      </dsp:txXfrm>
    </dsp:sp>
    <dsp:sp modelId="{7351C895-B4C7-4F34-99A1-C35C510E0E83}">
      <dsp:nvSpPr>
        <dsp:cNvPr id="0" name=""/>
        <dsp:cNvSpPr/>
      </dsp:nvSpPr>
      <dsp:spPr>
        <a:xfrm>
          <a:off x="0" y="3674632"/>
          <a:ext cx="730466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25D449-15C4-4E04-B64A-F736DB123B17}">
      <dsp:nvSpPr>
        <dsp:cNvPr id="0" name=""/>
        <dsp:cNvSpPr/>
      </dsp:nvSpPr>
      <dsp:spPr>
        <a:xfrm>
          <a:off x="0" y="3674632"/>
          <a:ext cx="7297529" cy="2604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zh-TW" sz="2400" kern="1200" dirty="0">
              <a:latin typeface="Microsoft YaHei" panose="020B0503020204020204" pitchFamily="34" charset="-122"/>
              <a:ea typeface="Microsoft YaHei" panose="020B0503020204020204" pitchFamily="34" charset="-122"/>
            </a:rPr>
            <a:t>美國心臟協會</a:t>
          </a:r>
          <a:r>
            <a:rPr lang="en-US" sz="2400" kern="1200" dirty="0">
              <a:latin typeface="Microsoft YaHei" panose="020B0503020204020204" pitchFamily="34" charset="-122"/>
              <a:ea typeface="Microsoft YaHei" panose="020B0503020204020204" pitchFamily="34" charset="-122"/>
            </a:rPr>
            <a:t>2025</a:t>
          </a:r>
          <a:r>
            <a:rPr lang="zh-TW" sz="2400" kern="1200" dirty="0">
              <a:latin typeface="Microsoft YaHei" panose="020B0503020204020204" pitchFamily="34" charset="-122"/>
              <a:ea typeface="Microsoft YaHei" panose="020B0503020204020204" pitchFamily="34" charset="-122"/>
            </a:rPr>
            <a:t>年指引建議使用回饋裝置以改善</a:t>
          </a:r>
          <a:r>
            <a:rPr lang="en-US" sz="2400" kern="1200" dirty="0">
              <a:latin typeface="Microsoft YaHei" panose="020B0503020204020204" pitchFamily="34" charset="-122"/>
              <a:ea typeface="Microsoft YaHei" panose="020B0503020204020204" pitchFamily="34" charset="-122"/>
            </a:rPr>
            <a:t>CPR</a:t>
          </a:r>
          <a:r>
            <a:rPr lang="zh-TW" sz="2400" kern="1200" dirty="0">
              <a:latin typeface="Microsoft YaHei" panose="020B0503020204020204" pitchFamily="34" charset="-122"/>
              <a:ea typeface="Microsoft YaHei" panose="020B0503020204020204" pitchFamily="34" charset="-122"/>
            </a:rPr>
            <a:t>流程與品質</a:t>
          </a:r>
          <a:r>
            <a:rPr lang="en-US" sz="2400" kern="1200" dirty="0">
              <a:latin typeface="Microsoft YaHei" panose="020B0503020204020204" pitchFamily="34" charset="-122"/>
              <a:ea typeface="Microsoft YaHei" panose="020B0503020204020204" pitchFamily="34" charset="-122"/>
            </a:rPr>
            <a:t>(Del et al., 2025)</a:t>
          </a:r>
          <a:r>
            <a:rPr lang="zh-TW" sz="2400" kern="1200" dirty="0">
              <a:latin typeface="Microsoft YaHei" panose="020B0503020204020204" pitchFamily="34" charset="-122"/>
              <a:ea typeface="Microsoft YaHei" panose="020B0503020204020204" pitchFamily="34" charset="-122"/>
            </a:rPr>
            <a:t>。在眾多回饋形式中，聲音回饋被視為一種簡單且具成本效益的輔助裝置，協助施作者維持穩定且適當的按壓速度，在臨床與訓練情境中被廣泛採用</a:t>
          </a:r>
          <a:r>
            <a:rPr lang="en-US" sz="2400" kern="1200" dirty="0">
              <a:latin typeface="Microsoft YaHei" panose="020B0503020204020204" pitchFamily="34" charset="-122"/>
              <a:ea typeface="Microsoft YaHei" panose="020B0503020204020204" pitchFamily="34" charset="-122"/>
            </a:rPr>
            <a:t>(Kennedy et al., 2023)</a:t>
          </a:r>
          <a:r>
            <a:rPr lang="zh-TW" sz="2400" kern="1200" dirty="0">
              <a:latin typeface="Microsoft YaHei" panose="020B0503020204020204" pitchFamily="34" charset="-122"/>
              <a:ea typeface="Microsoft YaHei" panose="020B0503020204020204" pitchFamily="34" charset="-122"/>
            </a:rPr>
            <a:t>。</a:t>
          </a:r>
          <a:endParaRPr lang="en-US" sz="2400" kern="1200" dirty="0">
            <a:latin typeface="Microsoft YaHei" panose="020B0503020204020204" pitchFamily="34" charset="-122"/>
            <a:ea typeface="Microsoft YaHei" panose="020B0503020204020204" pitchFamily="34" charset="-122"/>
          </a:endParaRPr>
        </a:p>
      </dsp:txBody>
      <dsp:txXfrm>
        <a:off x="0" y="3674632"/>
        <a:ext cx="7297529" cy="26046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0A65EA-BF2E-407B-A0E7-56D5DBF745FF}">
      <dsp:nvSpPr>
        <dsp:cNvPr id="0" name=""/>
        <dsp:cNvSpPr/>
      </dsp:nvSpPr>
      <dsp:spPr>
        <a:xfrm>
          <a:off x="0" y="373883"/>
          <a:ext cx="10653579" cy="12378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zh-TW" altLang="en-US" sz="2300" kern="1200" dirty="0"/>
            <a:t>導入「聲音輔助 </a:t>
          </a:r>
          <a:r>
            <a:rPr lang="en-US" altLang="zh-TW" sz="2300" kern="1200" dirty="0"/>
            <a:t>CPR </a:t>
          </a:r>
          <a:r>
            <a:rPr lang="zh-TW" altLang="en-US" sz="2300" kern="1200" dirty="0"/>
            <a:t>系統」作為訓練工具，節拍器頻率設為</a:t>
          </a:r>
          <a:r>
            <a:rPr lang="en-US" altLang="zh-TW" sz="2300" kern="1200" dirty="0"/>
            <a:t>100-120bpm</a:t>
          </a:r>
          <a:r>
            <a:rPr lang="zh-TW" altLang="en-US" sz="2300" kern="1200" dirty="0"/>
            <a:t>，並以聲音「提醒」施作者按壓深度、頻率及「急救流程」是否「達到」</a:t>
          </a:r>
          <a:r>
            <a:rPr lang="en-US" altLang="zh-TW" sz="2300" kern="1200" dirty="0"/>
            <a:t>AHA</a:t>
          </a:r>
          <a:r>
            <a:rPr lang="zh-TW" altLang="en-US" sz="2300" kern="1200" dirty="0"/>
            <a:t>規範。</a:t>
          </a:r>
          <a:endParaRPr lang="en-US" sz="2300" kern="1200" dirty="0"/>
        </a:p>
      </dsp:txBody>
      <dsp:txXfrm>
        <a:off x="60427" y="434310"/>
        <a:ext cx="10532725" cy="1117006"/>
      </dsp:txXfrm>
    </dsp:sp>
    <dsp:sp modelId="{435B8155-3C1B-4F83-BE0C-3C925020AF97}">
      <dsp:nvSpPr>
        <dsp:cNvPr id="0" name=""/>
        <dsp:cNvSpPr/>
      </dsp:nvSpPr>
      <dsp:spPr>
        <a:xfrm>
          <a:off x="0" y="1677984"/>
          <a:ext cx="10653579" cy="12378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zh-TW" altLang="en-US" sz="2300" kern="1200" dirty="0"/>
            <a:t>於院內急救推車上或行動裝置配置聲音輔助</a:t>
          </a:r>
          <a:r>
            <a:rPr lang="en-US" altLang="zh-TW" sz="2300" kern="1200" dirty="0"/>
            <a:t>CPR</a:t>
          </a:r>
          <a:r>
            <a:rPr lang="zh-TW" altLang="en-US" sz="2300" kern="1200" dirty="0"/>
            <a:t>系統。</a:t>
          </a:r>
        </a:p>
      </dsp:txBody>
      <dsp:txXfrm>
        <a:off x="60427" y="1738411"/>
        <a:ext cx="10532725" cy="1117006"/>
      </dsp:txXfrm>
    </dsp:sp>
    <dsp:sp modelId="{476B6EBB-E132-4F87-8104-C2D673EC0999}">
      <dsp:nvSpPr>
        <dsp:cNvPr id="0" name=""/>
        <dsp:cNvSpPr/>
      </dsp:nvSpPr>
      <dsp:spPr>
        <a:xfrm>
          <a:off x="0" y="2982084"/>
          <a:ext cx="10653579" cy="12378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zh-TW" sz="2300" kern="1200" dirty="0"/>
            <a:t>成效指標：</a:t>
          </a:r>
          <a:r>
            <a:rPr lang="zh-TW" altLang="en-US" sz="2300" kern="1200" dirty="0"/>
            <a:t>胸外按壓頻率、</a:t>
          </a:r>
          <a:r>
            <a:rPr lang="en-US" altLang="zh-TW" sz="2300" kern="1200" dirty="0"/>
            <a:t>CPR</a:t>
          </a:r>
          <a:r>
            <a:rPr lang="zh-TW" altLang="en-US" sz="2300" kern="1200"/>
            <a:t>流程達成率</a:t>
          </a:r>
          <a:r>
            <a:rPr lang="zh-TW" sz="2300" kern="1200"/>
            <a:t>。</a:t>
          </a:r>
          <a:endParaRPr lang="en-US" sz="2300" kern="1200" dirty="0"/>
        </a:p>
      </dsp:txBody>
      <dsp:txXfrm>
        <a:off x="60427" y="3042511"/>
        <a:ext cx="10532725" cy="111700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CB413E40-DD1A-1F7A-689F-02445527DE5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8FA29FAA-2BB6-B502-C6B7-54DD5DFED1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BE2F945-9B09-47BC-89ED-D956D9026505}" type="datetimeFigureOut">
              <a:rPr lang="zh-TW" altLang="en-US" smtClean="0"/>
              <a:t>2025/12/14</a:t>
            </a:fld>
            <a:endParaRPr lang="zh-TW" altLang="en-US"/>
          </a:p>
        </p:txBody>
      </p:sp>
      <p:sp>
        <p:nvSpPr>
          <p:cNvPr id="4" name="頁尾版面配置區 3">
            <a:extLst>
              <a:ext uri="{FF2B5EF4-FFF2-40B4-BE49-F238E27FC236}">
                <a16:creationId xmlns:a16="http://schemas.microsoft.com/office/drawing/2014/main" id="{2D71C471-1C9D-F4C2-7E5A-02CC4E6BE4C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6410AF35-BADA-DB32-6066-DEFEDBC8B0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80793B7-238D-495D-A460-D0D6CD0175E9}" type="slidenum">
              <a:rPr lang="zh-TW" altLang="en-US" smtClean="0"/>
              <a:t>‹#›</a:t>
            </a:fld>
            <a:endParaRPr lang="zh-TW" altLang="en-US"/>
          </a:p>
        </p:txBody>
      </p:sp>
    </p:spTree>
    <p:extLst>
      <p:ext uri="{BB962C8B-B14F-4D97-AF65-F5344CB8AC3E}">
        <p14:creationId xmlns:p14="http://schemas.microsoft.com/office/powerpoint/2010/main" val="37584773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EFC48A-59B5-421D-B8D6-DCED79764201}" type="datetimeFigureOut">
              <a:rPr lang="zh-TW" altLang="en-US" smtClean="0"/>
              <a:t>2025/12/14</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8D4058-DFDF-454F-B0DA-B4CA5257CEA8}" type="slidenum">
              <a:rPr lang="zh-TW" altLang="en-US" smtClean="0"/>
              <a:t>‹#›</a:t>
            </a:fld>
            <a:endParaRPr lang="zh-TW" altLang="en-US"/>
          </a:p>
        </p:txBody>
      </p:sp>
    </p:spTree>
    <p:extLst>
      <p:ext uri="{BB962C8B-B14F-4D97-AF65-F5344CB8AC3E}">
        <p14:creationId xmlns:p14="http://schemas.microsoft.com/office/powerpoint/2010/main" val="102962119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18D4058-DFDF-454F-B0DA-B4CA5257CEA8}" type="slidenum">
              <a:rPr lang="zh-TW" altLang="en-US" smtClean="0"/>
              <a:t>6</a:t>
            </a:fld>
            <a:endParaRPr lang="zh-TW" altLang="en-US"/>
          </a:p>
        </p:txBody>
      </p:sp>
    </p:spTree>
    <p:extLst>
      <p:ext uri="{BB962C8B-B14F-4D97-AF65-F5344CB8AC3E}">
        <p14:creationId xmlns:p14="http://schemas.microsoft.com/office/powerpoint/2010/main" val="1142346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利用運用布林邏輯</a:t>
            </a:r>
            <a:r>
              <a:rPr lang="en-US" altLang="zh-TW" dirty="0"/>
              <a:t>(Boolean)</a:t>
            </a:r>
            <a:r>
              <a:rPr lang="zh-TW" altLang="en-US" dirty="0"/>
              <a:t>進行文獻搜尋。</a:t>
            </a:r>
          </a:p>
        </p:txBody>
      </p:sp>
      <p:sp>
        <p:nvSpPr>
          <p:cNvPr id="4" name="投影片編號版面配置區 3"/>
          <p:cNvSpPr>
            <a:spLocks noGrp="1"/>
          </p:cNvSpPr>
          <p:nvPr>
            <p:ph type="sldNum" sz="quarter" idx="5"/>
          </p:nvPr>
        </p:nvSpPr>
        <p:spPr/>
        <p:txBody>
          <a:bodyPr/>
          <a:lstStyle/>
          <a:p>
            <a:fld id="{318D4058-DFDF-454F-B0DA-B4CA5257CEA8}" type="slidenum">
              <a:rPr lang="zh-TW" altLang="en-US" smtClean="0"/>
              <a:t>7</a:t>
            </a:fld>
            <a:endParaRPr lang="zh-TW" altLang="en-US"/>
          </a:p>
        </p:txBody>
      </p:sp>
    </p:spTree>
    <p:extLst>
      <p:ext uri="{BB962C8B-B14F-4D97-AF65-F5344CB8AC3E}">
        <p14:creationId xmlns:p14="http://schemas.microsoft.com/office/powerpoint/2010/main" val="1070901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228600" indent="-228600">
              <a:buFont typeface="+mj-lt"/>
              <a:buAutoNum type="arabicPeriod"/>
            </a:pPr>
            <a:r>
              <a:rPr lang="zh-TW" altLang="en-US" dirty="0"/>
              <a:t>搜尋</a:t>
            </a:r>
            <a:r>
              <a:rPr lang="en-US" altLang="zh-TW" dirty="0"/>
              <a:t>4</a:t>
            </a:r>
            <a:r>
              <a:rPr lang="zh-TW" altLang="en-US" dirty="0"/>
              <a:t>個資料庫，納入</a:t>
            </a:r>
            <a:r>
              <a:rPr lang="en-US" altLang="zh-TW" dirty="0"/>
              <a:t>RCT</a:t>
            </a:r>
            <a:r>
              <a:rPr lang="zh-TW" altLang="en-US" dirty="0"/>
              <a:t>、</a:t>
            </a:r>
            <a:r>
              <a:rPr lang="en-US" altLang="zh-TW" dirty="0"/>
              <a:t>SR</a:t>
            </a:r>
            <a:r>
              <a:rPr lang="zh-TW" altLang="en-US" dirty="0"/>
              <a:t>、</a:t>
            </a:r>
            <a:r>
              <a:rPr lang="en-US" altLang="zh-TW" dirty="0"/>
              <a:t>MA</a:t>
            </a:r>
            <a:r>
              <a:rPr lang="zh-TW" altLang="en-US" dirty="0"/>
              <a:t>類型文章後，共搜得</a:t>
            </a:r>
            <a:r>
              <a:rPr lang="en-US" altLang="zh-TW" dirty="0"/>
              <a:t>885</a:t>
            </a:r>
            <a:r>
              <a:rPr lang="zh-TW" altLang="en-US" dirty="0"/>
              <a:t>篇文章。</a:t>
            </a:r>
            <a:endParaRPr lang="en-US" altLang="zh-TW" dirty="0"/>
          </a:p>
          <a:p>
            <a:pPr marL="228600" indent="-228600">
              <a:buFont typeface="+mj-lt"/>
              <a:buAutoNum type="arabicPeriod"/>
            </a:pPr>
            <a:r>
              <a:rPr lang="zh-TW" altLang="en-US" dirty="0"/>
              <a:t>排除重複的</a:t>
            </a:r>
            <a:r>
              <a:rPr lang="en-US" altLang="zh-TW" dirty="0"/>
              <a:t>9</a:t>
            </a:r>
            <a:r>
              <a:rPr lang="zh-TW" altLang="en-US" dirty="0"/>
              <a:t>篇文章，剩</a:t>
            </a:r>
            <a:r>
              <a:rPr lang="en-US" altLang="zh-TW" dirty="0"/>
              <a:t>876</a:t>
            </a:r>
            <a:r>
              <a:rPr lang="zh-TW" altLang="en-US" dirty="0"/>
              <a:t>篇；排除不符合</a:t>
            </a:r>
            <a:r>
              <a:rPr lang="en-US" altLang="zh-TW" dirty="0"/>
              <a:t>PICO</a:t>
            </a:r>
            <a:r>
              <a:rPr lang="zh-TW" altLang="en-US" dirty="0"/>
              <a:t>主題的題目</a:t>
            </a:r>
            <a:r>
              <a:rPr lang="en-US" altLang="zh-TW" dirty="0"/>
              <a:t>847</a:t>
            </a:r>
            <a:r>
              <a:rPr lang="zh-TW" altLang="en-US" dirty="0"/>
              <a:t>篇後，剩</a:t>
            </a:r>
            <a:r>
              <a:rPr lang="en-US" altLang="zh-TW" dirty="0"/>
              <a:t>29</a:t>
            </a:r>
            <a:r>
              <a:rPr lang="zh-TW" altLang="en-US" dirty="0"/>
              <a:t>篇；排除無全文</a:t>
            </a:r>
            <a:r>
              <a:rPr lang="en-US" altLang="zh-TW" dirty="0"/>
              <a:t>3</a:t>
            </a:r>
            <a:r>
              <a:rPr lang="zh-TW" altLang="en-US" dirty="0"/>
              <a:t>篇後，剩</a:t>
            </a:r>
            <a:r>
              <a:rPr lang="en-US" altLang="zh-TW" dirty="0"/>
              <a:t>26</a:t>
            </a:r>
            <a:r>
              <a:rPr lang="zh-TW" altLang="en-US" dirty="0"/>
              <a:t>篇；排除非成人</a:t>
            </a:r>
            <a:r>
              <a:rPr lang="en-US" altLang="zh-TW" dirty="0"/>
              <a:t>CPR</a:t>
            </a:r>
            <a:r>
              <a:rPr lang="zh-TW" altLang="en-US" dirty="0"/>
              <a:t>、非聲音系統、非急診醫護人員，共納入</a:t>
            </a:r>
            <a:r>
              <a:rPr lang="en-US" altLang="zh-TW" dirty="0"/>
              <a:t>2</a:t>
            </a:r>
            <a:r>
              <a:rPr lang="zh-TW" altLang="en-US" dirty="0"/>
              <a:t>篇進行評讀。</a:t>
            </a:r>
          </a:p>
        </p:txBody>
      </p:sp>
      <p:sp>
        <p:nvSpPr>
          <p:cNvPr id="4" name="投影片編號版面配置區 3"/>
          <p:cNvSpPr>
            <a:spLocks noGrp="1"/>
          </p:cNvSpPr>
          <p:nvPr>
            <p:ph type="sldNum" sz="quarter" idx="5"/>
          </p:nvPr>
        </p:nvSpPr>
        <p:spPr/>
        <p:txBody>
          <a:bodyPr/>
          <a:lstStyle/>
          <a:p>
            <a:fld id="{318D4058-DFDF-454F-B0DA-B4CA5257CEA8}" type="slidenum">
              <a:rPr lang="zh-TW" altLang="en-US" smtClean="0"/>
              <a:t>8</a:t>
            </a:fld>
            <a:endParaRPr lang="zh-TW" altLang="en-US"/>
          </a:p>
        </p:txBody>
      </p:sp>
    </p:spTree>
    <p:extLst>
      <p:ext uri="{BB962C8B-B14F-4D97-AF65-F5344CB8AC3E}">
        <p14:creationId xmlns:p14="http://schemas.microsoft.com/office/powerpoint/2010/main" val="3764720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18D4058-DFDF-454F-B0DA-B4CA5257CEA8}" type="slidenum">
              <a:rPr lang="zh-TW" altLang="en-US" smtClean="0"/>
              <a:t>32</a:t>
            </a:fld>
            <a:endParaRPr lang="zh-TW" altLang="en-US"/>
          </a:p>
        </p:txBody>
      </p:sp>
    </p:spTree>
    <p:extLst>
      <p:ext uri="{BB962C8B-B14F-4D97-AF65-F5344CB8AC3E}">
        <p14:creationId xmlns:p14="http://schemas.microsoft.com/office/powerpoint/2010/main" val="1434605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45692-969A-38F2-3E08-75A0BABDF70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2B20859-D0DF-CB2A-BFF6-2AFD0286173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477D9AE-316E-F569-D418-5FAFE794DA5B}"/>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F8518C56-E149-F160-7BF6-888145E07CDC}"/>
              </a:ext>
            </a:extLst>
          </p:cNvPr>
          <p:cNvSpPr>
            <a:spLocks noGrp="1"/>
          </p:cNvSpPr>
          <p:nvPr>
            <p:ph type="sldNum" sz="quarter" idx="5"/>
          </p:nvPr>
        </p:nvSpPr>
        <p:spPr/>
        <p:txBody>
          <a:bodyPr/>
          <a:lstStyle/>
          <a:p>
            <a:fld id="{318D4058-DFDF-454F-B0DA-B4CA5257CEA8}" type="slidenum">
              <a:rPr lang="zh-TW" altLang="en-US" smtClean="0"/>
              <a:t>33</a:t>
            </a:fld>
            <a:endParaRPr lang="zh-TW" altLang="en-US"/>
          </a:p>
        </p:txBody>
      </p:sp>
    </p:spTree>
    <p:extLst>
      <p:ext uri="{BB962C8B-B14F-4D97-AF65-F5344CB8AC3E}">
        <p14:creationId xmlns:p14="http://schemas.microsoft.com/office/powerpoint/2010/main" val="42017735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2CA4499-59A3-4072-BCAB-54935D667F92}" type="datetime1">
              <a:rPr lang="en-US" altLang="zh-TW" smtClean="0"/>
              <a:t>12/14/2025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59340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5E89409-2E76-4E30-A7B5-36AD23EA230B}" type="datetime1">
              <a:rPr lang="en-US" altLang="zh-TW" smtClean="0"/>
              <a:t>12/14/2025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97889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D57602F3-5715-4AE7-835B-A249BEEA17E2}" type="datetime1">
              <a:rPr lang="en-US" altLang="zh-TW" smtClean="0"/>
              <a:t>12/14/2025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5085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F82C61-5C23-4B59-81A6-C9EDE989094F}" type="datetime1">
              <a:rPr lang="en-US" altLang="zh-TW" smtClean="0"/>
              <a:t>12/14/2025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54505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10D31C5-BC6A-44FF-838D-D1AB3B2C6B2C}" type="datetime1">
              <a:rPr lang="en-US" altLang="zh-TW" smtClean="0"/>
              <a:t>12/14/2025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73776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3530DC1E-738A-4103-B344-910AD7B31749}" type="datetime1">
              <a:rPr lang="en-US" altLang="zh-TW" smtClean="0"/>
              <a:t>12/14/2025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40565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634764CE-2D31-4037-B147-98E4FC883D56}" type="datetime1">
              <a:rPr lang="en-US" altLang="zh-TW" smtClean="0"/>
              <a:t>12/14/2025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72230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F69726DB-FD1A-4D45-8D0C-CE4661201EE5}" type="datetime1">
              <a:rPr lang="en-US" altLang="zh-TW" smtClean="0"/>
              <a:t>12/14/2025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5297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4F1692C-2BEB-4690-87D5-536C3012231F}" type="datetime1">
              <a:rPr lang="en-US" altLang="zh-TW" smtClean="0"/>
              <a:t>12/14/2025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96890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6828775C-4EDE-44FC-A7F7-3845CB7BC8B7}" type="datetime1">
              <a:rPr lang="en-US" altLang="zh-TW" smtClean="0"/>
              <a:t>12/14/2025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25165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D3A9E083-C0D5-4A0D-ADCA-5555E4D5C899}" type="datetime1">
              <a:rPr lang="en-US" altLang="zh-TW" smtClean="0"/>
              <a:t>12/14/2025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64721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2475FF9D-7801-452C-9989-C6A4FD06E111}" type="datetime1">
              <a:rPr lang="en-US" altLang="zh-TW" smtClean="0"/>
              <a:t>12/14/2025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4473720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5.xml.rels><?xml version="1.0" encoding="UTF-8" standalone="yes"?>
<Relationships xmlns="http://schemas.openxmlformats.org/package/2006/relationships"><Relationship Id="rId3" Type="http://schemas.openxmlformats.org/officeDocument/2006/relationships/hyperlink" Target="https://doi.org/10.1093/postmj/qgaf068" TargetMode="External"/><Relationship Id="rId2" Type="http://schemas.openxmlformats.org/officeDocument/2006/relationships/hyperlink" Target="https://doi.org/10.1016/j.resplu.2023.100417"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7" name="Rectangle 1046">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descr="Cpr training：超過1,645 張已獲授權的免版稅庫存插圖和繪圖| Shutterstock">
            <a:extLst>
              <a:ext uri="{FF2B5EF4-FFF2-40B4-BE49-F238E27FC236}">
                <a16:creationId xmlns:a16="http://schemas.microsoft.com/office/drawing/2014/main" id="{8DDCB11B-7C50-FA15-B7F0-305A723EFCFA}"/>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t="15730"/>
          <a:stretch>
            <a:fillRect/>
          </a:stretch>
        </p:blipFill>
        <p:spPr bwMode="auto">
          <a:xfrm>
            <a:off x="1" y="1"/>
            <a:ext cx="12192000" cy="6857999"/>
          </a:xfrm>
          <a:prstGeom prst="rect">
            <a:avLst/>
          </a:prstGeom>
          <a:solidFill>
            <a:schemeClr val="accent6">
              <a:lumMod val="20000"/>
              <a:lumOff val="80000"/>
            </a:schemeClr>
          </a:solidFill>
        </p:spPr>
      </p:pic>
      <p:sp>
        <p:nvSpPr>
          <p:cNvPr id="7" name="標題 6">
            <a:extLst>
              <a:ext uri="{FF2B5EF4-FFF2-40B4-BE49-F238E27FC236}">
                <a16:creationId xmlns:a16="http://schemas.microsoft.com/office/drawing/2014/main" id="{3D065708-9AA2-408A-DC74-BF6B20A0F862}"/>
              </a:ext>
            </a:extLst>
          </p:cNvPr>
          <p:cNvSpPr>
            <a:spLocks noGrp="1"/>
          </p:cNvSpPr>
          <p:nvPr>
            <p:ph type="ctrTitle"/>
          </p:nvPr>
        </p:nvSpPr>
        <p:spPr>
          <a:xfrm>
            <a:off x="301673" y="439541"/>
            <a:ext cx="7588155" cy="2236264"/>
          </a:xfrm>
        </p:spPr>
        <p:txBody>
          <a:bodyPr>
            <a:normAutofit/>
          </a:bodyPr>
          <a:lstStyle/>
          <a:p>
            <a:r>
              <a:rPr lang="zh-TW" altLang="en-US" sz="4800" dirty="0">
                <a:solidFill>
                  <a:schemeClr val="bg1"/>
                </a:solidFill>
                <a:latin typeface="Microsoft YaHei" panose="020B0503020204020204" pitchFamily="34" charset="-122"/>
                <a:ea typeface="Microsoft YaHei" panose="020B0503020204020204" pitchFamily="34" charset="-122"/>
              </a:rPr>
              <a:t>使用語音導引輔助系統是否能提升醫護人員執行心肺復甦術流程之的遵循率</a:t>
            </a:r>
          </a:p>
        </p:txBody>
      </p:sp>
      <p:sp>
        <p:nvSpPr>
          <p:cNvPr id="8" name="副標題 7">
            <a:extLst>
              <a:ext uri="{FF2B5EF4-FFF2-40B4-BE49-F238E27FC236}">
                <a16:creationId xmlns:a16="http://schemas.microsoft.com/office/drawing/2014/main" id="{6011D607-9D6F-6CA9-80BF-2C8523B7D328}"/>
              </a:ext>
            </a:extLst>
          </p:cNvPr>
          <p:cNvSpPr>
            <a:spLocks noGrp="1"/>
          </p:cNvSpPr>
          <p:nvPr>
            <p:ph type="subTitle" idx="1"/>
          </p:nvPr>
        </p:nvSpPr>
        <p:spPr>
          <a:xfrm>
            <a:off x="-1" y="3386807"/>
            <a:ext cx="7588155" cy="1971004"/>
          </a:xfrm>
        </p:spPr>
        <p:txBody>
          <a:bodyPr>
            <a:normAutofit/>
          </a:bodyPr>
          <a:lstStyle/>
          <a:p>
            <a:r>
              <a:rPr lang="zh-TW" altLang="en-US" sz="2800" dirty="0">
                <a:solidFill>
                  <a:schemeClr val="bg1"/>
                </a:solidFill>
                <a:latin typeface="Microsoft YaHei" panose="020B0503020204020204" pitchFamily="34" charset="-122"/>
                <a:ea typeface="Microsoft YaHei" panose="020B0503020204020204" pitchFamily="34" charset="-122"/>
              </a:rPr>
              <a:t>組別：第二組</a:t>
            </a:r>
            <a:endParaRPr lang="en-US" altLang="zh-TW" sz="2800" dirty="0">
              <a:solidFill>
                <a:schemeClr val="bg1"/>
              </a:solidFill>
              <a:latin typeface="Microsoft YaHei" panose="020B0503020204020204" pitchFamily="34" charset="-122"/>
              <a:ea typeface="Microsoft YaHei" panose="020B0503020204020204" pitchFamily="34" charset="-122"/>
            </a:endParaRPr>
          </a:p>
          <a:p>
            <a:r>
              <a:rPr lang="zh-TW" altLang="en-US" sz="2800" dirty="0">
                <a:solidFill>
                  <a:schemeClr val="bg1"/>
                </a:solidFill>
                <a:latin typeface="Microsoft YaHei" panose="020B0503020204020204" pitchFamily="34" charset="-122"/>
                <a:ea typeface="Microsoft YaHei" panose="020B0503020204020204" pitchFamily="34" charset="-122"/>
              </a:rPr>
              <a:t>成員：潘怡旻、張婷婷、林書存</a:t>
            </a:r>
            <a:endParaRPr lang="en-US" altLang="zh-TW" sz="2800" dirty="0">
              <a:solidFill>
                <a:schemeClr val="bg1"/>
              </a:solidFill>
              <a:latin typeface="Microsoft YaHei" panose="020B0503020204020204" pitchFamily="34" charset="-122"/>
              <a:ea typeface="Microsoft YaHei" panose="020B0503020204020204" pitchFamily="34" charset="-122"/>
            </a:endParaRPr>
          </a:p>
          <a:p>
            <a:r>
              <a:rPr lang="zh-TW" altLang="en-US" sz="2800" dirty="0">
                <a:solidFill>
                  <a:schemeClr val="bg1"/>
                </a:solidFill>
                <a:latin typeface="Microsoft YaHei" panose="020B0503020204020204" pitchFamily="34" charset="-122"/>
                <a:ea typeface="Microsoft YaHei" panose="020B0503020204020204" pitchFamily="34" charset="-122"/>
              </a:rPr>
              <a:t>指導老師：張榮珍副教授</a:t>
            </a:r>
            <a:endParaRPr lang="en-US" altLang="zh-TW" sz="2800" dirty="0">
              <a:solidFill>
                <a:schemeClr val="bg1"/>
              </a:solidFill>
              <a:latin typeface="Microsoft YaHei" panose="020B0503020204020204" pitchFamily="34" charset="-122"/>
              <a:ea typeface="Microsoft YaHei" panose="020B0503020204020204" pitchFamily="34" charset="-122"/>
            </a:endParaRPr>
          </a:p>
          <a:p>
            <a:endParaRPr lang="zh-TW" altLang="en-US" sz="2200" dirty="0">
              <a:solidFill>
                <a:srgbClr val="FFFFFF"/>
              </a:solidFill>
            </a:endParaRPr>
          </a:p>
        </p:txBody>
      </p:sp>
      <p:sp>
        <p:nvSpPr>
          <p:cNvPr id="4" name="投影片編號版面配置區 3">
            <a:extLst>
              <a:ext uri="{FF2B5EF4-FFF2-40B4-BE49-F238E27FC236}">
                <a16:creationId xmlns:a16="http://schemas.microsoft.com/office/drawing/2014/main" id="{1ECBD284-4CEA-32EC-67B6-8FA1C2EE831F}"/>
              </a:ext>
            </a:extLst>
          </p:cNvPr>
          <p:cNvSpPr>
            <a:spLocks noGrp="1"/>
          </p:cNvSpPr>
          <p:nvPr>
            <p:ph type="sldNum" sz="quarter" idx="12"/>
          </p:nvPr>
        </p:nvSpPr>
        <p:spPr>
          <a:xfrm>
            <a:off x="11632162" y="6453002"/>
            <a:ext cx="429207" cy="365125"/>
          </a:xfrm>
        </p:spPr>
        <p:txBody>
          <a:bodyPr>
            <a:normAutofit/>
          </a:bodyPr>
          <a:lstStyle/>
          <a:p>
            <a:pPr>
              <a:spcAft>
                <a:spcPts val="600"/>
              </a:spcAft>
            </a:pPr>
            <a:fld id="{CC057153-B650-4DEB-B370-79DDCFDCE934}" type="slidenum">
              <a:rPr lang="en-US">
                <a:solidFill>
                  <a:srgbClr val="FFFFFF"/>
                </a:solidFill>
              </a:rPr>
              <a:pPr>
                <a:spcAft>
                  <a:spcPts val="600"/>
                </a:spcAft>
              </a:pPr>
              <a:t>1</a:t>
            </a:fld>
            <a:endParaRPr lang="en-US">
              <a:solidFill>
                <a:srgbClr val="FFFFFF"/>
              </a:solidFill>
            </a:endParaRPr>
          </a:p>
        </p:txBody>
      </p:sp>
    </p:spTree>
    <p:extLst>
      <p:ext uri="{BB962C8B-B14F-4D97-AF65-F5344CB8AC3E}">
        <p14:creationId xmlns:p14="http://schemas.microsoft.com/office/powerpoint/2010/main" val="4035341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5E5445C6-2398-46F3-5FA0-03261F2B30C2}"/>
              </a:ext>
            </a:extLst>
          </p:cNvPr>
          <p:cNvSpPr>
            <a:spLocks noGrp="1"/>
          </p:cNvSpPr>
          <p:nvPr>
            <p:ph type="title"/>
          </p:nvPr>
        </p:nvSpPr>
        <p:spPr>
          <a:xfrm>
            <a:off x="433388" y="255747"/>
            <a:ext cx="4974856" cy="1168146"/>
          </a:xfrm>
        </p:spPr>
        <p:txBody>
          <a:bodyPr anchor="b">
            <a:normAutofit/>
          </a:bodyPr>
          <a:lstStyle/>
          <a:p>
            <a:r>
              <a:rPr lang="zh-TW" altLang="en-US" sz="4800" dirty="0">
                <a:latin typeface="Microsoft YaHei" panose="020B0503020204020204" pitchFamily="34" charset="-122"/>
                <a:ea typeface="Microsoft YaHei" panose="020B0503020204020204" pitchFamily="34" charset="-122"/>
              </a:rPr>
              <a:t>臨床情境</a:t>
            </a:r>
          </a:p>
        </p:txBody>
      </p:sp>
      <p:sp>
        <p:nvSpPr>
          <p:cNvPr id="3" name="內容版面配置區 2">
            <a:extLst>
              <a:ext uri="{FF2B5EF4-FFF2-40B4-BE49-F238E27FC236}">
                <a16:creationId xmlns:a16="http://schemas.microsoft.com/office/drawing/2014/main" id="{20CA5759-5F62-02A1-8493-58AE8DE6E8D4}"/>
              </a:ext>
            </a:extLst>
          </p:cNvPr>
          <p:cNvSpPr>
            <a:spLocks noGrp="1"/>
          </p:cNvSpPr>
          <p:nvPr>
            <p:ph idx="1"/>
          </p:nvPr>
        </p:nvSpPr>
        <p:spPr>
          <a:xfrm>
            <a:off x="433388" y="1679639"/>
            <a:ext cx="8239125" cy="5035486"/>
          </a:xfrm>
        </p:spPr>
        <p:txBody>
          <a:bodyPr>
            <a:noAutofit/>
          </a:bodyPr>
          <a:lstStyle/>
          <a:p>
            <a:pPr marL="0" indent="0">
              <a:buNone/>
            </a:pPr>
            <a:r>
              <a:rPr lang="zh-TW" altLang="en-US" sz="2800" dirty="0">
                <a:latin typeface="Microsoft YaHei" panose="020B0503020204020204" pitchFamily="34" charset="-122"/>
                <a:ea typeface="Microsoft YaHei" panose="020B0503020204020204" pitchFamily="34" charset="-122"/>
                <a:cs typeface="Microsoft Uighur" panose="02000000000000000000" pitchFamily="2" charset="-78"/>
              </a:rPr>
              <a:t>深夜，大夜班護理師小美巡房時發現病人張先生沒有呼吸及心跳，因平時</a:t>
            </a:r>
            <a:r>
              <a:rPr lang="zh-TW" altLang="en-US" sz="2800" b="1" dirty="0">
                <a:solidFill>
                  <a:srgbClr val="0070C0"/>
                </a:solidFill>
                <a:latin typeface="Microsoft YaHei" panose="020B0503020204020204" pitchFamily="34" charset="-122"/>
                <a:ea typeface="Microsoft YaHei" panose="020B0503020204020204" pitchFamily="34" charset="-122"/>
                <a:cs typeface="Microsoft Uighur" panose="02000000000000000000" pitchFamily="2" charset="-78"/>
              </a:rPr>
              <a:t>較少實際執行 </a:t>
            </a:r>
            <a:r>
              <a:rPr lang="en-US" altLang="zh-TW" sz="2800" b="1" dirty="0">
                <a:solidFill>
                  <a:srgbClr val="0070C0"/>
                </a:solidFill>
                <a:latin typeface="Microsoft YaHei" panose="020B0503020204020204" pitchFamily="34" charset="-122"/>
                <a:ea typeface="Microsoft YaHei" panose="020B0503020204020204" pitchFamily="34" charset="-122"/>
                <a:cs typeface="Microsoft Uighur" panose="02000000000000000000" pitchFamily="2" charset="-78"/>
              </a:rPr>
              <a:t>CPR</a:t>
            </a:r>
            <a:r>
              <a:rPr lang="zh-TW" altLang="en-US" sz="2800" dirty="0">
                <a:solidFill>
                  <a:srgbClr val="0070C0"/>
                </a:solidFill>
                <a:latin typeface="Microsoft YaHei" panose="020B0503020204020204" pitchFamily="34" charset="-122"/>
                <a:ea typeface="Microsoft YaHei" panose="020B0503020204020204" pitchFamily="34" charset="-122"/>
                <a:cs typeface="Microsoft Uighur" panose="02000000000000000000" pitchFamily="2" charset="-78"/>
              </a:rPr>
              <a:t>，</a:t>
            </a:r>
            <a:r>
              <a:rPr lang="zh-TW" altLang="en-US" sz="2800" b="1" dirty="0">
                <a:solidFill>
                  <a:srgbClr val="0070C0"/>
                </a:solidFill>
                <a:latin typeface="Microsoft YaHei" panose="020B0503020204020204" pitchFamily="34" charset="-122"/>
                <a:ea typeface="Microsoft YaHei" panose="020B0503020204020204" pitchFamily="34" charset="-122"/>
                <a:cs typeface="Microsoft Uighur" panose="02000000000000000000" pitchFamily="2" charset="-78"/>
              </a:rPr>
              <a:t>再加上突如其來的緊急狀況，內心非常緊張、害怕與壓力，腦中一度一片空白</a:t>
            </a:r>
            <a:r>
              <a:rPr lang="zh-TW" altLang="en-US" sz="2800" dirty="0">
                <a:solidFill>
                  <a:srgbClr val="0070C0"/>
                </a:solidFill>
                <a:latin typeface="Microsoft YaHei" panose="020B0503020204020204" pitchFamily="34" charset="-122"/>
                <a:ea typeface="Microsoft YaHei" panose="020B0503020204020204" pitchFamily="34" charset="-122"/>
                <a:cs typeface="Microsoft Uighur" panose="02000000000000000000" pitchFamily="2" charset="-78"/>
              </a:rPr>
              <a:t>，</a:t>
            </a:r>
            <a:r>
              <a:rPr lang="zh-TW" altLang="en-US" sz="2800" dirty="0">
                <a:latin typeface="Microsoft YaHei" panose="020B0503020204020204" pitchFamily="34" charset="-122"/>
                <a:ea typeface="Microsoft YaHei" panose="020B0503020204020204" pitchFamily="34" charset="-122"/>
                <a:cs typeface="Microsoft Uighur" panose="02000000000000000000" pitchFamily="2" charset="-78"/>
              </a:rPr>
              <a:t>她只能</a:t>
            </a:r>
            <a:r>
              <a:rPr lang="zh-TW" altLang="en-US" sz="2800" b="1" dirty="0">
                <a:solidFill>
                  <a:srgbClr val="0070C0"/>
                </a:solidFill>
                <a:latin typeface="Microsoft YaHei" panose="020B0503020204020204" pitchFamily="34" charset="-122"/>
                <a:ea typeface="Microsoft YaHei" panose="020B0503020204020204" pitchFamily="34" charset="-122"/>
                <a:cs typeface="Microsoft Uighur" panose="02000000000000000000" pitchFamily="2" charset="-78"/>
              </a:rPr>
              <a:t>憑著記憶</a:t>
            </a:r>
            <a:r>
              <a:rPr lang="zh-TW" altLang="en-US" sz="2800" dirty="0">
                <a:latin typeface="Microsoft YaHei" panose="020B0503020204020204" pitchFamily="34" charset="-122"/>
                <a:ea typeface="Microsoft YaHei" panose="020B0503020204020204" pitchFamily="34" charset="-122"/>
                <a:cs typeface="Microsoft Uighur" panose="02000000000000000000" pitchFamily="2" charset="-78"/>
              </a:rPr>
              <a:t>開始進行胸外按壓。然而她心中想著：</a:t>
            </a:r>
            <a:r>
              <a:rPr lang="zh-TW" altLang="en-US" sz="2800" b="1" dirty="0">
                <a:solidFill>
                  <a:srgbClr val="FF0000"/>
                </a:solidFill>
                <a:latin typeface="Microsoft YaHei" panose="020B0503020204020204" pitchFamily="34" charset="-122"/>
                <a:ea typeface="Microsoft YaHei" panose="020B0503020204020204" pitchFamily="34" charset="-122"/>
                <a:cs typeface="Microsoft Uighur" panose="02000000000000000000" pitchFamily="2" charset="-78"/>
              </a:rPr>
              <a:t>「這樣的速度正確嗎？深度夠嗎？我到底按壓多久了？除了持續胸外按壓之外，接下來還有哪些緊急處置需要啟動？」</a:t>
            </a:r>
            <a:r>
              <a:rPr lang="zh-TW" altLang="en-US" sz="2800" dirty="0">
                <a:latin typeface="Microsoft YaHei" panose="020B0503020204020204" pitchFamily="34" charset="-122"/>
                <a:ea typeface="Microsoft YaHei" panose="020B0503020204020204" pitchFamily="34" charset="-122"/>
                <a:cs typeface="Microsoft Uighur" panose="02000000000000000000" pitchFamily="2" charset="-78"/>
              </a:rPr>
              <a:t>小美一邊努力胸外按壓，一邊等待支援的醫護人員抵達，希望能盡快完成後續的急救步驟。</a:t>
            </a:r>
          </a:p>
        </p:txBody>
      </p:sp>
      <p:pic>
        <p:nvPicPr>
          <p:cNvPr id="9" name="圖片 8">
            <a:extLst>
              <a:ext uri="{FF2B5EF4-FFF2-40B4-BE49-F238E27FC236}">
                <a16:creationId xmlns:a16="http://schemas.microsoft.com/office/drawing/2014/main" id="{9A363E5D-7E63-8439-5EDC-8F338144FC4D}"/>
              </a:ext>
            </a:extLst>
          </p:cNvPr>
          <p:cNvPicPr>
            <a:picLocks noChangeAspect="1"/>
          </p:cNvPicPr>
          <p:nvPr/>
        </p:nvPicPr>
        <p:blipFill>
          <a:blip r:embed="rId2"/>
          <a:stretch>
            <a:fillRect/>
          </a:stretch>
        </p:blipFill>
        <p:spPr>
          <a:xfrm>
            <a:off x="8702842" y="255748"/>
            <a:ext cx="3328455" cy="3701890"/>
          </a:xfrm>
          <a:prstGeom prst="rect">
            <a:avLst/>
          </a:prstGeom>
        </p:spPr>
      </p:pic>
      <p:sp>
        <p:nvSpPr>
          <p:cNvPr id="4" name="投影片編號版面配置區 3">
            <a:extLst>
              <a:ext uri="{FF2B5EF4-FFF2-40B4-BE49-F238E27FC236}">
                <a16:creationId xmlns:a16="http://schemas.microsoft.com/office/drawing/2014/main" id="{BD1C2C4B-9AE5-2BD8-08FA-46FD6D9A7AA4}"/>
              </a:ext>
            </a:extLst>
          </p:cNvPr>
          <p:cNvSpPr>
            <a:spLocks noGrp="1"/>
          </p:cNvSpPr>
          <p:nvPr>
            <p:ph type="sldNum" sz="quarter" idx="12"/>
          </p:nvPr>
        </p:nvSpPr>
        <p:spPr>
          <a:xfrm>
            <a:off x="11632162" y="6453002"/>
            <a:ext cx="429207" cy="365125"/>
          </a:xfrm>
        </p:spPr>
        <p:txBody>
          <a:bodyPr>
            <a:noAutofit/>
          </a:bodyPr>
          <a:lstStyle/>
          <a:p>
            <a:pPr>
              <a:spcAft>
                <a:spcPts val="600"/>
              </a:spcAft>
            </a:pPr>
            <a:fld id="{CC057153-B650-4DEB-B370-79DDCFDCE934}" type="slidenum">
              <a:rPr lang="en-US" sz="2400"/>
              <a:pPr>
                <a:spcAft>
                  <a:spcPts val="600"/>
                </a:spcAft>
              </a:pPr>
              <a:t>2</a:t>
            </a:fld>
            <a:endParaRPr lang="en-US" sz="2400" dirty="0"/>
          </a:p>
        </p:txBody>
      </p:sp>
    </p:spTree>
    <p:extLst>
      <p:ext uri="{BB962C8B-B14F-4D97-AF65-F5344CB8AC3E}">
        <p14:creationId xmlns:p14="http://schemas.microsoft.com/office/powerpoint/2010/main" val="104614322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52EE74-CD22-BD55-00F0-E9371B8D853E}"/>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2312EFB3-6362-8A66-99C1-7CBACABF1C6F}"/>
              </a:ext>
            </a:extLst>
          </p:cNvPr>
          <p:cNvSpPr>
            <a:spLocks noGrp="1"/>
          </p:cNvSpPr>
          <p:nvPr>
            <p:ph type="title"/>
          </p:nvPr>
        </p:nvSpPr>
        <p:spPr>
          <a:xfrm>
            <a:off x="609600" y="598785"/>
            <a:ext cx="10872216" cy="984798"/>
          </a:xfrm>
        </p:spPr>
        <p:txBody>
          <a:bodyPr anchor="b">
            <a:normAutofit/>
          </a:bodyPr>
          <a:lstStyle/>
          <a:p>
            <a:r>
              <a:rPr lang="zh-TW" altLang="en-US" sz="4800" dirty="0">
                <a:latin typeface="Microsoft YaHei" panose="020B0503020204020204" pitchFamily="34" charset="-122"/>
                <a:ea typeface="Microsoft YaHei" panose="020B0503020204020204" pitchFamily="34" charset="-122"/>
              </a:rPr>
              <a:t>瞭解護理師的主要問題</a:t>
            </a:r>
          </a:p>
        </p:txBody>
      </p:sp>
      <p:pic>
        <p:nvPicPr>
          <p:cNvPr id="14" name="Graphic 7" descr="Heart with Pulse">
            <a:extLst>
              <a:ext uri="{FF2B5EF4-FFF2-40B4-BE49-F238E27FC236}">
                <a16:creationId xmlns:a16="http://schemas.microsoft.com/office/drawing/2014/main" id="{517DEA01-9DD9-88CE-BD08-24EA3C49636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9600" y="2182368"/>
            <a:ext cx="3817941" cy="3817941"/>
          </a:xfrm>
          <a:prstGeom prst="rect">
            <a:avLst/>
          </a:prstGeom>
        </p:spPr>
      </p:pic>
      <p:sp>
        <p:nvSpPr>
          <p:cNvPr id="3" name="內容版面配置區 2">
            <a:extLst>
              <a:ext uri="{FF2B5EF4-FFF2-40B4-BE49-F238E27FC236}">
                <a16:creationId xmlns:a16="http://schemas.microsoft.com/office/drawing/2014/main" id="{77006A54-D6B0-7BEC-149A-5D82040FF8D0}"/>
              </a:ext>
            </a:extLst>
          </p:cNvPr>
          <p:cNvSpPr>
            <a:spLocks noGrp="1"/>
          </p:cNvSpPr>
          <p:nvPr>
            <p:ph idx="1"/>
          </p:nvPr>
        </p:nvSpPr>
        <p:spPr>
          <a:xfrm>
            <a:off x="6096000" y="2182368"/>
            <a:ext cx="5385816" cy="4076847"/>
          </a:xfrm>
        </p:spPr>
        <p:txBody>
          <a:bodyPr anchor="t">
            <a:normAutofit/>
          </a:bodyPr>
          <a:lstStyle/>
          <a:p>
            <a:pPr marL="342900" indent="-342900">
              <a:buFont typeface="+mj-lt"/>
              <a:buAutoNum type="arabicPeriod"/>
            </a:pPr>
            <a:r>
              <a:rPr lang="zh-TW" altLang="en-US" sz="2800" dirty="0">
                <a:latin typeface="Microsoft YaHei" panose="020B0503020204020204" pitchFamily="34" charset="-122"/>
                <a:ea typeface="Microsoft YaHei" panose="020B0503020204020204" pitchFamily="34" charset="-122"/>
                <a:cs typeface="Microsoft Uighur" panose="02000000000000000000" pitchFamily="2" charset="-78"/>
              </a:rPr>
              <a:t>不常執行</a:t>
            </a:r>
            <a:r>
              <a:rPr lang="en-US" altLang="zh-TW" sz="2800" dirty="0">
                <a:latin typeface="Microsoft YaHei" panose="020B0503020204020204" pitchFamily="34" charset="-122"/>
                <a:ea typeface="Microsoft YaHei" panose="020B0503020204020204" pitchFamily="34" charset="-122"/>
                <a:cs typeface="Microsoft Uighur" panose="02000000000000000000" pitchFamily="2" charset="-78"/>
              </a:rPr>
              <a:t>CPR</a:t>
            </a:r>
            <a:r>
              <a:rPr lang="zh-TW" altLang="en-US" sz="2800" dirty="0">
                <a:latin typeface="Microsoft YaHei" panose="020B0503020204020204" pitchFamily="34" charset="-122"/>
                <a:ea typeface="Microsoft YaHei" panose="020B0503020204020204" pitchFamily="34" charset="-122"/>
                <a:cs typeface="Microsoft Uighur" panose="02000000000000000000" pitchFamily="2" charset="-78"/>
              </a:rPr>
              <a:t>，只能憑著記憶開始進行胸外按壓，並在心中不斷數數以維持節奏。</a:t>
            </a:r>
            <a:endParaRPr lang="en-US" altLang="zh-TW" sz="2800" dirty="0">
              <a:latin typeface="Microsoft YaHei" panose="020B0503020204020204" pitchFamily="34" charset="-122"/>
              <a:ea typeface="Microsoft YaHei" panose="020B0503020204020204" pitchFamily="34" charset="-122"/>
              <a:cs typeface="Microsoft Uighur" panose="02000000000000000000" pitchFamily="2" charset="-78"/>
            </a:endParaRPr>
          </a:p>
          <a:p>
            <a:pPr marL="342900" indent="-342900">
              <a:buFont typeface="+mj-lt"/>
              <a:buAutoNum type="arabicPeriod"/>
            </a:pPr>
            <a:r>
              <a:rPr lang="zh-TW" altLang="en-US" sz="2800" dirty="0">
                <a:latin typeface="Microsoft YaHei" panose="020B0503020204020204" pitchFamily="34" charset="-122"/>
                <a:ea typeface="Microsoft YaHei" panose="020B0503020204020204" pitchFamily="34" charset="-122"/>
                <a:cs typeface="Microsoft Uighur" panose="02000000000000000000" pitchFamily="2" charset="-78"/>
              </a:rPr>
              <a:t>胸外按壓同時，無法確定這樣的速度正不正確？深度夠不夠？按壓多久了？接下來還有哪需緊急處置需啟動？</a:t>
            </a:r>
            <a:endParaRPr lang="en-US" altLang="zh-TW" sz="2800" dirty="0">
              <a:latin typeface="Microsoft YaHei" panose="020B0503020204020204" pitchFamily="34" charset="-122"/>
              <a:ea typeface="Microsoft YaHei" panose="020B0503020204020204" pitchFamily="34" charset="-122"/>
              <a:cs typeface="Microsoft Uighur" panose="02000000000000000000" pitchFamily="2" charset="-78"/>
            </a:endParaRPr>
          </a:p>
        </p:txBody>
      </p:sp>
      <p:sp>
        <p:nvSpPr>
          <p:cNvPr id="4" name="投影片編號版面配置區 3">
            <a:extLst>
              <a:ext uri="{FF2B5EF4-FFF2-40B4-BE49-F238E27FC236}">
                <a16:creationId xmlns:a16="http://schemas.microsoft.com/office/drawing/2014/main" id="{54E789CA-5BD5-7939-8EC9-803EAF5209C6}"/>
              </a:ext>
            </a:extLst>
          </p:cNvPr>
          <p:cNvSpPr>
            <a:spLocks noGrp="1"/>
          </p:cNvSpPr>
          <p:nvPr>
            <p:ph type="sldNum" sz="quarter" idx="12"/>
          </p:nvPr>
        </p:nvSpPr>
        <p:spPr>
          <a:xfrm>
            <a:off x="11632162" y="6453002"/>
            <a:ext cx="429207" cy="365125"/>
          </a:xfrm>
        </p:spPr>
        <p:txBody>
          <a:bodyPr>
            <a:noAutofit/>
          </a:bodyPr>
          <a:lstStyle/>
          <a:p>
            <a:pPr>
              <a:spcAft>
                <a:spcPts val="600"/>
              </a:spcAft>
            </a:pPr>
            <a:fld id="{CC057153-B650-4DEB-B370-79DDCFDCE934}" type="slidenum">
              <a:rPr lang="en-US" sz="2400">
                <a:solidFill>
                  <a:prstClr val="black"/>
                </a:solidFill>
              </a:rPr>
              <a:pPr>
                <a:spcAft>
                  <a:spcPts val="600"/>
                </a:spcAft>
              </a:pPr>
              <a:t>3</a:t>
            </a:fld>
            <a:endParaRPr lang="en-US" sz="2400" dirty="0">
              <a:solidFill>
                <a:prstClr val="black"/>
              </a:solidFill>
            </a:endParaRPr>
          </a:p>
        </p:txBody>
      </p:sp>
    </p:spTree>
    <p:extLst>
      <p:ext uri="{BB962C8B-B14F-4D97-AF65-F5344CB8AC3E}">
        <p14:creationId xmlns:p14="http://schemas.microsoft.com/office/powerpoint/2010/main" val="389751544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A8B74-D4F4-77BF-4ED9-70504010618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5B3DCC2-0ED7-95ED-942B-1B6E8EA8077B}"/>
              </a:ext>
            </a:extLst>
          </p:cNvPr>
          <p:cNvSpPr>
            <a:spLocks noGrp="1"/>
          </p:cNvSpPr>
          <p:nvPr>
            <p:ph type="title"/>
          </p:nvPr>
        </p:nvSpPr>
        <p:spPr>
          <a:xfrm>
            <a:off x="609600" y="598785"/>
            <a:ext cx="10872216" cy="984798"/>
          </a:xfrm>
        </p:spPr>
        <p:txBody>
          <a:bodyPr anchor="b">
            <a:normAutofit/>
          </a:bodyPr>
          <a:lstStyle/>
          <a:p>
            <a:r>
              <a:rPr lang="zh-TW" altLang="en-US" sz="4800" dirty="0">
                <a:latin typeface="Microsoft YaHei" panose="020B0503020204020204" pitchFamily="34" charset="-122"/>
                <a:ea typeface="Microsoft YaHei" panose="020B0503020204020204" pitchFamily="34" charset="-122"/>
              </a:rPr>
              <a:t>瞭解護理師的期望</a:t>
            </a:r>
          </a:p>
        </p:txBody>
      </p:sp>
      <p:pic>
        <p:nvPicPr>
          <p:cNvPr id="14" name="Graphic 7" descr="Heart with Pulse">
            <a:extLst>
              <a:ext uri="{FF2B5EF4-FFF2-40B4-BE49-F238E27FC236}">
                <a16:creationId xmlns:a16="http://schemas.microsoft.com/office/drawing/2014/main" id="{F3AB20D8-8A7E-16BF-3E1D-D2AC3F064D8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9600" y="2182368"/>
            <a:ext cx="3817941" cy="3817941"/>
          </a:xfrm>
          <a:prstGeom prst="rect">
            <a:avLst/>
          </a:prstGeom>
        </p:spPr>
      </p:pic>
      <p:sp>
        <p:nvSpPr>
          <p:cNvPr id="3" name="內容版面配置區 2">
            <a:extLst>
              <a:ext uri="{FF2B5EF4-FFF2-40B4-BE49-F238E27FC236}">
                <a16:creationId xmlns:a16="http://schemas.microsoft.com/office/drawing/2014/main" id="{A114E37E-2338-5442-2D1E-2D03705BCC48}"/>
              </a:ext>
            </a:extLst>
          </p:cNvPr>
          <p:cNvSpPr>
            <a:spLocks noGrp="1"/>
          </p:cNvSpPr>
          <p:nvPr>
            <p:ph idx="1"/>
          </p:nvPr>
        </p:nvSpPr>
        <p:spPr>
          <a:xfrm>
            <a:off x="6096000" y="2182368"/>
            <a:ext cx="5385816" cy="4076847"/>
          </a:xfrm>
        </p:spPr>
        <p:txBody>
          <a:bodyPr anchor="t">
            <a:normAutofit/>
          </a:bodyPr>
          <a:lstStyle/>
          <a:p>
            <a:pPr marL="342900" indent="-342900">
              <a:buFont typeface="+mj-lt"/>
              <a:buAutoNum type="arabicPeriod"/>
            </a:pPr>
            <a:r>
              <a:rPr lang="zh-TW" altLang="en-US" sz="2800" dirty="0">
                <a:latin typeface="Microsoft YaHei" panose="020B0503020204020204" pitchFamily="34" charset="-122"/>
                <a:ea typeface="Microsoft YaHei" panose="020B0503020204020204" pitchFamily="34" charset="-122"/>
                <a:cs typeface="Microsoft Uighur" panose="02000000000000000000" pitchFamily="2" charset="-78"/>
              </a:rPr>
              <a:t>希望有一個系統可以告訴我這樣的胸外按壓速度對不對，深度夠不夠，還有我按多久了？接下來的流程是什麼？</a:t>
            </a:r>
            <a:endParaRPr lang="en-US" altLang="zh-TW" sz="2800" dirty="0">
              <a:latin typeface="Microsoft YaHei" panose="020B0503020204020204" pitchFamily="34" charset="-122"/>
              <a:ea typeface="Microsoft YaHei" panose="020B0503020204020204" pitchFamily="34" charset="-122"/>
              <a:cs typeface="Microsoft Uighur" panose="02000000000000000000" pitchFamily="2" charset="-78"/>
            </a:endParaRPr>
          </a:p>
          <a:p>
            <a:pPr marL="342900" indent="-342900">
              <a:buFont typeface="+mj-lt"/>
              <a:buAutoNum type="arabicPeriod"/>
            </a:pPr>
            <a:r>
              <a:rPr lang="zh-TW" altLang="en-US" sz="2800" dirty="0">
                <a:latin typeface="Microsoft YaHei" panose="020B0503020204020204" pitchFamily="34" charset="-122"/>
                <a:ea typeface="Microsoft YaHei" panose="020B0503020204020204" pitchFamily="34" charset="-122"/>
                <a:cs typeface="Microsoft Uighur" panose="02000000000000000000" pitchFamily="2" charset="-78"/>
              </a:rPr>
              <a:t>希望病人可以救活。</a:t>
            </a:r>
            <a:endParaRPr lang="en-US" altLang="zh-TW" sz="2800" dirty="0">
              <a:latin typeface="Microsoft YaHei" panose="020B0503020204020204" pitchFamily="34" charset="-122"/>
              <a:ea typeface="Microsoft YaHei" panose="020B0503020204020204" pitchFamily="34" charset="-122"/>
              <a:cs typeface="Microsoft Uighur" panose="02000000000000000000" pitchFamily="2" charset="-78"/>
            </a:endParaRPr>
          </a:p>
        </p:txBody>
      </p:sp>
      <p:sp>
        <p:nvSpPr>
          <p:cNvPr id="4" name="投影片編號版面配置區 3">
            <a:extLst>
              <a:ext uri="{FF2B5EF4-FFF2-40B4-BE49-F238E27FC236}">
                <a16:creationId xmlns:a16="http://schemas.microsoft.com/office/drawing/2014/main" id="{E20BB5DE-0EB7-593A-AC52-7A7A9B5B2847}"/>
              </a:ext>
            </a:extLst>
          </p:cNvPr>
          <p:cNvSpPr>
            <a:spLocks noGrp="1"/>
          </p:cNvSpPr>
          <p:nvPr>
            <p:ph type="sldNum" sz="quarter" idx="12"/>
          </p:nvPr>
        </p:nvSpPr>
        <p:spPr>
          <a:xfrm>
            <a:off x="11632162" y="6453002"/>
            <a:ext cx="429207" cy="365125"/>
          </a:xfrm>
        </p:spPr>
        <p:txBody>
          <a:bodyPr>
            <a:noAutofit/>
          </a:bodyPr>
          <a:lstStyle/>
          <a:p>
            <a:pPr>
              <a:spcAft>
                <a:spcPts val="600"/>
              </a:spcAft>
            </a:pPr>
            <a:fld id="{CC057153-B650-4DEB-B370-79DDCFDCE934}" type="slidenum">
              <a:rPr lang="en-US" sz="2400">
                <a:solidFill>
                  <a:prstClr val="black"/>
                </a:solidFill>
              </a:rPr>
              <a:pPr>
                <a:spcAft>
                  <a:spcPts val="600"/>
                </a:spcAft>
              </a:pPr>
              <a:t>4</a:t>
            </a:fld>
            <a:endParaRPr lang="en-US" sz="2400" dirty="0">
              <a:solidFill>
                <a:prstClr val="black"/>
              </a:solidFill>
            </a:endParaRPr>
          </a:p>
        </p:txBody>
      </p:sp>
    </p:spTree>
    <p:extLst>
      <p:ext uri="{BB962C8B-B14F-4D97-AF65-F5344CB8AC3E}">
        <p14:creationId xmlns:p14="http://schemas.microsoft.com/office/powerpoint/2010/main" val="88498783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6D47C226-CAB3-4478-AE8C-9BECE90A12C9}"/>
              </a:ext>
            </a:extLst>
          </p:cNvPr>
          <p:cNvSpPr>
            <a:spLocks noGrp="1"/>
          </p:cNvSpPr>
          <p:nvPr>
            <p:ph type="title"/>
          </p:nvPr>
        </p:nvSpPr>
        <p:spPr>
          <a:xfrm>
            <a:off x="612649" y="548638"/>
            <a:ext cx="3193807" cy="5788152"/>
          </a:xfrm>
        </p:spPr>
        <p:txBody>
          <a:bodyPr anchor="ctr">
            <a:normAutofit/>
          </a:bodyPr>
          <a:lstStyle/>
          <a:p>
            <a:pPr algn="ctr"/>
            <a:r>
              <a:rPr lang="zh-TW" altLang="en-US" sz="4800" dirty="0">
                <a:latin typeface="Microsoft YaHei" panose="020B0503020204020204" pitchFamily="34" charset="-122"/>
                <a:ea typeface="Microsoft YaHei" panose="020B0503020204020204" pitchFamily="34" charset="-122"/>
              </a:rPr>
              <a:t>背景知識</a:t>
            </a:r>
          </a:p>
        </p:txBody>
      </p:sp>
      <p:sp>
        <p:nvSpPr>
          <p:cNvPr id="4" name="投影片編號版面配置區 3">
            <a:extLst>
              <a:ext uri="{FF2B5EF4-FFF2-40B4-BE49-F238E27FC236}">
                <a16:creationId xmlns:a16="http://schemas.microsoft.com/office/drawing/2014/main" id="{FB6FE1C1-C31B-C916-84B3-912C9AFB8494}"/>
              </a:ext>
            </a:extLst>
          </p:cNvPr>
          <p:cNvSpPr>
            <a:spLocks noGrp="1"/>
          </p:cNvSpPr>
          <p:nvPr>
            <p:ph type="sldNum" sz="quarter" idx="12"/>
          </p:nvPr>
        </p:nvSpPr>
        <p:spPr>
          <a:xfrm>
            <a:off x="11632162" y="6453002"/>
            <a:ext cx="429207" cy="365125"/>
          </a:xfrm>
        </p:spPr>
        <p:txBody>
          <a:bodyPr>
            <a:noAutofit/>
          </a:bodyPr>
          <a:lstStyle/>
          <a:p>
            <a:pPr>
              <a:spcAft>
                <a:spcPts val="600"/>
              </a:spcAft>
            </a:pPr>
            <a:fld id="{CC057153-B650-4DEB-B370-79DDCFDCE934}" type="slidenum">
              <a:rPr lang="en-US" sz="2400" smtClean="0"/>
              <a:pPr>
                <a:spcAft>
                  <a:spcPts val="600"/>
                </a:spcAft>
              </a:pPr>
              <a:t>5</a:t>
            </a:fld>
            <a:endParaRPr lang="en-US" sz="2400" dirty="0"/>
          </a:p>
        </p:txBody>
      </p:sp>
      <p:graphicFrame>
        <p:nvGraphicFramePr>
          <p:cNvPr id="6" name="內容版面配置區 2">
            <a:extLst>
              <a:ext uri="{FF2B5EF4-FFF2-40B4-BE49-F238E27FC236}">
                <a16:creationId xmlns:a16="http://schemas.microsoft.com/office/drawing/2014/main" id="{FFAC13F2-EA33-589D-5B3A-C1471ED54030}"/>
              </a:ext>
            </a:extLst>
          </p:cNvPr>
          <p:cNvGraphicFramePr>
            <a:graphicFrameLocks noGrp="1"/>
          </p:cNvGraphicFramePr>
          <p:nvPr>
            <p:ph idx="1"/>
            <p:extLst>
              <p:ext uri="{D42A27DB-BD31-4B8C-83A1-F6EECF244321}">
                <p14:modId xmlns:p14="http://schemas.microsoft.com/office/powerpoint/2010/main" val="1254479813"/>
              </p:ext>
            </p:extLst>
          </p:nvPr>
        </p:nvGraphicFramePr>
        <p:xfrm>
          <a:off x="4253023" y="361507"/>
          <a:ext cx="7304663" cy="62821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3623864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33731-80BC-986A-F21C-D862DC91CB3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E6E5A62-26F5-9878-D5CA-207B4409C926}"/>
              </a:ext>
            </a:extLst>
          </p:cNvPr>
          <p:cNvSpPr>
            <a:spLocks noGrp="1"/>
          </p:cNvSpPr>
          <p:nvPr>
            <p:ph type="title"/>
          </p:nvPr>
        </p:nvSpPr>
        <p:spPr>
          <a:xfrm>
            <a:off x="559838" y="232034"/>
            <a:ext cx="9369160" cy="1132258"/>
          </a:xfrm>
        </p:spPr>
        <p:txBody>
          <a:bodyPr>
            <a:normAutofit/>
          </a:bodyPr>
          <a:lstStyle/>
          <a:p>
            <a:r>
              <a:rPr lang="zh-TW" altLang="en-US" sz="4800" dirty="0"/>
              <a:t>根據臨床問題形成一個</a:t>
            </a:r>
            <a:r>
              <a:rPr lang="en-US" altLang="zh-TW" sz="4800" dirty="0"/>
              <a:t>PICO</a:t>
            </a:r>
            <a:endParaRPr lang="zh-TW" altLang="en-US" sz="4800" dirty="0"/>
          </a:p>
        </p:txBody>
      </p:sp>
      <p:graphicFrame>
        <p:nvGraphicFramePr>
          <p:cNvPr id="4" name="內容版面配置區 3">
            <a:extLst>
              <a:ext uri="{FF2B5EF4-FFF2-40B4-BE49-F238E27FC236}">
                <a16:creationId xmlns:a16="http://schemas.microsoft.com/office/drawing/2014/main" id="{65871C37-1AD0-7CC8-68FD-35923E598E8B}"/>
              </a:ext>
            </a:extLst>
          </p:cNvPr>
          <p:cNvGraphicFramePr>
            <a:graphicFrameLocks noGrp="1"/>
          </p:cNvGraphicFramePr>
          <p:nvPr>
            <p:ph idx="1"/>
            <p:extLst>
              <p:ext uri="{D42A27DB-BD31-4B8C-83A1-F6EECF244321}">
                <p14:modId xmlns:p14="http://schemas.microsoft.com/office/powerpoint/2010/main" val="2255593310"/>
              </p:ext>
            </p:extLst>
          </p:nvPr>
        </p:nvGraphicFramePr>
        <p:xfrm>
          <a:off x="559838" y="970387"/>
          <a:ext cx="10838264" cy="5372210"/>
        </p:xfrm>
        <a:graphic>
          <a:graphicData uri="http://schemas.openxmlformats.org/drawingml/2006/table">
            <a:tbl>
              <a:tblPr firstRow="1" bandRow="1">
                <a:tableStyleId>{68D230F3-CF80-4859-8CE7-A43EE81993B5}</a:tableStyleId>
              </a:tblPr>
              <a:tblGrid>
                <a:gridCol w="3555155">
                  <a:extLst>
                    <a:ext uri="{9D8B030D-6E8A-4147-A177-3AD203B41FA5}">
                      <a16:colId xmlns:a16="http://schemas.microsoft.com/office/drawing/2014/main" val="1156433551"/>
                    </a:ext>
                  </a:extLst>
                </a:gridCol>
                <a:gridCol w="4330974">
                  <a:extLst>
                    <a:ext uri="{9D8B030D-6E8A-4147-A177-3AD203B41FA5}">
                      <a16:colId xmlns:a16="http://schemas.microsoft.com/office/drawing/2014/main" val="3629819500"/>
                    </a:ext>
                  </a:extLst>
                </a:gridCol>
                <a:gridCol w="2952135">
                  <a:extLst>
                    <a:ext uri="{9D8B030D-6E8A-4147-A177-3AD203B41FA5}">
                      <a16:colId xmlns:a16="http://schemas.microsoft.com/office/drawing/2014/main" val="628174939"/>
                    </a:ext>
                  </a:extLst>
                </a:gridCol>
              </a:tblGrid>
              <a:tr h="911600">
                <a:tc gridSpan="3">
                  <a:txBody>
                    <a:bodyPr/>
                    <a:lstStyle/>
                    <a:p>
                      <a:pPr algn="l"/>
                      <a:r>
                        <a:rPr lang="zh-TW" altLang="en-US" sz="2800" dirty="0">
                          <a:solidFill>
                            <a:srgbClr val="FF0000"/>
                          </a:solidFill>
                        </a:rPr>
                        <a:t>問題：使用語音導引輔助系統是否能提升醫護人員執行心肺復甦術流程之的遵循率？</a:t>
                      </a:r>
                    </a:p>
                  </a:txBody>
                  <a:tcPr marL="101603" marR="101603" marT="50802" marB="50802"/>
                </a:tc>
                <a:tc hMerge="1">
                  <a:txBody>
                    <a:bodyPr/>
                    <a:lstStyle/>
                    <a:p>
                      <a:pPr algn="ctr"/>
                      <a:endParaRPr lang="zh-TW" altLang="en-US" sz="1800" dirty="0"/>
                    </a:p>
                  </a:txBody>
                  <a:tcPr marL="101603" marR="101603" marT="50802" marB="50802"/>
                </a:tc>
                <a:tc hMerge="1">
                  <a:txBody>
                    <a:bodyPr/>
                    <a:lstStyle/>
                    <a:p>
                      <a:pPr algn="ctr"/>
                      <a:endParaRPr lang="zh-TW" altLang="en-US" sz="1800" dirty="0"/>
                    </a:p>
                  </a:txBody>
                  <a:tcPr marL="101603" marR="101603" marT="50802" marB="50802"/>
                </a:tc>
                <a:extLst>
                  <a:ext uri="{0D108BD9-81ED-4DB2-BD59-A6C34878D82A}">
                    <a16:rowId xmlns:a16="http://schemas.microsoft.com/office/drawing/2014/main" val="938054921"/>
                  </a:ext>
                </a:extLst>
              </a:tr>
              <a:tr h="417011">
                <a:tc>
                  <a:txBody>
                    <a:bodyPr/>
                    <a:lstStyle/>
                    <a:p>
                      <a:pPr algn="ctr"/>
                      <a:r>
                        <a:rPr lang="en-US" altLang="zh-TW" sz="2200" dirty="0">
                          <a:latin typeface="Microsoft YaHei" panose="020B0503020204020204" pitchFamily="34" charset="-122"/>
                          <a:ea typeface="Microsoft YaHei" panose="020B0503020204020204" pitchFamily="34" charset="-122"/>
                        </a:rPr>
                        <a:t>PICO</a:t>
                      </a:r>
                      <a:endParaRPr lang="zh-TW" altLang="en-US" sz="2200" dirty="0">
                        <a:latin typeface="Microsoft YaHei" panose="020B0503020204020204" pitchFamily="34" charset="-122"/>
                        <a:ea typeface="Microsoft YaHei" panose="020B0503020204020204" pitchFamily="34" charset="-122"/>
                      </a:endParaRPr>
                    </a:p>
                  </a:txBody>
                  <a:tcPr marL="101603" marR="101603" marT="50802" marB="50802"/>
                </a:tc>
                <a:tc>
                  <a:txBody>
                    <a:bodyPr/>
                    <a:lstStyle/>
                    <a:p>
                      <a:pPr algn="ctr"/>
                      <a:r>
                        <a:rPr lang="zh-TW" altLang="en-US" sz="2200" dirty="0">
                          <a:latin typeface="Microsoft YaHei" panose="020B0503020204020204" pitchFamily="34" charset="-122"/>
                          <a:ea typeface="Microsoft YaHei" panose="020B0503020204020204" pitchFamily="34" charset="-122"/>
                        </a:rPr>
                        <a:t>中文關鍵字</a:t>
                      </a:r>
                    </a:p>
                  </a:txBody>
                  <a:tcPr marL="101603" marR="101603" marT="50802" marB="50802"/>
                </a:tc>
                <a:tc>
                  <a:txBody>
                    <a:bodyPr/>
                    <a:lstStyle/>
                    <a:p>
                      <a:pPr algn="ctr"/>
                      <a:r>
                        <a:rPr lang="zh-TW" altLang="en-US" sz="2200" dirty="0">
                          <a:latin typeface="Microsoft YaHei" panose="020B0503020204020204" pitchFamily="34" charset="-122"/>
                          <a:ea typeface="Microsoft YaHei" panose="020B0503020204020204" pitchFamily="34" charset="-122"/>
                        </a:rPr>
                        <a:t>英文關鍵字</a:t>
                      </a:r>
                    </a:p>
                  </a:txBody>
                  <a:tcPr marL="101603" marR="101603" marT="50802" marB="50802"/>
                </a:tc>
                <a:extLst>
                  <a:ext uri="{0D108BD9-81ED-4DB2-BD59-A6C34878D82A}">
                    <a16:rowId xmlns:a16="http://schemas.microsoft.com/office/drawing/2014/main" val="4243802375"/>
                  </a:ext>
                </a:extLst>
              </a:tr>
              <a:tr h="747230">
                <a:tc>
                  <a:txBody>
                    <a:bodyPr/>
                    <a:lstStyle/>
                    <a:p>
                      <a:pPr algn="ctr"/>
                      <a:r>
                        <a:rPr lang="en-US" altLang="zh-TW" sz="2200" dirty="0">
                          <a:latin typeface="Microsoft YaHei" panose="020B0503020204020204" pitchFamily="34" charset="-122"/>
                          <a:ea typeface="Microsoft YaHei" panose="020B0503020204020204" pitchFamily="34" charset="-122"/>
                        </a:rPr>
                        <a:t>P (Population)</a:t>
                      </a:r>
                      <a:endParaRPr lang="zh-TW" altLang="en-US" sz="2200" dirty="0">
                        <a:latin typeface="Microsoft YaHei" panose="020B0503020204020204" pitchFamily="34" charset="-122"/>
                        <a:ea typeface="Microsoft YaHei" panose="020B0503020204020204" pitchFamily="34" charset="-122"/>
                      </a:endParaRPr>
                    </a:p>
                  </a:txBody>
                  <a:tcPr marL="101603" marR="101603" marT="50802" marB="50802"/>
                </a:tc>
                <a:tc>
                  <a:txBody>
                    <a:bodyPr/>
                    <a:lstStyle/>
                    <a:p>
                      <a:pPr algn="ctr"/>
                      <a:r>
                        <a:rPr lang="zh-TW" altLang="en-US" sz="2200" dirty="0">
                          <a:latin typeface="Microsoft YaHei" panose="020B0503020204020204" pitchFamily="34" charset="-122"/>
                          <a:ea typeface="Microsoft YaHei" panose="020B0503020204020204" pitchFamily="34" charset="-122"/>
                        </a:rPr>
                        <a:t>急救團隊</a:t>
                      </a:r>
                      <a:endParaRPr lang="en-US" altLang="zh-TW" sz="2200" dirty="0">
                        <a:latin typeface="Microsoft YaHei" panose="020B0503020204020204" pitchFamily="34" charset="-122"/>
                        <a:ea typeface="Microsoft YaHei" panose="020B0503020204020204" pitchFamily="34" charset="-122"/>
                      </a:endParaRPr>
                    </a:p>
                    <a:p>
                      <a:pPr algn="ctr"/>
                      <a:r>
                        <a:rPr lang="zh-TW" altLang="en-US" sz="2200" dirty="0">
                          <a:latin typeface="Microsoft YaHei" panose="020B0503020204020204" pitchFamily="34" charset="-122"/>
                          <a:ea typeface="Microsoft YaHei" panose="020B0503020204020204" pitchFamily="34" charset="-122"/>
                        </a:rPr>
                        <a:t>急救醫護人員</a:t>
                      </a:r>
                    </a:p>
                  </a:txBody>
                  <a:tcPr marL="101603" marR="101603" marT="50802" marB="50802"/>
                </a:tc>
                <a:tc>
                  <a:txBody>
                    <a:bodyPr/>
                    <a:lstStyle/>
                    <a:p>
                      <a:pPr marL="457200" indent="-457200">
                        <a:buFont typeface="Arial" panose="020B0604020202020204" pitchFamily="34" charset="0"/>
                        <a:buChar char="•"/>
                      </a:pPr>
                      <a:r>
                        <a:rPr lang="en-US" altLang="zh-TW" sz="2200" dirty="0">
                          <a:latin typeface="Microsoft YaHei" panose="020B0503020204020204" pitchFamily="34" charset="-122"/>
                          <a:ea typeface="Microsoft YaHei" panose="020B0503020204020204" pitchFamily="34" charset="-122"/>
                        </a:rPr>
                        <a:t>emergency team</a:t>
                      </a:r>
                    </a:p>
                    <a:p>
                      <a:pPr marL="457200" indent="-457200">
                        <a:buFont typeface="Arial" panose="020B0604020202020204" pitchFamily="34" charset="0"/>
                        <a:buChar char="•"/>
                      </a:pPr>
                      <a:r>
                        <a:rPr lang="en-US" altLang="zh-TW" sz="2200" dirty="0">
                          <a:latin typeface="Microsoft YaHei" panose="020B0503020204020204" pitchFamily="34" charset="-122"/>
                          <a:ea typeface="Microsoft YaHei" panose="020B0503020204020204" pitchFamily="34" charset="-122"/>
                        </a:rPr>
                        <a:t>emergency staff</a:t>
                      </a:r>
                    </a:p>
                  </a:txBody>
                  <a:tcPr marL="101603" marR="101603" marT="50802" marB="50802"/>
                </a:tc>
                <a:extLst>
                  <a:ext uri="{0D108BD9-81ED-4DB2-BD59-A6C34878D82A}">
                    <a16:rowId xmlns:a16="http://schemas.microsoft.com/office/drawing/2014/main" val="4247757276"/>
                  </a:ext>
                </a:extLst>
              </a:tr>
              <a:tr h="768006">
                <a:tc>
                  <a:txBody>
                    <a:bodyPr/>
                    <a:lstStyle/>
                    <a:p>
                      <a:pPr algn="ctr"/>
                      <a:r>
                        <a:rPr lang="en-US" altLang="zh-TW" sz="2200" dirty="0">
                          <a:latin typeface="Microsoft YaHei" panose="020B0503020204020204" pitchFamily="34" charset="-122"/>
                          <a:ea typeface="Microsoft YaHei" panose="020B0503020204020204" pitchFamily="34" charset="-122"/>
                        </a:rPr>
                        <a:t>I (Intervention or issue)</a:t>
                      </a:r>
                      <a:endParaRPr lang="zh-TW" altLang="en-US" sz="2200" dirty="0">
                        <a:latin typeface="Microsoft YaHei" panose="020B0503020204020204" pitchFamily="34" charset="-122"/>
                        <a:ea typeface="Microsoft YaHei" panose="020B0503020204020204" pitchFamily="34" charset="-122"/>
                      </a:endParaRPr>
                    </a:p>
                  </a:txBody>
                  <a:tcPr marL="101603" marR="101603" marT="50802" marB="50802"/>
                </a:tc>
                <a:tc>
                  <a:txBody>
                    <a:bodyPr/>
                    <a:lstStyle/>
                    <a:p>
                      <a:pPr algn="ctr"/>
                      <a:r>
                        <a:rPr lang="zh-TW" altLang="en-US" sz="2200" dirty="0">
                          <a:latin typeface="Microsoft YaHei" panose="020B0503020204020204" pitchFamily="34" charset="-122"/>
                          <a:ea typeface="Microsoft YaHei" panose="020B0503020204020204" pitchFamily="34" charset="-122"/>
                        </a:rPr>
                        <a:t>聲音輔助系統</a:t>
                      </a:r>
                      <a:endParaRPr lang="en-US" altLang="zh-TW" sz="2200" dirty="0">
                        <a:latin typeface="Microsoft YaHei" panose="020B0503020204020204" pitchFamily="34" charset="-122"/>
                        <a:ea typeface="Microsoft YaHei" panose="020B0503020204020204" pitchFamily="34" charset="-122"/>
                      </a:endParaRPr>
                    </a:p>
                    <a:p>
                      <a:pPr algn="ctr"/>
                      <a:r>
                        <a:rPr lang="zh-TW" altLang="en-US" sz="2200" dirty="0">
                          <a:latin typeface="Microsoft YaHei" panose="020B0503020204020204" pitchFamily="34" charset="-122"/>
                          <a:ea typeface="Microsoft YaHei" panose="020B0503020204020204" pitchFamily="34" charset="-122"/>
                        </a:rPr>
                        <a:t>節拍器</a:t>
                      </a:r>
                    </a:p>
                  </a:txBody>
                  <a:tcPr marL="101603" marR="101603" marT="50802" marB="50802"/>
                </a:tc>
                <a:tc>
                  <a:txBody>
                    <a:bodyPr/>
                    <a:lstStyle/>
                    <a:p>
                      <a:pPr marL="457200" indent="-457200">
                        <a:buFont typeface="Arial" panose="020B0604020202020204" pitchFamily="34" charset="0"/>
                        <a:buChar char="•"/>
                      </a:pPr>
                      <a:r>
                        <a:rPr lang="en-US" altLang="zh-TW" sz="2200" dirty="0">
                          <a:latin typeface="Microsoft YaHei" panose="020B0503020204020204" pitchFamily="34" charset="-122"/>
                          <a:ea typeface="Microsoft YaHei" panose="020B0503020204020204" pitchFamily="34" charset="-122"/>
                        </a:rPr>
                        <a:t>auditory cueing</a:t>
                      </a:r>
                    </a:p>
                    <a:p>
                      <a:pPr marL="457200" indent="-457200">
                        <a:buFont typeface="Arial" panose="020B0604020202020204" pitchFamily="34" charset="0"/>
                        <a:buChar char="•"/>
                      </a:pPr>
                      <a:r>
                        <a:rPr lang="en-US" altLang="zh-TW" sz="2200" dirty="0">
                          <a:latin typeface="Microsoft YaHei" panose="020B0503020204020204" pitchFamily="34" charset="-122"/>
                          <a:ea typeface="Microsoft YaHei" panose="020B0503020204020204" pitchFamily="34" charset="-122"/>
                        </a:rPr>
                        <a:t>metronome</a:t>
                      </a:r>
                    </a:p>
                  </a:txBody>
                  <a:tcPr marL="101603" marR="101603" marT="50802" marB="50802"/>
                </a:tc>
                <a:extLst>
                  <a:ext uri="{0D108BD9-81ED-4DB2-BD59-A6C34878D82A}">
                    <a16:rowId xmlns:a16="http://schemas.microsoft.com/office/drawing/2014/main" val="380829050"/>
                  </a:ext>
                </a:extLst>
              </a:tr>
              <a:tr h="737039">
                <a:tc>
                  <a:txBody>
                    <a:bodyPr/>
                    <a:lstStyle/>
                    <a:p>
                      <a:pPr algn="ctr"/>
                      <a:r>
                        <a:rPr lang="en-US" altLang="zh-TW" sz="2200" dirty="0">
                          <a:latin typeface="Microsoft YaHei" panose="020B0503020204020204" pitchFamily="34" charset="-122"/>
                          <a:ea typeface="Microsoft YaHei" panose="020B0503020204020204" pitchFamily="34" charset="-122"/>
                        </a:rPr>
                        <a:t>C</a:t>
                      </a:r>
                      <a:r>
                        <a:rPr lang="zh-TW" altLang="en-US" sz="2200" dirty="0">
                          <a:latin typeface="Microsoft YaHei" panose="020B0503020204020204" pitchFamily="34" charset="-122"/>
                          <a:ea typeface="Microsoft YaHei" panose="020B0503020204020204" pitchFamily="34" charset="-122"/>
                        </a:rPr>
                        <a:t>（</a:t>
                      </a:r>
                      <a:r>
                        <a:rPr lang="en-US" altLang="zh-TW" sz="2200" dirty="0">
                          <a:latin typeface="Microsoft YaHei" panose="020B0503020204020204" pitchFamily="34" charset="-122"/>
                          <a:ea typeface="Microsoft YaHei" panose="020B0503020204020204" pitchFamily="34" charset="-122"/>
                        </a:rPr>
                        <a:t>comparison</a:t>
                      </a:r>
                      <a:r>
                        <a:rPr lang="zh-TW" altLang="en-US" sz="2200" dirty="0">
                          <a:latin typeface="Microsoft YaHei" panose="020B0503020204020204" pitchFamily="34" charset="-122"/>
                          <a:ea typeface="Microsoft YaHei" panose="020B0503020204020204" pitchFamily="34" charset="-122"/>
                        </a:rPr>
                        <a:t>）</a:t>
                      </a:r>
                    </a:p>
                  </a:txBody>
                  <a:tcPr marL="101603" marR="101603" marT="50802" marB="50802"/>
                </a:tc>
                <a:tc>
                  <a:txBody>
                    <a:bodyPr/>
                    <a:lstStyle/>
                    <a:p>
                      <a:pPr algn="ctr"/>
                      <a:r>
                        <a:rPr lang="zh-TW" altLang="en-US" sz="2200" dirty="0">
                          <a:latin typeface="Microsoft YaHei" panose="020B0503020204020204" pitchFamily="34" charset="-122"/>
                          <a:ea typeface="Microsoft YaHei" panose="020B0503020204020204" pitchFamily="34" charset="-122"/>
                        </a:rPr>
                        <a:t>傳統標準急救流程</a:t>
                      </a:r>
                    </a:p>
                  </a:txBody>
                  <a:tcPr marL="101603" marR="101603" marT="50802" marB="50802"/>
                </a:tc>
                <a:tc>
                  <a:txBody>
                    <a:bodyPr/>
                    <a:lstStyle/>
                    <a:p>
                      <a:pPr marL="285750" indent="-285750" algn="l">
                        <a:buFont typeface="Arial" panose="020B0604020202020204" pitchFamily="34" charset="0"/>
                        <a:buChar char="•"/>
                      </a:pPr>
                      <a:r>
                        <a:rPr lang="en-US" altLang="zh-TW" sz="2200" dirty="0">
                          <a:latin typeface="Microsoft YaHei" panose="020B0503020204020204" pitchFamily="34" charset="-122"/>
                          <a:ea typeface="Microsoft YaHei" panose="020B0503020204020204" pitchFamily="34" charset="-122"/>
                        </a:rPr>
                        <a:t>standard CPR performance</a:t>
                      </a:r>
                      <a:endParaRPr lang="zh-TW" altLang="en-US" sz="2200" dirty="0">
                        <a:latin typeface="Microsoft YaHei" panose="020B0503020204020204" pitchFamily="34" charset="-122"/>
                        <a:ea typeface="Microsoft YaHei" panose="020B0503020204020204" pitchFamily="34" charset="-122"/>
                      </a:endParaRPr>
                    </a:p>
                  </a:txBody>
                  <a:tcPr marL="101603" marR="101603" marT="50802" marB="50802"/>
                </a:tc>
                <a:extLst>
                  <a:ext uri="{0D108BD9-81ED-4DB2-BD59-A6C34878D82A}">
                    <a16:rowId xmlns:a16="http://schemas.microsoft.com/office/drawing/2014/main" val="281203519"/>
                  </a:ext>
                </a:extLst>
              </a:tr>
              <a:tr h="449946">
                <a:tc>
                  <a:txBody>
                    <a:bodyPr/>
                    <a:lstStyle/>
                    <a:p>
                      <a:pPr algn="ctr"/>
                      <a:r>
                        <a:rPr lang="en-US" altLang="zh-TW" sz="2200" dirty="0">
                          <a:latin typeface="Microsoft YaHei" panose="020B0503020204020204" pitchFamily="34" charset="-122"/>
                          <a:ea typeface="Microsoft YaHei" panose="020B0503020204020204" pitchFamily="34" charset="-122"/>
                        </a:rPr>
                        <a:t>O (Outcome)</a:t>
                      </a:r>
                      <a:endParaRPr lang="zh-TW" altLang="en-US" sz="2200" dirty="0">
                        <a:latin typeface="Microsoft YaHei" panose="020B0503020204020204" pitchFamily="34" charset="-122"/>
                        <a:ea typeface="Microsoft YaHei" panose="020B0503020204020204" pitchFamily="34" charset="-122"/>
                      </a:endParaRPr>
                    </a:p>
                  </a:txBody>
                  <a:tcPr marL="101603" marR="101603" marT="50802" marB="50802"/>
                </a:tc>
                <a:tc>
                  <a:txBody>
                    <a:bodyPr/>
                    <a:lstStyle/>
                    <a:p>
                      <a:pPr algn="ctr"/>
                      <a:r>
                        <a:rPr lang="zh-TW" altLang="en-US" sz="2200" dirty="0">
                          <a:latin typeface="Microsoft YaHei" panose="020B0503020204020204" pitchFamily="34" charset="-122"/>
                          <a:ea typeface="Microsoft YaHei" panose="020B0503020204020204" pitchFamily="34" charset="-122"/>
                        </a:rPr>
                        <a:t>醫療品質改善</a:t>
                      </a:r>
                    </a:p>
                  </a:txBody>
                  <a:tcPr marL="101603" marR="101603" marT="50802" marB="50802"/>
                </a:tc>
                <a:tc>
                  <a:txBody>
                    <a:bodyPr/>
                    <a:lstStyle/>
                    <a:p>
                      <a:pPr marL="285750" indent="-285750" algn="l">
                        <a:buFont typeface="Arial" panose="020B0604020202020204" pitchFamily="34" charset="0"/>
                        <a:buChar char="•"/>
                      </a:pPr>
                      <a:r>
                        <a:rPr lang="en-US" altLang="zh-TW" sz="2200" dirty="0">
                          <a:latin typeface="Microsoft YaHei" panose="020B0503020204020204" pitchFamily="34" charset="-122"/>
                          <a:ea typeface="Microsoft YaHei" panose="020B0503020204020204" pitchFamily="34" charset="-122"/>
                        </a:rPr>
                        <a:t>high quality CPR</a:t>
                      </a:r>
                      <a:endParaRPr lang="zh-TW" altLang="en-US" sz="2200" dirty="0">
                        <a:latin typeface="Microsoft YaHei" panose="020B0503020204020204" pitchFamily="34" charset="-122"/>
                        <a:ea typeface="Microsoft YaHei" panose="020B0503020204020204" pitchFamily="34" charset="-122"/>
                      </a:endParaRPr>
                    </a:p>
                  </a:txBody>
                  <a:tcPr marL="101603" marR="101603" marT="50802" marB="50802"/>
                </a:tc>
                <a:extLst>
                  <a:ext uri="{0D108BD9-81ED-4DB2-BD59-A6C34878D82A}">
                    <a16:rowId xmlns:a16="http://schemas.microsoft.com/office/drawing/2014/main" val="3569336529"/>
                  </a:ext>
                </a:extLst>
              </a:tr>
              <a:tr h="1213844">
                <a:tc gridSpan="3">
                  <a:txBody>
                    <a:bodyPr/>
                    <a:lstStyle/>
                    <a:p>
                      <a:pPr algn="ctr"/>
                      <a:r>
                        <a:rPr lang="zh-TW" altLang="en-US" sz="2200" dirty="0">
                          <a:solidFill>
                            <a:srgbClr val="0070C0"/>
                          </a:solidFill>
                          <a:latin typeface="Microsoft YaHei" panose="020B0503020204020204" pitchFamily="34" charset="-122"/>
                          <a:ea typeface="Microsoft YaHei" panose="020B0503020204020204" pitchFamily="34" charset="-122"/>
                        </a:rPr>
                        <a:t>問題類型：    </a:t>
                      </a:r>
                      <a:r>
                        <a:rPr lang="zh-TW" altLang="en-US" sz="2200" b="1" dirty="0">
                          <a:solidFill>
                            <a:srgbClr val="0070C0"/>
                          </a:solidFill>
                          <a:latin typeface="Microsoft YaHei" panose="020B0503020204020204" pitchFamily="34" charset="-122"/>
                          <a:ea typeface="Microsoft YaHei" panose="020B0503020204020204" pitchFamily="34" charset="-122"/>
                          <a:sym typeface="Wingdings" panose="05000000000000000000" pitchFamily="2" charset="2"/>
                        </a:rPr>
                        <a:t></a:t>
                      </a:r>
                      <a:r>
                        <a:rPr lang="zh-TW" altLang="en-US" sz="2200" b="1" dirty="0">
                          <a:solidFill>
                            <a:srgbClr val="0070C0"/>
                          </a:solidFill>
                          <a:latin typeface="Microsoft YaHei" panose="020B0503020204020204" pitchFamily="34" charset="-122"/>
                          <a:ea typeface="Microsoft YaHei" panose="020B0503020204020204" pitchFamily="34" charset="-122"/>
                        </a:rPr>
                        <a:t>  治療類型        </a:t>
                      </a:r>
                      <a:r>
                        <a:rPr lang="zh-TW" altLang="en-US" sz="2200" dirty="0">
                          <a:solidFill>
                            <a:srgbClr val="0070C0"/>
                          </a:solidFill>
                          <a:latin typeface="Microsoft YaHei" panose="020B0503020204020204" pitchFamily="34" charset="-122"/>
                          <a:ea typeface="Microsoft YaHei" panose="020B0503020204020204" pitchFamily="34" charset="-122"/>
                          <a:sym typeface="Wingdings" panose="05000000000000000000" pitchFamily="2" charset="2"/>
                        </a:rPr>
                        <a:t>  </a:t>
                      </a:r>
                      <a:r>
                        <a:rPr lang="zh-TW" altLang="en-US" sz="2200" dirty="0">
                          <a:solidFill>
                            <a:srgbClr val="0070C0"/>
                          </a:solidFill>
                          <a:latin typeface="Microsoft YaHei" panose="020B0503020204020204" pitchFamily="34" charset="-122"/>
                          <a:ea typeface="Microsoft YaHei" panose="020B0503020204020204" pitchFamily="34" charset="-122"/>
                        </a:rPr>
                        <a:t>診斷型</a:t>
                      </a:r>
                      <a:r>
                        <a:rPr lang="zh-TW" altLang="en-US" sz="2200" dirty="0">
                          <a:solidFill>
                            <a:srgbClr val="0070C0"/>
                          </a:solidFill>
                          <a:latin typeface="Microsoft YaHei" panose="020B0503020204020204" pitchFamily="34" charset="-122"/>
                          <a:ea typeface="Microsoft YaHei" panose="020B0503020204020204" pitchFamily="34" charset="-122"/>
                          <a:sym typeface="Wingdings" panose="05000000000000000000" pitchFamily="2" charset="2"/>
                        </a:rPr>
                        <a:t>      傷害型        預後型</a:t>
                      </a:r>
                      <a:endParaRPr lang="en-US" altLang="zh-TW" sz="2200" dirty="0">
                        <a:solidFill>
                          <a:srgbClr val="0070C0"/>
                        </a:solidFill>
                        <a:latin typeface="Microsoft YaHei" panose="020B0503020204020204" pitchFamily="34" charset="-122"/>
                        <a:ea typeface="Microsoft YaHei" panose="020B0503020204020204" pitchFamily="34" charset="-122"/>
                        <a:sym typeface="Wingdings" panose="05000000000000000000" pitchFamily="2" charset="2"/>
                      </a:endParaRPr>
                    </a:p>
                    <a:p>
                      <a:pPr algn="ctr"/>
                      <a:r>
                        <a:rPr lang="zh-TW" altLang="en-US" sz="2200" dirty="0">
                          <a:solidFill>
                            <a:srgbClr val="0070C0"/>
                          </a:solidFill>
                          <a:latin typeface="Microsoft YaHei" panose="020B0503020204020204" pitchFamily="34" charset="-122"/>
                          <a:ea typeface="Microsoft YaHei" panose="020B0503020204020204" pitchFamily="34" charset="-122"/>
                        </a:rPr>
                        <a:t>最適合回答此問題的研究設計：</a:t>
                      </a:r>
                      <a:r>
                        <a:rPr lang="zh-TW" altLang="en-US" sz="2200" b="1" dirty="0">
                          <a:solidFill>
                            <a:srgbClr val="0070C0"/>
                          </a:solidFill>
                          <a:latin typeface="Microsoft YaHei" panose="020B0503020204020204" pitchFamily="34" charset="-122"/>
                          <a:ea typeface="Microsoft YaHei" panose="020B0503020204020204" pitchFamily="34" charset="-122"/>
                        </a:rPr>
                        <a:t>隨機分派研究、系統性文獻回顧、統合分析</a:t>
                      </a:r>
                    </a:p>
                  </a:txBody>
                  <a:tcPr marL="101603" marR="101603" marT="50802" marB="50802"/>
                </a:tc>
                <a:tc hMerge="1">
                  <a:txBody>
                    <a:bodyPr/>
                    <a:lstStyle/>
                    <a:p>
                      <a:pPr algn="ctr"/>
                      <a:endParaRPr lang="zh-TW" altLang="en-US" sz="1800" dirty="0"/>
                    </a:p>
                  </a:txBody>
                  <a:tcPr marL="101603" marR="101603" marT="50802" marB="50802"/>
                </a:tc>
                <a:tc hMerge="1">
                  <a:txBody>
                    <a:bodyPr/>
                    <a:lstStyle/>
                    <a:p>
                      <a:pPr marL="285750" indent="-285750" algn="l">
                        <a:buFont typeface="Arial" panose="020B0604020202020204" pitchFamily="34" charset="0"/>
                        <a:buChar char="•"/>
                      </a:pPr>
                      <a:endParaRPr lang="zh-TW" altLang="en-US" sz="1800" dirty="0"/>
                    </a:p>
                  </a:txBody>
                  <a:tcPr marL="101603" marR="101603" marT="50802" marB="50802"/>
                </a:tc>
                <a:extLst>
                  <a:ext uri="{0D108BD9-81ED-4DB2-BD59-A6C34878D82A}">
                    <a16:rowId xmlns:a16="http://schemas.microsoft.com/office/drawing/2014/main" val="3015310185"/>
                  </a:ext>
                </a:extLst>
              </a:tr>
            </a:tbl>
          </a:graphicData>
        </a:graphic>
      </p:graphicFrame>
      <p:sp>
        <p:nvSpPr>
          <p:cNvPr id="5" name="投影片編號版面配置區 4">
            <a:extLst>
              <a:ext uri="{FF2B5EF4-FFF2-40B4-BE49-F238E27FC236}">
                <a16:creationId xmlns:a16="http://schemas.microsoft.com/office/drawing/2014/main" id="{2C084308-430C-5510-AE7D-50D49BAC42A9}"/>
              </a:ext>
            </a:extLst>
          </p:cNvPr>
          <p:cNvSpPr>
            <a:spLocks noGrp="1"/>
          </p:cNvSpPr>
          <p:nvPr>
            <p:ph type="sldNum" sz="quarter" idx="12"/>
          </p:nvPr>
        </p:nvSpPr>
        <p:spPr/>
        <p:txBody>
          <a:bodyPr/>
          <a:lstStyle/>
          <a:p>
            <a:fld id="{CC057153-B650-4DEB-B370-79DDCFDCE934}" type="slidenum">
              <a:rPr lang="en-US" sz="2800" smtClean="0"/>
              <a:t>6</a:t>
            </a:fld>
            <a:endParaRPr lang="en-US" sz="2800" dirty="0"/>
          </a:p>
        </p:txBody>
      </p:sp>
    </p:spTree>
    <p:extLst>
      <p:ext uri="{BB962C8B-B14F-4D97-AF65-F5344CB8AC3E}">
        <p14:creationId xmlns:p14="http://schemas.microsoft.com/office/powerpoint/2010/main" val="285687235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90A8FE-4660-4AFA-96B3-BCD0075C6832}"/>
              </a:ext>
            </a:extLst>
          </p:cNvPr>
          <p:cNvSpPr>
            <a:spLocks noGrp="1"/>
          </p:cNvSpPr>
          <p:nvPr>
            <p:ph type="title"/>
          </p:nvPr>
        </p:nvSpPr>
        <p:spPr>
          <a:xfrm>
            <a:off x="595423" y="230115"/>
            <a:ext cx="9162288" cy="1132258"/>
          </a:xfrm>
        </p:spPr>
        <p:txBody>
          <a:bodyPr>
            <a:normAutofit/>
          </a:bodyPr>
          <a:lstStyle/>
          <a:p>
            <a:r>
              <a:rPr lang="zh-TW" altLang="en-US" sz="4800" dirty="0"/>
              <a:t>實證搜尋步驟</a:t>
            </a:r>
            <a:r>
              <a:rPr lang="en-US" altLang="zh-TW" sz="4800" dirty="0"/>
              <a:t>-</a:t>
            </a:r>
            <a:r>
              <a:rPr lang="zh-TW" altLang="en-US" sz="4800" dirty="0"/>
              <a:t>關鍵字</a:t>
            </a:r>
          </a:p>
        </p:txBody>
      </p:sp>
      <p:graphicFrame>
        <p:nvGraphicFramePr>
          <p:cNvPr id="4" name="內容版面配置區 3">
            <a:extLst>
              <a:ext uri="{FF2B5EF4-FFF2-40B4-BE49-F238E27FC236}">
                <a16:creationId xmlns:a16="http://schemas.microsoft.com/office/drawing/2014/main" id="{630C8FBF-FF66-27BD-E858-5AD1B01AE8BC}"/>
              </a:ext>
            </a:extLst>
          </p:cNvPr>
          <p:cNvGraphicFramePr>
            <a:graphicFrameLocks noGrp="1"/>
          </p:cNvGraphicFramePr>
          <p:nvPr>
            <p:ph idx="1"/>
          </p:nvPr>
        </p:nvGraphicFramePr>
        <p:xfrm>
          <a:off x="595423" y="1056689"/>
          <a:ext cx="11036739" cy="5441354"/>
        </p:xfrm>
        <a:graphic>
          <a:graphicData uri="http://schemas.openxmlformats.org/drawingml/2006/table">
            <a:tbl>
              <a:tblPr firstRow="1" bandRow="1">
                <a:tableStyleId>{3B4B98B0-60AC-42C2-AFA5-B58CD77FA1E5}</a:tableStyleId>
              </a:tblPr>
              <a:tblGrid>
                <a:gridCol w="2024595">
                  <a:extLst>
                    <a:ext uri="{9D8B030D-6E8A-4147-A177-3AD203B41FA5}">
                      <a16:colId xmlns:a16="http://schemas.microsoft.com/office/drawing/2014/main" val="1156433551"/>
                    </a:ext>
                  </a:extLst>
                </a:gridCol>
                <a:gridCol w="1772577">
                  <a:extLst>
                    <a:ext uri="{9D8B030D-6E8A-4147-A177-3AD203B41FA5}">
                      <a16:colId xmlns:a16="http://schemas.microsoft.com/office/drawing/2014/main" val="3629819500"/>
                    </a:ext>
                  </a:extLst>
                </a:gridCol>
                <a:gridCol w="3480961">
                  <a:extLst>
                    <a:ext uri="{9D8B030D-6E8A-4147-A177-3AD203B41FA5}">
                      <a16:colId xmlns:a16="http://schemas.microsoft.com/office/drawing/2014/main" val="628174939"/>
                    </a:ext>
                  </a:extLst>
                </a:gridCol>
                <a:gridCol w="3758606">
                  <a:extLst>
                    <a:ext uri="{9D8B030D-6E8A-4147-A177-3AD203B41FA5}">
                      <a16:colId xmlns:a16="http://schemas.microsoft.com/office/drawing/2014/main" val="1489849553"/>
                    </a:ext>
                  </a:extLst>
                </a:gridCol>
              </a:tblGrid>
              <a:tr h="448117">
                <a:tc>
                  <a:txBody>
                    <a:bodyPr/>
                    <a:lstStyle/>
                    <a:p>
                      <a:pPr algn="ctr"/>
                      <a:r>
                        <a:rPr lang="en-US" altLang="zh-TW" sz="1800" dirty="0"/>
                        <a:t>PICO</a:t>
                      </a:r>
                      <a:endParaRPr lang="zh-TW" altLang="en-US" sz="1800" dirty="0"/>
                    </a:p>
                  </a:txBody>
                  <a:tcPr marL="101603" marR="101603" marT="50802" marB="50802"/>
                </a:tc>
                <a:tc>
                  <a:txBody>
                    <a:bodyPr/>
                    <a:lstStyle/>
                    <a:p>
                      <a:pPr algn="ctr"/>
                      <a:r>
                        <a:rPr lang="zh-TW" altLang="en-US" sz="1800" dirty="0"/>
                        <a:t>中文關鍵字</a:t>
                      </a:r>
                    </a:p>
                  </a:txBody>
                  <a:tcPr marL="101603" marR="101603" marT="50802" marB="50802"/>
                </a:tc>
                <a:tc>
                  <a:txBody>
                    <a:bodyPr/>
                    <a:lstStyle/>
                    <a:p>
                      <a:pPr algn="ctr"/>
                      <a:r>
                        <a:rPr lang="zh-TW" altLang="en-US" sz="1800" dirty="0"/>
                        <a:t>英文關鍵字</a:t>
                      </a:r>
                    </a:p>
                  </a:txBody>
                  <a:tcPr marL="101603" marR="101603" marT="50802" marB="50802"/>
                </a:tc>
                <a:tc>
                  <a:txBody>
                    <a:bodyPr/>
                    <a:lstStyle/>
                    <a:p>
                      <a:pPr algn="ctr"/>
                      <a:r>
                        <a:rPr lang="en-US" altLang="zh-TW" sz="1800" dirty="0" err="1"/>
                        <a:t>MeSH</a:t>
                      </a:r>
                      <a:r>
                        <a:rPr lang="en-US" altLang="zh-TW" sz="1800" dirty="0"/>
                        <a:t> Term</a:t>
                      </a:r>
                      <a:endParaRPr lang="zh-TW" altLang="en-US" sz="1800" dirty="0"/>
                    </a:p>
                  </a:txBody>
                  <a:tcPr marL="101603" marR="101603" marT="50802" marB="50802"/>
                </a:tc>
                <a:extLst>
                  <a:ext uri="{0D108BD9-81ED-4DB2-BD59-A6C34878D82A}">
                    <a16:rowId xmlns:a16="http://schemas.microsoft.com/office/drawing/2014/main" val="4243802375"/>
                  </a:ext>
                </a:extLst>
              </a:tr>
              <a:tr h="1266411">
                <a:tc>
                  <a:txBody>
                    <a:bodyPr/>
                    <a:lstStyle/>
                    <a:p>
                      <a:r>
                        <a:rPr lang="en-US" altLang="zh-TW" sz="1800" dirty="0"/>
                        <a:t>P (Population)</a:t>
                      </a:r>
                      <a:endParaRPr lang="zh-TW" altLang="en-US" sz="1800" dirty="0"/>
                    </a:p>
                  </a:txBody>
                  <a:tcPr marL="101603" marR="101603" marT="50802" marB="50802"/>
                </a:tc>
                <a:tc>
                  <a:txBody>
                    <a:bodyPr/>
                    <a:lstStyle/>
                    <a:p>
                      <a:pPr algn="ctr"/>
                      <a:r>
                        <a:rPr lang="zh-TW" altLang="en-US" sz="1800" dirty="0"/>
                        <a:t>急救團隊</a:t>
                      </a:r>
                      <a:endParaRPr lang="en-US" altLang="zh-TW" sz="1800" dirty="0"/>
                    </a:p>
                    <a:p>
                      <a:pPr algn="ctr"/>
                      <a:r>
                        <a:rPr lang="zh-TW" altLang="en-US" sz="1800" dirty="0"/>
                        <a:t>急救醫護人員</a:t>
                      </a:r>
                    </a:p>
                  </a:txBody>
                  <a:tcPr marL="101603" marR="101603" marT="50802" marB="50802"/>
                </a:tc>
                <a:tc>
                  <a:txBody>
                    <a:bodyPr/>
                    <a:lstStyle/>
                    <a:p>
                      <a:pPr marL="457200" indent="-457200">
                        <a:buFont typeface="Arial" panose="020B0604020202020204" pitchFamily="34" charset="0"/>
                        <a:buChar char="•"/>
                      </a:pPr>
                      <a:r>
                        <a:rPr lang="en-US" altLang="zh-TW" sz="1800" dirty="0"/>
                        <a:t>emergency team</a:t>
                      </a:r>
                    </a:p>
                    <a:p>
                      <a:pPr marL="457200" indent="-457200">
                        <a:buFont typeface="Arial" panose="020B0604020202020204" pitchFamily="34" charset="0"/>
                        <a:buChar char="•"/>
                      </a:pPr>
                      <a:r>
                        <a:rPr lang="en-US" altLang="zh-TW" sz="1800" dirty="0"/>
                        <a:t>emergency staff</a:t>
                      </a:r>
                    </a:p>
                    <a:p>
                      <a:pPr algn="ctr"/>
                      <a:endParaRPr lang="zh-TW" altLang="en-US" sz="1800" dirty="0"/>
                    </a:p>
                  </a:txBody>
                  <a:tcPr marL="101603" marR="101603" marT="50802" marB="50802"/>
                </a:tc>
                <a:tc>
                  <a:txBody>
                    <a:bodyPr/>
                    <a:lstStyle/>
                    <a:p>
                      <a:pPr marL="457200" indent="-457200">
                        <a:buFont typeface="Arial" panose="020B0604020202020204" pitchFamily="34" charset="0"/>
                        <a:buChar char="•"/>
                      </a:pPr>
                      <a:r>
                        <a:rPr lang="en-US" altLang="zh-TW" sz="1800" dirty="0"/>
                        <a:t>emergency medical technicians</a:t>
                      </a:r>
                    </a:p>
                    <a:p>
                      <a:pPr marL="457200" indent="-457200">
                        <a:buFont typeface="Arial" panose="020B0604020202020204" pitchFamily="34" charset="0"/>
                        <a:buChar char="•"/>
                      </a:pPr>
                      <a:r>
                        <a:rPr lang="en-US" altLang="zh-TW" sz="1800" dirty="0"/>
                        <a:t>health personnel</a:t>
                      </a:r>
                    </a:p>
                    <a:p>
                      <a:pPr marL="457200" indent="-457200">
                        <a:buFont typeface="Arial" panose="020B0604020202020204" pitchFamily="34" charset="0"/>
                        <a:buChar char="•"/>
                      </a:pPr>
                      <a:r>
                        <a:rPr lang="en-US" altLang="zh-TW" sz="1800" dirty="0"/>
                        <a:t>physicians</a:t>
                      </a:r>
                    </a:p>
                    <a:p>
                      <a:pPr marL="457200" indent="-457200">
                        <a:buFont typeface="Arial" panose="020B0604020202020204" pitchFamily="34" charset="0"/>
                        <a:buChar char="•"/>
                      </a:pPr>
                      <a:r>
                        <a:rPr lang="en-US" altLang="zh-TW" sz="1800" dirty="0"/>
                        <a:t>nurses</a:t>
                      </a:r>
                    </a:p>
                  </a:txBody>
                  <a:tcPr marL="101603" marR="101603" marT="50802" marB="50802"/>
                </a:tc>
                <a:extLst>
                  <a:ext uri="{0D108BD9-81ED-4DB2-BD59-A6C34878D82A}">
                    <a16:rowId xmlns:a16="http://schemas.microsoft.com/office/drawing/2014/main" val="4247757276"/>
                  </a:ext>
                </a:extLst>
              </a:tr>
              <a:tr h="1366345">
                <a:tc>
                  <a:txBody>
                    <a:bodyPr/>
                    <a:lstStyle/>
                    <a:p>
                      <a:r>
                        <a:rPr lang="en-US" altLang="zh-TW" sz="1800" dirty="0"/>
                        <a:t>I (Intervention or issue)</a:t>
                      </a:r>
                      <a:endParaRPr lang="zh-TW" altLang="en-US" sz="1800" dirty="0"/>
                    </a:p>
                  </a:txBody>
                  <a:tcPr marL="101603" marR="101603" marT="50802" marB="50802"/>
                </a:tc>
                <a:tc>
                  <a:txBody>
                    <a:bodyPr/>
                    <a:lstStyle/>
                    <a:p>
                      <a:pPr algn="ctr"/>
                      <a:r>
                        <a:rPr lang="zh-TW" altLang="en-US" sz="1800" dirty="0"/>
                        <a:t>聲音輔助系統</a:t>
                      </a:r>
                      <a:endParaRPr lang="en-US" altLang="zh-TW" sz="1800" dirty="0"/>
                    </a:p>
                    <a:p>
                      <a:pPr algn="ctr"/>
                      <a:r>
                        <a:rPr lang="zh-TW" altLang="en-US" sz="1800" dirty="0"/>
                        <a:t>節拍器</a:t>
                      </a:r>
                    </a:p>
                  </a:txBody>
                  <a:tcPr marL="101603" marR="101603" marT="50802" marB="50802"/>
                </a:tc>
                <a:tc>
                  <a:txBody>
                    <a:bodyPr/>
                    <a:lstStyle/>
                    <a:p>
                      <a:pPr marL="457200" indent="-457200">
                        <a:buFont typeface="Arial" panose="020B0604020202020204" pitchFamily="34" charset="0"/>
                        <a:buChar char="•"/>
                      </a:pPr>
                      <a:r>
                        <a:rPr lang="en-US" altLang="zh-TW" sz="1800" dirty="0"/>
                        <a:t>auditory cueing</a:t>
                      </a:r>
                    </a:p>
                    <a:p>
                      <a:pPr marL="457200" indent="-457200">
                        <a:buFont typeface="Arial" panose="020B0604020202020204" pitchFamily="34" charset="0"/>
                        <a:buChar char="•"/>
                      </a:pPr>
                      <a:r>
                        <a:rPr lang="en-US" altLang="zh-TW" sz="1800" dirty="0"/>
                        <a:t>metronome</a:t>
                      </a:r>
                    </a:p>
                    <a:p>
                      <a:pPr algn="ctr"/>
                      <a:endParaRPr lang="zh-TW" altLang="en-US" sz="1800" dirty="0"/>
                    </a:p>
                  </a:txBody>
                  <a:tcPr marL="101603" marR="101603" marT="50802" marB="50802"/>
                </a:tc>
                <a:tc>
                  <a:txBody>
                    <a:bodyPr/>
                    <a:lstStyle/>
                    <a:p>
                      <a:pPr marL="457200" indent="-457200">
                        <a:buFont typeface="Arial" panose="020B0604020202020204" pitchFamily="34" charset="0"/>
                        <a:buChar char="•"/>
                      </a:pPr>
                      <a:r>
                        <a:rPr lang="en-US" altLang="zh-TW" sz="1800" dirty="0"/>
                        <a:t>music</a:t>
                      </a:r>
                    </a:p>
                    <a:p>
                      <a:pPr marL="457200" indent="-457200">
                        <a:buFont typeface="Arial" panose="020B0604020202020204" pitchFamily="34" charset="0"/>
                        <a:buChar char="•"/>
                      </a:pPr>
                      <a:r>
                        <a:rPr lang="en-US" altLang="zh-TW" sz="1800" dirty="0"/>
                        <a:t>auditory perception</a:t>
                      </a:r>
                    </a:p>
                    <a:p>
                      <a:pPr marL="457200" indent="-457200">
                        <a:buFont typeface="Arial" panose="020B0604020202020204" pitchFamily="34" charset="0"/>
                        <a:buChar char="•"/>
                      </a:pPr>
                      <a:r>
                        <a:rPr lang="en-US" altLang="zh-TW" sz="1800" dirty="0"/>
                        <a:t>feedback, sensory</a:t>
                      </a:r>
                    </a:p>
                  </a:txBody>
                  <a:tcPr marL="101603" marR="101603" marT="50802" marB="50802"/>
                </a:tc>
                <a:extLst>
                  <a:ext uri="{0D108BD9-81ED-4DB2-BD59-A6C34878D82A}">
                    <a16:rowId xmlns:a16="http://schemas.microsoft.com/office/drawing/2014/main" val="380829050"/>
                  </a:ext>
                </a:extLst>
              </a:tr>
              <a:tr h="680484">
                <a:tc>
                  <a:txBody>
                    <a:bodyPr/>
                    <a:lstStyle/>
                    <a:p>
                      <a:r>
                        <a:rPr lang="en-US" altLang="zh-TW" sz="1800" dirty="0"/>
                        <a:t>C</a:t>
                      </a:r>
                      <a:r>
                        <a:rPr lang="zh-TW" altLang="en-US" sz="1800" dirty="0"/>
                        <a:t>（</a:t>
                      </a:r>
                      <a:r>
                        <a:rPr lang="en-US" altLang="zh-TW" sz="1800" dirty="0"/>
                        <a:t>comparison</a:t>
                      </a:r>
                      <a:r>
                        <a:rPr lang="zh-TW" altLang="en-US" sz="1800" dirty="0"/>
                        <a:t>）</a:t>
                      </a:r>
                    </a:p>
                  </a:txBody>
                  <a:tcPr marL="101603" marR="101603" marT="50802" marB="50802"/>
                </a:tc>
                <a:tc>
                  <a:txBody>
                    <a:bodyPr/>
                    <a:lstStyle/>
                    <a:p>
                      <a:pPr algn="ctr"/>
                      <a:r>
                        <a:rPr lang="zh-TW" altLang="en-US" sz="1800" dirty="0"/>
                        <a:t>傳統標準急救流程</a:t>
                      </a:r>
                    </a:p>
                  </a:txBody>
                  <a:tcPr marL="101603" marR="101603" marT="50802" marB="50802"/>
                </a:tc>
                <a:tc>
                  <a:txBody>
                    <a:bodyPr/>
                    <a:lstStyle/>
                    <a:p>
                      <a:pPr marL="285750" indent="-285750" algn="l">
                        <a:buFont typeface="Arial" panose="020B0604020202020204" pitchFamily="34" charset="0"/>
                        <a:buChar char="•"/>
                      </a:pPr>
                      <a:r>
                        <a:rPr lang="en-US" altLang="zh-TW" sz="1800" dirty="0"/>
                        <a:t>standard CPR performance</a:t>
                      </a:r>
                      <a:endParaRPr lang="zh-TW" altLang="en-US" sz="1800" dirty="0"/>
                    </a:p>
                  </a:txBody>
                  <a:tcPr marL="101603" marR="101603" marT="50802" marB="50802"/>
                </a:tc>
                <a:tc>
                  <a:txBody>
                    <a:bodyPr/>
                    <a:lstStyle/>
                    <a:p>
                      <a:pPr marL="285750" indent="-285750">
                        <a:buFont typeface="Arial" panose="020B0604020202020204" pitchFamily="34" charset="0"/>
                        <a:buChar char="•"/>
                      </a:pPr>
                      <a:r>
                        <a:rPr lang="en-US" altLang="zh-TW" sz="1800" dirty="0"/>
                        <a:t>cardiopulmonary</a:t>
                      </a:r>
                      <a:r>
                        <a:rPr lang="zh-TW" altLang="en-US" sz="1800" dirty="0"/>
                        <a:t> </a:t>
                      </a:r>
                      <a:r>
                        <a:rPr lang="en-US" altLang="zh-TW" sz="1800" dirty="0"/>
                        <a:t>resuscitation</a:t>
                      </a:r>
                    </a:p>
                    <a:p>
                      <a:pPr marL="285750" indent="-285750">
                        <a:buFont typeface="Arial" panose="020B0604020202020204" pitchFamily="34" charset="0"/>
                        <a:buChar char="•"/>
                      </a:pPr>
                      <a:r>
                        <a:rPr lang="en-US" altLang="zh-TW" sz="1800" dirty="0"/>
                        <a:t>cardiopulmonary methods</a:t>
                      </a:r>
                    </a:p>
                  </a:txBody>
                  <a:tcPr marL="101603" marR="101603" marT="50802" marB="50802"/>
                </a:tc>
                <a:extLst>
                  <a:ext uri="{0D108BD9-81ED-4DB2-BD59-A6C34878D82A}">
                    <a16:rowId xmlns:a16="http://schemas.microsoft.com/office/drawing/2014/main" val="281203519"/>
                  </a:ext>
                </a:extLst>
              </a:tr>
              <a:tr h="1405519">
                <a:tc>
                  <a:txBody>
                    <a:bodyPr/>
                    <a:lstStyle/>
                    <a:p>
                      <a:r>
                        <a:rPr lang="en-US" altLang="zh-TW" sz="1800" dirty="0"/>
                        <a:t>O (Outcome)</a:t>
                      </a:r>
                      <a:endParaRPr lang="zh-TW" altLang="en-US" sz="1800" dirty="0"/>
                    </a:p>
                  </a:txBody>
                  <a:tcPr marL="101603" marR="101603" marT="50802" marB="50802"/>
                </a:tc>
                <a:tc>
                  <a:txBody>
                    <a:bodyPr/>
                    <a:lstStyle/>
                    <a:p>
                      <a:pPr algn="ctr"/>
                      <a:r>
                        <a:rPr lang="zh-TW" altLang="en-US" sz="1800" dirty="0"/>
                        <a:t>醫療品質改善</a:t>
                      </a:r>
                    </a:p>
                  </a:txBody>
                  <a:tcPr marL="101603" marR="101603" marT="50802" marB="50802"/>
                </a:tc>
                <a:tc>
                  <a:txBody>
                    <a:bodyPr/>
                    <a:lstStyle/>
                    <a:p>
                      <a:pPr marL="285750" indent="-285750" algn="l">
                        <a:buFont typeface="Arial" panose="020B0604020202020204" pitchFamily="34" charset="0"/>
                        <a:buChar char="•"/>
                      </a:pPr>
                      <a:r>
                        <a:rPr lang="en-US" altLang="zh-TW" sz="1800" dirty="0"/>
                        <a:t>high quality CPR</a:t>
                      </a:r>
                      <a:endParaRPr lang="zh-TW" altLang="en-US" sz="1800" dirty="0"/>
                    </a:p>
                  </a:txBody>
                  <a:tcPr marL="101603" marR="101603" marT="50802" marB="50802"/>
                </a:tc>
                <a:tc>
                  <a:txBody>
                    <a:bodyPr/>
                    <a:lstStyle/>
                    <a:p>
                      <a:pPr marL="285750" indent="-285750">
                        <a:buFont typeface="Arial" panose="020B0604020202020204" pitchFamily="34" charset="0"/>
                        <a:buChar char="•"/>
                      </a:pPr>
                      <a:r>
                        <a:rPr lang="en-US" altLang="zh-TW" sz="1800" dirty="0"/>
                        <a:t>high quality CPR</a:t>
                      </a:r>
                    </a:p>
                    <a:p>
                      <a:pPr marL="285750" indent="-285750">
                        <a:buFont typeface="Arial" panose="020B0604020202020204" pitchFamily="34" charset="0"/>
                        <a:buChar char="•"/>
                      </a:pPr>
                      <a:r>
                        <a:rPr lang="en-US" altLang="zh-TW" sz="1800" dirty="0"/>
                        <a:t>cardiopulmonary resuscitation</a:t>
                      </a:r>
                    </a:p>
                    <a:p>
                      <a:pPr marL="285750" indent="-285750">
                        <a:buFont typeface="Arial" panose="020B0604020202020204" pitchFamily="34" charset="0"/>
                        <a:buChar char="•"/>
                      </a:pPr>
                      <a:r>
                        <a:rPr lang="en-US" altLang="zh-TW" sz="1800" dirty="0"/>
                        <a:t>cardiopulmonary standards</a:t>
                      </a:r>
                    </a:p>
                    <a:p>
                      <a:pPr marL="285750" indent="-285750">
                        <a:buFont typeface="Arial" panose="020B0604020202020204" pitchFamily="34" charset="0"/>
                        <a:buChar char="•"/>
                      </a:pPr>
                      <a:r>
                        <a:rPr lang="en-US" altLang="zh-TW" sz="1800" dirty="0"/>
                        <a:t>clinical competence</a:t>
                      </a:r>
                    </a:p>
                    <a:p>
                      <a:pPr marL="285750" indent="-285750">
                        <a:buFont typeface="Arial" panose="020B0604020202020204" pitchFamily="34" charset="0"/>
                        <a:buChar char="•"/>
                      </a:pPr>
                      <a:r>
                        <a:rPr lang="en-US" altLang="zh-TW" sz="1800" dirty="0"/>
                        <a:t>psychomotor performance</a:t>
                      </a:r>
                    </a:p>
                  </a:txBody>
                  <a:tcPr marL="101603" marR="101603" marT="50802" marB="50802"/>
                </a:tc>
                <a:extLst>
                  <a:ext uri="{0D108BD9-81ED-4DB2-BD59-A6C34878D82A}">
                    <a16:rowId xmlns:a16="http://schemas.microsoft.com/office/drawing/2014/main" val="3569336529"/>
                  </a:ext>
                </a:extLst>
              </a:tr>
            </a:tbl>
          </a:graphicData>
        </a:graphic>
      </p:graphicFrame>
      <p:sp>
        <p:nvSpPr>
          <p:cNvPr id="5" name="投影片編號版面配置區 4">
            <a:extLst>
              <a:ext uri="{FF2B5EF4-FFF2-40B4-BE49-F238E27FC236}">
                <a16:creationId xmlns:a16="http://schemas.microsoft.com/office/drawing/2014/main" id="{B536E885-87D5-B5B5-E7CB-D53B67136420}"/>
              </a:ext>
            </a:extLst>
          </p:cNvPr>
          <p:cNvSpPr>
            <a:spLocks noGrp="1"/>
          </p:cNvSpPr>
          <p:nvPr>
            <p:ph type="sldNum" sz="quarter" idx="12"/>
          </p:nvPr>
        </p:nvSpPr>
        <p:spPr/>
        <p:txBody>
          <a:bodyPr/>
          <a:lstStyle/>
          <a:p>
            <a:fld id="{CC057153-B650-4DEB-B370-79DDCFDCE934}" type="slidenum">
              <a:rPr lang="en-US" sz="2400" smtClean="0"/>
              <a:t>7</a:t>
            </a:fld>
            <a:endParaRPr lang="en-US" sz="2400" dirty="0"/>
          </a:p>
        </p:txBody>
      </p:sp>
      <p:sp>
        <p:nvSpPr>
          <p:cNvPr id="3" name="文字方塊 2">
            <a:extLst>
              <a:ext uri="{FF2B5EF4-FFF2-40B4-BE49-F238E27FC236}">
                <a16:creationId xmlns:a16="http://schemas.microsoft.com/office/drawing/2014/main" id="{1AED1BC6-3774-BF74-DC48-8F3FE9AD42AB}"/>
              </a:ext>
            </a:extLst>
          </p:cNvPr>
          <p:cNvSpPr txBox="1"/>
          <p:nvPr/>
        </p:nvSpPr>
        <p:spPr>
          <a:xfrm>
            <a:off x="1876645" y="5431978"/>
            <a:ext cx="738532" cy="369332"/>
          </a:xfrm>
          <a:prstGeom prst="rect">
            <a:avLst/>
          </a:prstGeom>
          <a:noFill/>
        </p:spPr>
        <p:txBody>
          <a:bodyPr wrap="square" rtlCol="0">
            <a:spAutoFit/>
          </a:bodyPr>
          <a:lstStyle/>
          <a:p>
            <a:r>
              <a:rPr lang="en-US" altLang="zh-TW" b="1" dirty="0">
                <a:solidFill>
                  <a:srgbClr val="FF0000"/>
                </a:solidFill>
              </a:rPr>
              <a:t>AND</a:t>
            </a:r>
            <a:endParaRPr lang="zh-TW" altLang="en-US" b="1" dirty="0">
              <a:solidFill>
                <a:srgbClr val="FF0000"/>
              </a:solidFill>
            </a:endParaRPr>
          </a:p>
        </p:txBody>
      </p:sp>
      <p:sp>
        <p:nvSpPr>
          <p:cNvPr id="6" name="文字方塊 5">
            <a:extLst>
              <a:ext uri="{FF2B5EF4-FFF2-40B4-BE49-F238E27FC236}">
                <a16:creationId xmlns:a16="http://schemas.microsoft.com/office/drawing/2014/main" id="{2AA951E9-C9CA-455F-90D7-FDDE49E852BE}"/>
              </a:ext>
            </a:extLst>
          </p:cNvPr>
          <p:cNvSpPr txBox="1"/>
          <p:nvPr/>
        </p:nvSpPr>
        <p:spPr>
          <a:xfrm>
            <a:off x="1905179" y="2635617"/>
            <a:ext cx="709998" cy="369332"/>
          </a:xfrm>
          <a:prstGeom prst="rect">
            <a:avLst/>
          </a:prstGeom>
          <a:noFill/>
        </p:spPr>
        <p:txBody>
          <a:bodyPr wrap="square" rtlCol="0">
            <a:spAutoFit/>
          </a:bodyPr>
          <a:lstStyle/>
          <a:p>
            <a:r>
              <a:rPr lang="en-US" altLang="zh-TW" b="1" dirty="0">
                <a:solidFill>
                  <a:srgbClr val="FF0000"/>
                </a:solidFill>
              </a:rPr>
              <a:t>AND</a:t>
            </a:r>
            <a:endParaRPr lang="zh-TW" altLang="en-US" b="1" dirty="0">
              <a:solidFill>
                <a:srgbClr val="FF0000"/>
              </a:solidFill>
            </a:endParaRPr>
          </a:p>
        </p:txBody>
      </p:sp>
      <p:sp>
        <p:nvSpPr>
          <p:cNvPr id="7" name="箭號: 弧形右彎 6">
            <a:extLst>
              <a:ext uri="{FF2B5EF4-FFF2-40B4-BE49-F238E27FC236}">
                <a16:creationId xmlns:a16="http://schemas.microsoft.com/office/drawing/2014/main" id="{43E803AA-B8C9-739E-2036-D08258BB6B2E}"/>
              </a:ext>
            </a:extLst>
          </p:cNvPr>
          <p:cNvSpPr/>
          <p:nvPr/>
        </p:nvSpPr>
        <p:spPr>
          <a:xfrm>
            <a:off x="2523989" y="2622828"/>
            <a:ext cx="774764" cy="1355644"/>
          </a:xfrm>
          <a:prstGeom prst="curvedRigh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solidFill>
                <a:schemeClr val="tx1"/>
              </a:solidFill>
            </a:endParaRPr>
          </a:p>
        </p:txBody>
      </p:sp>
      <p:sp>
        <p:nvSpPr>
          <p:cNvPr id="8" name="箭號: 弧形右彎 7">
            <a:extLst>
              <a:ext uri="{FF2B5EF4-FFF2-40B4-BE49-F238E27FC236}">
                <a16:creationId xmlns:a16="http://schemas.microsoft.com/office/drawing/2014/main" id="{102D99EA-CB80-7424-03E3-72C51589DDF2}"/>
              </a:ext>
            </a:extLst>
          </p:cNvPr>
          <p:cNvSpPr/>
          <p:nvPr/>
        </p:nvSpPr>
        <p:spPr>
          <a:xfrm>
            <a:off x="2494475" y="4017748"/>
            <a:ext cx="940982" cy="2152134"/>
          </a:xfrm>
          <a:prstGeom prst="curvedRigh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solidFill>
                <a:schemeClr val="tx1"/>
              </a:solidFill>
            </a:endParaRPr>
          </a:p>
        </p:txBody>
      </p:sp>
      <p:sp>
        <p:nvSpPr>
          <p:cNvPr id="10" name="文字方塊 9">
            <a:extLst>
              <a:ext uri="{FF2B5EF4-FFF2-40B4-BE49-F238E27FC236}">
                <a16:creationId xmlns:a16="http://schemas.microsoft.com/office/drawing/2014/main" id="{C43979DE-054D-07C5-CF31-444E16CC8945}"/>
              </a:ext>
            </a:extLst>
          </p:cNvPr>
          <p:cNvSpPr txBox="1"/>
          <p:nvPr/>
        </p:nvSpPr>
        <p:spPr>
          <a:xfrm>
            <a:off x="6986766" y="2116338"/>
            <a:ext cx="709998" cy="369332"/>
          </a:xfrm>
          <a:prstGeom prst="rect">
            <a:avLst/>
          </a:prstGeom>
          <a:noFill/>
        </p:spPr>
        <p:txBody>
          <a:bodyPr wrap="square" rtlCol="0">
            <a:spAutoFit/>
          </a:bodyPr>
          <a:lstStyle/>
          <a:p>
            <a:r>
              <a:rPr lang="en-US" altLang="zh-TW" b="1" dirty="0">
                <a:solidFill>
                  <a:srgbClr val="0070C0"/>
                </a:solidFill>
              </a:rPr>
              <a:t>OR</a:t>
            </a:r>
            <a:endParaRPr lang="zh-TW" altLang="en-US" b="1" dirty="0">
              <a:solidFill>
                <a:srgbClr val="0070C0"/>
              </a:solidFill>
            </a:endParaRPr>
          </a:p>
        </p:txBody>
      </p:sp>
      <p:sp>
        <p:nvSpPr>
          <p:cNvPr id="11" name="文字方塊 10">
            <a:extLst>
              <a:ext uri="{FF2B5EF4-FFF2-40B4-BE49-F238E27FC236}">
                <a16:creationId xmlns:a16="http://schemas.microsoft.com/office/drawing/2014/main" id="{38E37EFE-44F0-2146-762F-4439473A6691}"/>
              </a:ext>
            </a:extLst>
          </p:cNvPr>
          <p:cNvSpPr txBox="1"/>
          <p:nvPr/>
        </p:nvSpPr>
        <p:spPr>
          <a:xfrm>
            <a:off x="6986766" y="3486259"/>
            <a:ext cx="709998" cy="369332"/>
          </a:xfrm>
          <a:prstGeom prst="rect">
            <a:avLst/>
          </a:prstGeom>
          <a:noFill/>
        </p:spPr>
        <p:txBody>
          <a:bodyPr wrap="square" rtlCol="0">
            <a:spAutoFit/>
          </a:bodyPr>
          <a:lstStyle/>
          <a:p>
            <a:r>
              <a:rPr lang="en-US" altLang="zh-TW" b="1" dirty="0">
                <a:solidFill>
                  <a:srgbClr val="0070C0"/>
                </a:solidFill>
              </a:rPr>
              <a:t>OR</a:t>
            </a:r>
            <a:endParaRPr lang="zh-TW" altLang="en-US" b="1" dirty="0">
              <a:solidFill>
                <a:srgbClr val="0070C0"/>
              </a:solidFill>
            </a:endParaRPr>
          </a:p>
        </p:txBody>
      </p:sp>
      <p:sp>
        <p:nvSpPr>
          <p:cNvPr id="12" name="文字方塊 11">
            <a:extLst>
              <a:ext uri="{FF2B5EF4-FFF2-40B4-BE49-F238E27FC236}">
                <a16:creationId xmlns:a16="http://schemas.microsoft.com/office/drawing/2014/main" id="{4090657E-16D0-D25D-A055-B1CC3A925B9F}"/>
              </a:ext>
            </a:extLst>
          </p:cNvPr>
          <p:cNvSpPr txBox="1"/>
          <p:nvPr/>
        </p:nvSpPr>
        <p:spPr>
          <a:xfrm>
            <a:off x="6986766" y="5616644"/>
            <a:ext cx="709998" cy="369332"/>
          </a:xfrm>
          <a:prstGeom prst="rect">
            <a:avLst/>
          </a:prstGeom>
          <a:noFill/>
        </p:spPr>
        <p:txBody>
          <a:bodyPr wrap="square" rtlCol="0">
            <a:spAutoFit/>
          </a:bodyPr>
          <a:lstStyle/>
          <a:p>
            <a:r>
              <a:rPr lang="en-US" altLang="zh-TW" b="1" dirty="0">
                <a:solidFill>
                  <a:srgbClr val="0070C0"/>
                </a:solidFill>
              </a:rPr>
              <a:t>OR</a:t>
            </a:r>
            <a:endParaRPr lang="zh-TW" altLang="en-US" b="1" dirty="0">
              <a:solidFill>
                <a:srgbClr val="0070C0"/>
              </a:solidFill>
            </a:endParaRPr>
          </a:p>
        </p:txBody>
      </p:sp>
    </p:spTree>
    <p:extLst>
      <p:ext uri="{BB962C8B-B14F-4D97-AF65-F5344CB8AC3E}">
        <p14:creationId xmlns:p14="http://schemas.microsoft.com/office/powerpoint/2010/main" val="116720623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87B4472A-332B-71E5-8009-33841E7C3F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526E767C-6E26-C85C-2AB1-C63564BE69DB}"/>
              </a:ext>
            </a:extLst>
          </p:cNvPr>
          <p:cNvSpPr>
            <a:spLocks noGrp="1"/>
          </p:cNvSpPr>
          <p:nvPr>
            <p:ph type="title"/>
          </p:nvPr>
        </p:nvSpPr>
        <p:spPr>
          <a:xfrm>
            <a:off x="266933" y="280600"/>
            <a:ext cx="5034362" cy="1047750"/>
          </a:xfrm>
        </p:spPr>
        <p:txBody>
          <a:bodyPr vert="horz" lIns="91440" tIns="45720" rIns="91440" bIns="45720" rtlCol="0" anchor="b">
            <a:normAutofit/>
          </a:bodyPr>
          <a:lstStyle/>
          <a:p>
            <a:r>
              <a:rPr lang="en-US" altLang="zh-TW" sz="4000" dirty="0">
                <a:solidFill>
                  <a:srgbClr val="7030A0"/>
                </a:solidFill>
              </a:rPr>
              <a:t>PRISMA flow</a:t>
            </a:r>
            <a:r>
              <a:rPr lang="zh-TW" altLang="en-US" sz="4000" dirty="0">
                <a:solidFill>
                  <a:srgbClr val="7030A0"/>
                </a:solidFill>
              </a:rPr>
              <a:t> </a:t>
            </a:r>
            <a:r>
              <a:rPr lang="en-US" altLang="zh-TW" sz="4000" dirty="0">
                <a:solidFill>
                  <a:srgbClr val="7030A0"/>
                </a:solidFill>
              </a:rPr>
              <a:t>chart</a:t>
            </a:r>
          </a:p>
        </p:txBody>
      </p:sp>
      <p:pic>
        <p:nvPicPr>
          <p:cNvPr id="6" name="內容版面配置區 5" descr="一張含有 文字, 螢幕擷取畫面, 字型, 數字 的圖片&#10;&#10;AI 產生的內容可能不正確。">
            <a:extLst>
              <a:ext uri="{FF2B5EF4-FFF2-40B4-BE49-F238E27FC236}">
                <a16:creationId xmlns:a16="http://schemas.microsoft.com/office/drawing/2014/main" id="{F5FC9E0F-0AC1-ECBE-8DB2-28CD80D83C39}"/>
              </a:ext>
            </a:extLst>
          </p:cNvPr>
          <p:cNvPicPr>
            <a:picLocks noGrp="1" noChangeAspect="1"/>
          </p:cNvPicPr>
          <p:nvPr>
            <p:ph idx="1"/>
          </p:nvPr>
        </p:nvPicPr>
        <p:blipFill>
          <a:blip r:embed="rId3"/>
          <a:stretch>
            <a:fillRect/>
          </a:stretch>
        </p:blipFill>
        <p:spPr>
          <a:xfrm>
            <a:off x="5697215" y="336830"/>
            <a:ext cx="5619505" cy="6261287"/>
          </a:xfrm>
          <a:prstGeom prst="rect">
            <a:avLst/>
          </a:prstGeom>
        </p:spPr>
      </p:pic>
      <p:sp>
        <p:nvSpPr>
          <p:cNvPr id="5" name="投影片編號版面配置區 4">
            <a:extLst>
              <a:ext uri="{FF2B5EF4-FFF2-40B4-BE49-F238E27FC236}">
                <a16:creationId xmlns:a16="http://schemas.microsoft.com/office/drawing/2014/main" id="{B3585CDE-DAC5-CB0A-E160-36DE9C0D343F}"/>
              </a:ext>
            </a:extLst>
          </p:cNvPr>
          <p:cNvSpPr>
            <a:spLocks noGrp="1"/>
          </p:cNvSpPr>
          <p:nvPr>
            <p:ph type="sldNum" sz="quarter" idx="12"/>
          </p:nvPr>
        </p:nvSpPr>
        <p:spPr>
          <a:xfrm>
            <a:off x="11632162" y="6453002"/>
            <a:ext cx="429207" cy="365125"/>
          </a:xfrm>
        </p:spPr>
        <p:txBody>
          <a:bodyPr vert="horz" lIns="91440" tIns="45720" rIns="91440" bIns="45720" rtlCol="0" anchor="ctr">
            <a:noAutofit/>
          </a:bodyPr>
          <a:lstStyle/>
          <a:p>
            <a:pPr>
              <a:spcAft>
                <a:spcPts val="600"/>
              </a:spcAft>
            </a:pPr>
            <a:fld id="{CC057153-B650-4DEB-B370-79DDCFDCE934}" type="slidenum">
              <a:rPr lang="en-US" sz="2400" smtClean="0"/>
              <a:pPr>
                <a:spcAft>
                  <a:spcPts val="600"/>
                </a:spcAft>
              </a:pPr>
              <a:t>8</a:t>
            </a:fld>
            <a:endParaRPr lang="en-US" sz="2400" dirty="0"/>
          </a:p>
        </p:txBody>
      </p:sp>
      <p:pic>
        <p:nvPicPr>
          <p:cNvPr id="8" name="Picture 2" descr="PubMed – Becker Medical Library">
            <a:extLst>
              <a:ext uri="{FF2B5EF4-FFF2-40B4-BE49-F238E27FC236}">
                <a16:creationId xmlns:a16="http://schemas.microsoft.com/office/drawing/2014/main" id="{B005F3A7-53B1-4408-B3F5-E5B91A3669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831" y="1710427"/>
            <a:ext cx="2272125" cy="10477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New resource: CINAHL with Full Text – eResource updates">
            <a:extLst>
              <a:ext uri="{FF2B5EF4-FFF2-40B4-BE49-F238E27FC236}">
                <a16:creationId xmlns:a16="http://schemas.microsoft.com/office/drawing/2014/main" id="{CE9196CD-E620-CA23-7653-84DA8CBF4CE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7293" y="3059775"/>
            <a:ext cx="2832651" cy="8931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The Cochrane Library | Cochrane Multiple Sclerosis and Rare Diseases of the  CNS">
            <a:extLst>
              <a:ext uri="{FF2B5EF4-FFF2-40B4-BE49-F238E27FC236}">
                <a16:creationId xmlns:a16="http://schemas.microsoft.com/office/drawing/2014/main" id="{5A2D95FE-1725-F874-E054-04C7CF81FEB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0394" y="4338581"/>
            <a:ext cx="2516427" cy="808992"/>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EMBASE – Shrewsbury and Telford Health Libraries">
            <a:extLst>
              <a:ext uri="{FF2B5EF4-FFF2-40B4-BE49-F238E27FC236}">
                <a16:creationId xmlns:a16="http://schemas.microsoft.com/office/drawing/2014/main" id="{47A8985C-CBA8-A6D6-33DA-F8C9E7B5AB3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79968" y="5477414"/>
            <a:ext cx="2381250" cy="1047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420906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pattFill prst="pct90">
          <a:fgClr>
            <a:schemeClr val="accent6">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CDDE5D2C-BF78-5C20-D97E-1F67CC4E0EFA}"/>
              </a:ext>
            </a:extLst>
          </p:cNvPr>
          <p:cNvSpPr>
            <a:spLocks noGrp="1"/>
          </p:cNvSpPr>
          <p:nvPr>
            <p:ph type="ctrTitle"/>
          </p:nvPr>
        </p:nvSpPr>
        <p:spPr/>
        <p:txBody>
          <a:bodyPr>
            <a:normAutofit/>
          </a:bodyPr>
          <a:lstStyle/>
          <a:p>
            <a:r>
              <a:rPr lang="zh-TW" altLang="en-US" sz="4800" dirty="0"/>
              <a:t>實證搜尋步驟</a:t>
            </a:r>
            <a:r>
              <a:rPr lang="en-US" altLang="zh-TW" sz="4800" dirty="0"/>
              <a:t>-CASP</a:t>
            </a:r>
            <a:r>
              <a:rPr lang="zh-TW" altLang="en-US" sz="4800" dirty="0"/>
              <a:t>評讀</a:t>
            </a:r>
          </a:p>
        </p:txBody>
      </p:sp>
      <p:sp>
        <p:nvSpPr>
          <p:cNvPr id="5" name="副標題 4">
            <a:extLst>
              <a:ext uri="{FF2B5EF4-FFF2-40B4-BE49-F238E27FC236}">
                <a16:creationId xmlns:a16="http://schemas.microsoft.com/office/drawing/2014/main" id="{9422A570-16FE-35A4-56FD-B286FB25DBF3}"/>
              </a:ext>
            </a:extLst>
          </p:cNvPr>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69253999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943840-CF20-60FE-0ECC-3BACBB4C65CB}"/>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A642772-2521-3FAB-B405-4D946823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投影片編號版面配置區 4">
            <a:extLst>
              <a:ext uri="{FF2B5EF4-FFF2-40B4-BE49-F238E27FC236}">
                <a16:creationId xmlns:a16="http://schemas.microsoft.com/office/drawing/2014/main" id="{AFB330F3-A984-CF78-056F-11480906D5EE}"/>
              </a:ext>
            </a:extLst>
          </p:cNvPr>
          <p:cNvSpPr>
            <a:spLocks noGrp="1"/>
          </p:cNvSpPr>
          <p:nvPr>
            <p:ph type="sldNum" sz="quarter" idx="12"/>
          </p:nvPr>
        </p:nvSpPr>
        <p:spPr>
          <a:xfrm>
            <a:off x="11460288" y="6453002"/>
            <a:ext cx="601081" cy="365125"/>
          </a:xfrm>
        </p:spPr>
        <p:txBody>
          <a:bodyPr vert="horz" lIns="91440" tIns="45720" rIns="91440" bIns="45720" rtlCol="0" anchor="ctr">
            <a:noAutofit/>
          </a:bodyPr>
          <a:lstStyle/>
          <a:p>
            <a:pPr>
              <a:spcAft>
                <a:spcPts val="600"/>
              </a:spcAft>
            </a:pPr>
            <a:fld id="{CC057153-B650-4DEB-B370-79DDCFDCE934}" type="slidenum">
              <a:rPr lang="en-US" sz="2400" smtClean="0"/>
              <a:pPr>
                <a:spcAft>
                  <a:spcPts val="600"/>
                </a:spcAft>
              </a:pPr>
              <a:t>10</a:t>
            </a:fld>
            <a:endParaRPr lang="en-US" sz="2400" dirty="0"/>
          </a:p>
        </p:txBody>
      </p:sp>
      <p:graphicFrame>
        <p:nvGraphicFramePr>
          <p:cNvPr id="9" name="表格 8">
            <a:extLst>
              <a:ext uri="{FF2B5EF4-FFF2-40B4-BE49-F238E27FC236}">
                <a16:creationId xmlns:a16="http://schemas.microsoft.com/office/drawing/2014/main" id="{39AEE92B-587D-C915-DEDD-217E2AABF66E}"/>
              </a:ext>
            </a:extLst>
          </p:cNvPr>
          <p:cNvGraphicFramePr>
            <a:graphicFrameLocks noGrp="1"/>
          </p:cNvGraphicFramePr>
          <p:nvPr>
            <p:extLst>
              <p:ext uri="{D42A27DB-BD31-4B8C-83A1-F6EECF244321}">
                <p14:modId xmlns:p14="http://schemas.microsoft.com/office/powerpoint/2010/main" val="4158702346"/>
              </p:ext>
            </p:extLst>
          </p:nvPr>
        </p:nvGraphicFramePr>
        <p:xfrm>
          <a:off x="142876" y="39872"/>
          <a:ext cx="11918494" cy="1663209"/>
        </p:xfrm>
        <a:graphic>
          <a:graphicData uri="http://schemas.openxmlformats.org/drawingml/2006/table">
            <a:tbl>
              <a:tblPr firstRow="1" bandRow="1">
                <a:tableStyleId>{5C22544A-7EE6-4342-B048-85BDC9FD1C3A}</a:tableStyleId>
              </a:tblPr>
              <a:tblGrid>
                <a:gridCol w="6243243">
                  <a:extLst>
                    <a:ext uri="{9D8B030D-6E8A-4147-A177-3AD203B41FA5}">
                      <a16:colId xmlns:a16="http://schemas.microsoft.com/office/drawing/2014/main" val="1340665412"/>
                    </a:ext>
                  </a:extLst>
                </a:gridCol>
                <a:gridCol w="1871576">
                  <a:extLst>
                    <a:ext uri="{9D8B030D-6E8A-4147-A177-3AD203B41FA5}">
                      <a16:colId xmlns:a16="http://schemas.microsoft.com/office/drawing/2014/main" val="4247696271"/>
                    </a:ext>
                  </a:extLst>
                </a:gridCol>
                <a:gridCol w="1941410">
                  <a:extLst>
                    <a:ext uri="{9D8B030D-6E8A-4147-A177-3AD203B41FA5}">
                      <a16:colId xmlns:a16="http://schemas.microsoft.com/office/drawing/2014/main" val="209357475"/>
                    </a:ext>
                  </a:extLst>
                </a:gridCol>
                <a:gridCol w="1862265">
                  <a:extLst>
                    <a:ext uri="{9D8B030D-6E8A-4147-A177-3AD203B41FA5}">
                      <a16:colId xmlns:a16="http://schemas.microsoft.com/office/drawing/2014/main" val="137647530"/>
                    </a:ext>
                  </a:extLst>
                </a:gridCol>
              </a:tblGrid>
              <a:tr h="661504">
                <a:tc rowSpan="2">
                  <a:txBody>
                    <a:bodyPr/>
                    <a:lstStyle/>
                    <a:p>
                      <a:pPr marL="342900" indent="-342900">
                        <a:buAutoNum type="arabicPeriod"/>
                      </a:pPr>
                      <a:endParaRPr lang="en-US" altLang="zh-TW" sz="2400" dirty="0"/>
                    </a:p>
                    <a:p>
                      <a:pPr marL="0" indent="0">
                        <a:buNone/>
                      </a:pPr>
                      <a:r>
                        <a:rPr lang="en-US" altLang="zh-TW" sz="2400" dirty="0"/>
                        <a:t>1. Did the study address a clearly formulated research question?</a:t>
                      </a:r>
                    </a:p>
                    <a:p>
                      <a:pPr marL="0" indent="0">
                        <a:buNone/>
                      </a:pPr>
                      <a:r>
                        <a:rPr lang="zh-TW" altLang="en-US" sz="2400" dirty="0"/>
                        <a:t>研究是否提出明確的研究問題？</a:t>
                      </a: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YES</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Can’t tell</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NO</a:t>
                      </a:r>
                      <a:endParaRPr lang="zh-TW" altLang="en-US" sz="2400"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493887565"/>
                  </a:ext>
                </a:extLst>
              </a:tr>
              <a:tr h="840249">
                <a:tc vMerge="1">
                  <a:txBody>
                    <a:bodyPr/>
                    <a:lstStyle/>
                    <a:p>
                      <a:endParaRPr lang="zh-TW" altLang="en-US" dirty="0"/>
                    </a:p>
                  </a:txBody>
                  <a:tcPr/>
                </a:tc>
                <a:tc>
                  <a:txBody>
                    <a:bodyPr/>
                    <a:lstStyle/>
                    <a:p>
                      <a:pPr algn="ctr"/>
                      <a:r>
                        <a:rPr lang="en-US" altLang="zh-TW" sz="2400" b="1" dirty="0"/>
                        <a:t>V</a:t>
                      </a:r>
                      <a:endParaRPr lang="zh-TW" altLang="en-US" sz="2400" b="1" dirty="0"/>
                    </a:p>
                  </a:txBody>
                  <a:tcPr anchor="ct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3333484914"/>
                  </a:ext>
                </a:extLst>
              </a:tr>
            </a:tbl>
          </a:graphicData>
        </a:graphic>
      </p:graphicFrame>
      <p:sp>
        <p:nvSpPr>
          <p:cNvPr id="18" name="內容版面配置區 17">
            <a:extLst>
              <a:ext uri="{FF2B5EF4-FFF2-40B4-BE49-F238E27FC236}">
                <a16:creationId xmlns:a16="http://schemas.microsoft.com/office/drawing/2014/main" id="{F0C323FA-2C95-E462-CAED-70FDFFA98AF1}"/>
              </a:ext>
            </a:extLst>
          </p:cNvPr>
          <p:cNvSpPr>
            <a:spLocks noGrp="1"/>
          </p:cNvSpPr>
          <p:nvPr>
            <p:ph idx="1"/>
          </p:nvPr>
        </p:nvSpPr>
        <p:spPr/>
        <p:txBody>
          <a:bodyPr/>
          <a:lstStyle/>
          <a:p>
            <a:endParaRPr lang="zh-TW" altLang="en-US" dirty="0"/>
          </a:p>
        </p:txBody>
      </p:sp>
      <p:pic>
        <p:nvPicPr>
          <p:cNvPr id="20" name="圖片 19">
            <a:extLst>
              <a:ext uri="{FF2B5EF4-FFF2-40B4-BE49-F238E27FC236}">
                <a16:creationId xmlns:a16="http://schemas.microsoft.com/office/drawing/2014/main" id="{A1572DA3-B336-3D7E-6826-FF2413047F25}"/>
              </a:ext>
            </a:extLst>
          </p:cNvPr>
          <p:cNvPicPr>
            <a:picLocks noChangeAspect="1"/>
          </p:cNvPicPr>
          <p:nvPr/>
        </p:nvPicPr>
        <p:blipFill>
          <a:blip r:embed="rId2"/>
          <a:stretch>
            <a:fillRect/>
          </a:stretch>
        </p:blipFill>
        <p:spPr>
          <a:xfrm>
            <a:off x="2300286" y="1899889"/>
            <a:ext cx="7472363" cy="4553113"/>
          </a:xfrm>
          <a:prstGeom prst="rect">
            <a:avLst/>
          </a:prstGeom>
        </p:spPr>
      </p:pic>
    </p:spTree>
    <p:extLst>
      <p:ext uri="{BB962C8B-B14F-4D97-AF65-F5344CB8AC3E}">
        <p14:creationId xmlns:p14="http://schemas.microsoft.com/office/powerpoint/2010/main" val="299479104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A0918-B988-E767-D029-63EDEF132E98}"/>
            </a:ext>
          </a:extLst>
        </p:cNvPr>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66B6D66F-9E7F-C284-A579-667DE2D13612}"/>
              </a:ext>
            </a:extLst>
          </p:cNvPr>
          <p:cNvSpPr>
            <a:spLocks noGrp="1"/>
          </p:cNvSpPr>
          <p:nvPr>
            <p:ph type="sldNum" sz="quarter" idx="12"/>
          </p:nvPr>
        </p:nvSpPr>
        <p:spPr>
          <a:xfrm>
            <a:off x="11632162" y="6453002"/>
            <a:ext cx="429207" cy="365125"/>
          </a:xfrm>
        </p:spPr>
        <p:txBody>
          <a:bodyPr vert="horz" lIns="91440" tIns="45720" rIns="91440" bIns="45720" rtlCol="0" anchor="ctr">
            <a:noAutofit/>
          </a:bodyPr>
          <a:lstStyle/>
          <a:p>
            <a:pPr>
              <a:spcAft>
                <a:spcPts val="600"/>
              </a:spcAft>
            </a:pPr>
            <a:fld id="{CC057153-B650-4DEB-B370-79DDCFDCE934}" type="slidenum">
              <a:rPr lang="en-US" sz="2400" smtClean="0"/>
              <a:pPr>
                <a:spcAft>
                  <a:spcPts val="600"/>
                </a:spcAft>
              </a:pPr>
              <a:t>11</a:t>
            </a:fld>
            <a:endParaRPr lang="en-US" sz="2400" dirty="0"/>
          </a:p>
        </p:txBody>
      </p:sp>
      <p:graphicFrame>
        <p:nvGraphicFramePr>
          <p:cNvPr id="9" name="表格 8">
            <a:extLst>
              <a:ext uri="{FF2B5EF4-FFF2-40B4-BE49-F238E27FC236}">
                <a16:creationId xmlns:a16="http://schemas.microsoft.com/office/drawing/2014/main" id="{3F84CA8E-B5E3-6AAB-8399-5BC1455A2032}"/>
              </a:ext>
            </a:extLst>
          </p:cNvPr>
          <p:cNvGraphicFramePr>
            <a:graphicFrameLocks noGrp="1"/>
          </p:cNvGraphicFramePr>
          <p:nvPr>
            <p:extLst>
              <p:ext uri="{D42A27DB-BD31-4B8C-83A1-F6EECF244321}">
                <p14:modId xmlns:p14="http://schemas.microsoft.com/office/powerpoint/2010/main" val="2275484468"/>
              </p:ext>
            </p:extLst>
          </p:nvPr>
        </p:nvGraphicFramePr>
        <p:xfrm>
          <a:off x="142876" y="39872"/>
          <a:ext cx="11918494" cy="1663209"/>
        </p:xfrm>
        <a:graphic>
          <a:graphicData uri="http://schemas.openxmlformats.org/drawingml/2006/table">
            <a:tbl>
              <a:tblPr firstRow="1" bandRow="1">
                <a:tableStyleId>{5C22544A-7EE6-4342-B048-85BDC9FD1C3A}</a:tableStyleId>
              </a:tblPr>
              <a:tblGrid>
                <a:gridCol w="6243243">
                  <a:extLst>
                    <a:ext uri="{9D8B030D-6E8A-4147-A177-3AD203B41FA5}">
                      <a16:colId xmlns:a16="http://schemas.microsoft.com/office/drawing/2014/main" val="1340665412"/>
                    </a:ext>
                  </a:extLst>
                </a:gridCol>
                <a:gridCol w="1871576">
                  <a:extLst>
                    <a:ext uri="{9D8B030D-6E8A-4147-A177-3AD203B41FA5}">
                      <a16:colId xmlns:a16="http://schemas.microsoft.com/office/drawing/2014/main" val="4247696271"/>
                    </a:ext>
                  </a:extLst>
                </a:gridCol>
                <a:gridCol w="1941410">
                  <a:extLst>
                    <a:ext uri="{9D8B030D-6E8A-4147-A177-3AD203B41FA5}">
                      <a16:colId xmlns:a16="http://schemas.microsoft.com/office/drawing/2014/main" val="209357475"/>
                    </a:ext>
                  </a:extLst>
                </a:gridCol>
                <a:gridCol w="1862265">
                  <a:extLst>
                    <a:ext uri="{9D8B030D-6E8A-4147-A177-3AD203B41FA5}">
                      <a16:colId xmlns:a16="http://schemas.microsoft.com/office/drawing/2014/main" val="137647530"/>
                    </a:ext>
                  </a:extLst>
                </a:gridCol>
              </a:tblGrid>
              <a:tr h="661504">
                <a:tc rowSpan="2">
                  <a:txBody>
                    <a:bodyPr/>
                    <a:lstStyle/>
                    <a:p>
                      <a:pPr marL="0" indent="0">
                        <a:buNone/>
                      </a:pPr>
                      <a:endParaRPr lang="en-US" altLang="zh-TW" sz="2400" dirty="0"/>
                    </a:p>
                    <a:p>
                      <a:pPr marL="0" indent="0">
                        <a:buNone/>
                      </a:pPr>
                      <a:r>
                        <a:rPr lang="en-US" altLang="zh-TW" sz="2400" dirty="0"/>
                        <a:t>2. Was the assignment of participants to interventions </a:t>
                      </a:r>
                      <a:r>
                        <a:rPr lang="en-US" altLang="zh-TW" sz="2400" dirty="0" err="1"/>
                        <a:t>randomised</a:t>
                      </a:r>
                      <a:r>
                        <a:rPr lang="en-US" altLang="zh-TW" sz="24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2400" dirty="0"/>
                        <a:t>受試者是否被隨機分派到不同組別？</a:t>
                      </a: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YES</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Can’t tell</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NO</a:t>
                      </a:r>
                      <a:endParaRPr lang="zh-TW" altLang="en-US" sz="2400"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493887565"/>
                  </a:ext>
                </a:extLst>
              </a:tr>
              <a:tr h="840249">
                <a:tc vMerge="1">
                  <a:txBody>
                    <a:bodyPr/>
                    <a:lstStyle/>
                    <a:p>
                      <a:endParaRPr lang="zh-TW" altLang="en-US" dirty="0"/>
                    </a:p>
                  </a:txBody>
                  <a:tcPr/>
                </a:tc>
                <a:tc>
                  <a:txBody>
                    <a:bodyPr/>
                    <a:lstStyle/>
                    <a:p>
                      <a:pPr algn="ctr"/>
                      <a:r>
                        <a:rPr lang="en-US" altLang="zh-TW" sz="2400" b="1" dirty="0"/>
                        <a:t>V</a:t>
                      </a:r>
                      <a:endParaRPr lang="zh-TW" altLang="en-US" sz="2400" b="1" dirty="0"/>
                    </a:p>
                  </a:txBody>
                  <a:tcPr anchor="ct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3333484914"/>
                  </a:ext>
                </a:extLst>
              </a:tr>
            </a:tbl>
          </a:graphicData>
        </a:graphic>
      </p:graphicFrame>
      <p:pic>
        <p:nvPicPr>
          <p:cNvPr id="3" name="內容版面配置區 2">
            <a:extLst>
              <a:ext uri="{FF2B5EF4-FFF2-40B4-BE49-F238E27FC236}">
                <a16:creationId xmlns:a16="http://schemas.microsoft.com/office/drawing/2014/main" id="{C046BD8E-999C-46D2-1940-6DCF6284E2E6}"/>
              </a:ext>
            </a:extLst>
          </p:cNvPr>
          <p:cNvPicPr>
            <a:picLocks noGrp="1" noChangeAspect="1"/>
          </p:cNvPicPr>
          <p:nvPr>
            <p:ph idx="1"/>
          </p:nvPr>
        </p:nvPicPr>
        <p:blipFill>
          <a:blip r:embed="rId2"/>
          <a:stretch>
            <a:fillRect/>
          </a:stretch>
        </p:blipFill>
        <p:spPr>
          <a:xfrm>
            <a:off x="445207" y="2124792"/>
            <a:ext cx="6327067" cy="4358057"/>
          </a:xfrm>
        </p:spPr>
      </p:pic>
      <p:sp>
        <p:nvSpPr>
          <p:cNvPr id="12" name="文字方塊 11">
            <a:extLst>
              <a:ext uri="{FF2B5EF4-FFF2-40B4-BE49-F238E27FC236}">
                <a16:creationId xmlns:a16="http://schemas.microsoft.com/office/drawing/2014/main" id="{07FC4379-C0C8-23CB-3C3A-E726BD3886C7}"/>
              </a:ext>
            </a:extLst>
          </p:cNvPr>
          <p:cNvSpPr txBox="1"/>
          <p:nvPr/>
        </p:nvSpPr>
        <p:spPr>
          <a:xfrm>
            <a:off x="6900863" y="2328863"/>
            <a:ext cx="4731299" cy="1384995"/>
          </a:xfrm>
          <a:prstGeom prst="rect">
            <a:avLst/>
          </a:prstGeom>
          <a:noFill/>
        </p:spPr>
        <p:txBody>
          <a:bodyPr wrap="square" rtlCol="0">
            <a:spAutoFit/>
          </a:bodyPr>
          <a:lstStyle/>
          <a:p>
            <a:pPr marL="457200" indent="-457200">
              <a:buFont typeface="Arial" panose="020B0604020202020204" pitchFamily="34" charset="0"/>
              <a:buChar char="•"/>
            </a:pPr>
            <a:r>
              <a:rPr lang="zh-TW" altLang="en-US" sz="2800" dirty="0">
                <a:solidFill>
                  <a:srgbClr val="0070C0"/>
                </a:solidFill>
                <a:latin typeface="Microsoft YaHei" panose="020B0503020204020204" pitchFamily="34" charset="-122"/>
                <a:ea typeface="Microsoft YaHei" panose="020B0503020204020204" pitchFamily="34" charset="-122"/>
              </a:rPr>
              <a:t>透過電腦將</a:t>
            </a:r>
            <a:r>
              <a:rPr lang="en-US" altLang="zh-TW" sz="2800" dirty="0">
                <a:solidFill>
                  <a:srgbClr val="0070C0"/>
                </a:solidFill>
                <a:latin typeface="Microsoft YaHei" panose="020B0503020204020204" pitchFamily="34" charset="-122"/>
                <a:ea typeface="Microsoft YaHei" panose="020B0503020204020204" pitchFamily="34" charset="-122"/>
              </a:rPr>
              <a:t>150</a:t>
            </a:r>
            <a:r>
              <a:rPr lang="zh-TW" altLang="en-US" sz="2800" dirty="0">
                <a:solidFill>
                  <a:srgbClr val="0070C0"/>
                </a:solidFill>
                <a:latin typeface="Microsoft YaHei" panose="020B0503020204020204" pitchFamily="34" charset="-122"/>
                <a:ea typeface="Microsoft YaHei" panose="020B0503020204020204" pitchFamily="34" charset="-122"/>
              </a:rPr>
              <a:t>名受試者隨機分配到無音樂組、快節奏組、慢節奏組。</a:t>
            </a:r>
          </a:p>
        </p:txBody>
      </p:sp>
    </p:spTree>
    <p:extLst>
      <p:ext uri="{BB962C8B-B14F-4D97-AF65-F5344CB8AC3E}">
        <p14:creationId xmlns:p14="http://schemas.microsoft.com/office/powerpoint/2010/main" val="19643171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0579F-93F6-CA66-C117-976238135050}"/>
            </a:ext>
          </a:extLst>
        </p:cNvPr>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72795537-C0A9-B205-0D53-EFD55085045A}"/>
              </a:ext>
            </a:extLst>
          </p:cNvPr>
          <p:cNvSpPr>
            <a:spLocks noGrp="1"/>
          </p:cNvSpPr>
          <p:nvPr>
            <p:ph type="sldNum" sz="quarter" idx="12"/>
          </p:nvPr>
        </p:nvSpPr>
        <p:spPr>
          <a:xfrm>
            <a:off x="11472864" y="6429376"/>
            <a:ext cx="588506" cy="388752"/>
          </a:xfrm>
        </p:spPr>
        <p:txBody>
          <a:bodyPr vert="horz" lIns="91440" tIns="45720" rIns="91440" bIns="45720" rtlCol="0" anchor="ctr">
            <a:noAutofit/>
          </a:bodyPr>
          <a:lstStyle/>
          <a:p>
            <a:pPr>
              <a:spcAft>
                <a:spcPts val="600"/>
              </a:spcAft>
            </a:pPr>
            <a:fld id="{CC057153-B650-4DEB-B370-79DDCFDCE934}" type="slidenum">
              <a:rPr lang="en-US" sz="2400" smtClean="0"/>
              <a:pPr>
                <a:spcAft>
                  <a:spcPts val="600"/>
                </a:spcAft>
              </a:pPr>
              <a:t>12</a:t>
            </a:fld>
            <a:endParaRPr lang="en-US" sz="2400" dirty="0"/>
          </a:p>
        </p:txBody>
      </p:sp>
      <p:graphicFrame>
        <p:nvGraphicFramePr>
          <p:cNvPr id="9" name="表格 8">
            <a:extLst>
              <a:ext uri="{FF2B5EF4-FFF2-40B4-BE49-F238E27FC236}">
                <a16:creationId xmlns:a16="http://schemas.microsoft.com/office/drawing/2014/main" id="{3ADC80E8-0B9B-6194-FE8F-CA3A9D70D7AF}"/>
              </a:ext>
            </a:extLst>
          </p:cNvPr>
          <p:cNvGraphicFramePr>
            <a:graphicFrameLocks noGrp="1"/>
          </p:cNvGraphicFramePr>
          <p:nvPr>
            <p:extLst>
              <p:ext uri="{D42A27DB-BD31-4B8C-83A1-F6EECF244321}">
                <p14:modId xmlns:p14="http://schemas.microsoft.com/office/powerpoint/2010/main" val="2358089278"/>
              </p:ext>
            </p:extLst>
          </p:nvPr>
        </p:nvGraphicFramePr>
        <p:xfrm>
          <a:off x="142875" y="39872"/>
          <a:ext cx="11918493" cy="1920240"/>
        </p:xfrm>
        <a:graphic>
          <a:graphicData uri="http://schemas.openxmlformats.org/drawingml/2006/table">
            <a:tbl>
              <a:tblPr firstRow="1" bandRow="1">
                <a:tableStyleId>{5C22544A-7EE6-4342-B048-85BDC9FD1C3A}</a:tableStyleId>
              </a:tblPr>
              <a:tblGrid>
                <a:gridCol w="6243243">
                  <a:extLst>
                    <a:ext uri="{9D8B030D-6E8A-4147-A177-3AD203B41FA5}">
                      <a16:colId xmlns:a16="http://schemas.microsoft.com/office/drawing/2014/main" val="1340665412"/>
                    </a:ext>
                  </a:extLst>
                </a:gridCol>
                <a:gridCol w="1871576">
                  <a:extLst>
                    <a:ext uri="{9D8B030D-6E8A-4147-A177-3AD203B41FA5}">
                      <a16:colId xmlns:a16="http://schemas.microsoft.com/office/drawing/2014/main" val="4247696271"/>
                    </a:ext>
                  </a:extLst>
                </a:gridCol>
                <a:gridCol w="1941410">
                  <a:extLst>
                    <a:ext uri="{9D8B030D-6E8A-4147-A177-3AD203B41FA5}">
                      <a16:colId xmlns:a16="http://schemas.microsoft.com/office/drawing/2014/main" val="209357475"/>
                    </a:ext>
                  </a:extLst>
                </a:gridCol>
                <a:gridCol w="1862264">
                  <a:extLst>
                    <a:ext uri="{9D8B030D-6E8A-4147-A177-3AD203B41FA5}">
                      <a16:colId xmlns:a16="http://schemas.microsoft.com/office/drawing/2014/main" val="137647530"/>
                    </a:ext>
                  </a:extLst>
                </a:gridCol>
              </a:tblGrid>
              <a:tr h="661504">
                <a:tc rowSpan="2">
                  <a:txBody>
                    <a:bodyPr/>
                    <a:lstStyle/>
                    <a:p>
                      <a:pPr marL="0" indent="0">
                        <a:buNone/>
                      </a:pPr>
                      <a:endParaRPr lang="en-US" altLang="zh-TW" sz="2400" dirty="0"/>
                    </a:p>
                    <a:p>
                      <a:pPr marL="0" indent="0">
                        <a:buNone/>
                      </a:pPr>
                      <a:r>
                        <a:rPr lang="en-US" altLang="zh-TW" sz="2400" dirty="0"/>
                        <a:t>3. Were all participants who entered the study accounted for at its conclusion?</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2400" dirty="0"/>
                        <a:t>是否所有進入試驗的受試者在研究結論當中均被適當的考量過？</a:t>
                      </a: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YES</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Can’t tell</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NO</a:t>
                      </a:r>
                      <a:endParaRPr lang="zh-TW" altLang="en-US" sz="2400"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493887565"/>
                  </a:ext>
                </a:extLst>
              </a:tr>
              <a:tr h="840249">
                <a:tc vMerge="1">
                  <a:txBody>
                    <a:bodyPr/>
                    <a:lstStyle/>
                    <a:p>
                      <a:endParaRPr lang="zh-TW" altLang="en-US" dirty="0"/>
                    </a:p>
                  </a:txBody>
                  <a:tcPr/>
                </a:tc>
                <a:tc>
                  <a:txBody>
                    <a:bodyPr/>
                    <a:lstStyle/>
                    <a:p>
                      <a:pPr algn="ctr"/>
                      <a:r>
                        <a:rPr lang="en-US" altLang="zh-TW" sz="2400" b="1" dirty="0"/>
                        <a:t>V</a:t>
                      </a:r>
                      <a:endParaRPr lang="zh-TW" altLang="en-US" sz="2400" b="1" dirty="0"/>
                    </a:p>
                  </a:txBody>
                  <a:tcPr anchor="ct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3333484914"/>
                  </a:ext>
                </a:extLst>
              </a:tr>
            </a:tbl>
          </a:graphicData>
        </a:graphic>
      </p:graphicFrame>
      <p:sp>
        <p:nvSpPr>
          <p:cNvPr id="12" name="文字方塊 11">
            <a:extLst>
              <a:ext uri="{FF2B5EF4-FFF2-40B4-BE49-F238E27FC236}">
                <a16:creationId xmlns:a16="http://schemas.microsoft.com/office/drawing/2014/main" id="{D11CC9D0-08D3-796C-51D8-FB3FD5BE2CBD}"/>
              </a:ext>
            </a:extLst>
          </p:cNvPr>
          <p:cNvSpPr txBox="1"/>
          <p:nvPr/>
        </p:nvSpPr>
        <p:spPr>
          <a:xfrm>
            <a:off x="6498431" y="2474893"/>
            <a:ext cx="4731299" cy="954107"/>
          </a:xfrm>
          <a:prstGeom prst="rect">
            <a:avLst/>
          </a:prstGeom>
          <a:noFill/>
        </p:spPr>
        <p:txBody>
          <a:bodyPr wrap="square" rtlCol="0">
            <a:spAutoFit/>
          </a:bodyPr>
          <a:lstStyle/>
          <a:p>
            <a:pPr marL="457200" indent="-457200">
              <a:buFont typeface="Arial" panose="020B0604020202020204" pitchFamily="34" charset="0"/>
              <a:buChar char="•"/>
            </a:pPr>
            <a:r>
              <a:rPr lang="zh-TW" altLang="en-US" sz="2800" dirty="0">
                <a:solidFill>
                  <a:srgbClr val="0070C0"/>
                </a:solidFill>
                <a:latin typeface="Microsoft YaHei" panose="020B0503020204020204" pitchFamily="34" charset="-122"/>
                <a:ea typeface="Microsoft YaHei" panose="020B0503020204020204" pitchFamily="34" charset="-122"/>
              </a:rPr>
              <a:t>所有受試者皆完成研究，並全部進行統計分析。</a:t>
            </a:r>
          </a:p>
        </p:txBody>
      </p:sp>
      <p:pic>
        <p:nvPicPr>
          <p:cNvPr id="7" name="內容版面配置區 6">
            <a:extLst>
              <a:ext uri="{FF2B5EF4-FFF2-40B4-BE49-F238E27FC236}">
                <a16:creationId xmlns:a16="http://schemas.microsoft.com/office/drawing/2014/main" id="{C24E2001-E8D6-40C5-8AB7-2BCC2F9A6B8B}"/>
              </a:ext>
            </a:extLst>
          </p:cNvPr>
          <p:cNvPicPr>
            <a:picLocks noGrp="1" noChangeAspect="1"/>
          </p:cNvPicPr>
          <p:nvPr>
            <p:ph idx="1"/>
          </p:nvPr>
        </p:nvPicPr>
        <p:blipFill>
          <a:blip r:embed="rId2"/>
          <a:stretch>
            <a:fillRect/>
          </a:stretch>
        </p:blipFill>
        <p:spPr>
          <a:xfrm>
            <a:off x="561903" y="2157413"/>
            <a:ext cx="5534097" cy="4478151"/>
          </a:xfrm>
        </p:spPr>
      </p:pic>
    </p:spTree>
    <p:extLst>
      <p:ext uri="{BB962C8B-B14F-4D97-AF65-F5344CB8AC3E}">
        <p14:creationId xmlns:p14="http://schemas.microsoft.com/office/powerpoint/2010/main" val="55372637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97ADC-D1B7-1D24-E677-76BAAB879D38}"/>
            </a:ext>
          </a:extLst>
        </p:cNvPr>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AD7A2FA2-8CBD-4AAE-970F-979EFC025D91}"/>
              </a:ext>
            </a:extLst>
          </p:cNvPr>
          <p:cNvSpPr>
            <a:spLocks noGrp="1"/>
          </p:cNvSpPr>
          <p:nvPr>
            <p:ph type="sldNum" sz="quarter" idx="12"/>
          </p:nvPr>
        </p:nvSpPr>
        <p:spPr>
          <a:xfrm>
            <a:off x="11458224" y="6453002"/>
            <a:ext cx="603146" cy="365126"/>
          </a:xfrm>
        </p:spPr>
        <p:txBody>
          <a:bodyPr vert="horz" lIns="91440" tIns="45720" rIns="91440" bIns="45720" rtlCol="0" anchor="ctr">
            <a:noAutofit/>
          </a:bodyPr>
          <a:lstStyle/>
          <a:p>
            <a:pPr>
              <a:spcAft>
                <a:spcPts val="600"/>
              </a:spcAft>
            </a:pPr>
            <a:fld id="{CC057153-B650-4DEB-B370-79DDCFDCE934}" type="slidenum">
              <a:rPr lang="en-US" sz="2400" smtClean="0"/>
              <a:pPr>
                <a:spcAft>
                  <a:spcPts val="600"/>
                </a:spcAft>
              </a:pPr>
              <a:t>13</a:t>
            </a:fld>
            <a:endParaRPr lang="en-US" sz="2400" dirty="0"/>
          </a:p>
        </p:txBody>
      </p:sp>
      <p:graphicFrame>
        <p:nvGraphicFramePr>
          <p:cNvPr id="9" name="表格 8">
            <a:extLst>
              <a:ext uri="{FF2B5EF4-FFF2-40B4-BE49-F238E27FC236}">
                <a16:creationId xmlns:a16="http://schemas.microsoft.com/office/drawing/2014/main" id="{1656942B-4046-278E-5F70-A94FC16E8291}"/>
              </a:ext>
            </a:extLst>
          </p:cNvPr>
          <p:cNvGraphicFramePr>
            <a:graphicFrameLocks noGrp="1"/>
          </p:cNvGraphicFramePr>
          <p:nvPr>
            <p:extLst>
              <p:ext uri="{D42A27DB-BD31-4B8C-83A1-F6EECF244321}">
                <p14:modId xmlns:p14="http://schemas.microsoft.com/office/powerpoint/2010/main" val="2348386076"/>
              </p:ext>
            </p:extLst>
          </p:nvPr>
        </p:nvGraphicFramePr>
        <p:xfrm>
          <a:off x="142875" y="39872"/>
          <a:ext cx="11918493" cy="1920240"/>
        </p:xfrm>
        <a:graphic>
          <a:graphicData uri="http://schemas.openxmlformats.org/drawingml/2006/table">
            <a:tbl>
              <a:tblPr firstRow="1" bandRow="1">
                <a:tableStyleId>{5C22544A-7EE6-4342-B048-85BDC9FD1C3A}</a:tableStyleId>
              </a:tblPr>
              <a:tblGrid>
                <a:gridCol w="6243243">
                  <a:extLst>
                    <a:ext uri="{9D8B030D-6E8A-4147-A177-3AD203B41FA5}">
                      <a16:colId xmlns:a16="http://schemas.microsoft.com/office/drawing/2014/main" val="1340665412"/>
                    </a:ext>
                  </a:extLst>
                </a:gridCol>
                <a:gridCol w="1871576">
                  <a:extLst>
                    <a:ext uri="{9D8B030D-6E8A-4147-A177-3AD203B41FA5}">
                      <a16:colId xmlns:a16="http://schemas.microsoft.com/office/drawing/2014/main" val="4247696271"/>
                    </a:ext>
                  </a:extLst>
                </a:gridCol>
                <a:gridCol w="1941410">
                  <a:extLst>
                    <a:ext uri="{9D8B030D-6E8A-4147-A177-3AD203B41FA5}">
                      <a16:colId xmlns:a16="http://schemas.microsoft.com/office/drawing/2014/main" val="209357475"/>
                    </a:ext>
                  </a:extLst>
                </a:gridCol>
                <a:gridCol w="1862264">
                  <a:extLst>
                    <a:ext uri="{9D8B030D-6E8A-4147-A177-3AD203B41FA5}">
                      <a16:colId xmlns:a16="http://schemas.microsoft.com/office/drawing/2014/main" val="137647530"/>
                    </a:ext>
                  </a:extLst>
                </a:gridCol>
              </a:tblGrid>
              <a:tr h="661504">
                <a:tc rowSpan="2">
                  <a:txBody>
                    <a:bodyPr/>
                    <a:lstStyle/>
                    <a:p>
                      <a:pPr marL="0" indent="0">
                        <a:buNone/>
                      </a:pPr>
                      <a:r>
                        <a:rPr lang="en-US" altLang="zh-TW" sz="2400" dirty="0"/>
                        <a:t>4. Were the participants/investigators</a:t>
                      </a:r>
                    </a:p>
                    <a:p>
                      <a:pPr marL="0" indent="0">
                        <a:buNone/>
                      </a:pPr>
                      <a:r>
                        <a:rPr lang="en-US" altLang="zh-TW" sz="2400" dirty="0"/>
                        <a:t>/ people assessing/</a:t>
                      </a:r>
                      <a:r>
                        <a:rPr lang="en-US" altLang="zh-TW" sz="2400" dirty="0" err="1"/>
                        <a:t>analysing</a:t>
                      </a:r>
                      <a:r>
                        <a:rPr lang="en-US" altLang="zh-TW" sz="2400" dirty="0"/>
                        <a:t> outcome</a:t>
                      </a:r>
                    </a:p>
                    <a:p>
                      <a:pPr marL="0" indent="0">
                        <a:buNone/>
                      </a:pPr>
                      <a:r>
                        <a:rPr lang="en-US" altLang="zh-TW" sz="2400" dirty="0"/>
                        <a:t> ‘blind’ to intervention they were given?</a:t>
                      </a:r>
                    </a:p>
                    <a:p>
                      <a:pPr marL="0" indent="0">
                        <a:buNone/>
                      </a:pPr>
                      <a:r>
                        <a:rPr lang="zh-TW" altLang="en-US" sz="2400" dirty="0"/>
                        <a:t>受試者、研究人員、評估或資料分析人員是否盲化</a:t>
                      </a:r>
                      <a:r>
                        <a:rPr lang="en-US" altLang="zh-TW" sz="2400" dirty="0"/>
                        <a:t>?</a:t>
                      </a:r>
                      <a:endParaRPr lang="zh-TW" altLang="en-US" sz="2400" dirty="0"/>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YES</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Can’t tell</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NO</a:t>
                      </a:r>
                      <a:endParaRPr lang="zh-TW" altLang="en-US" sz="2400"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493887565"/>
                  </a:ext>
                </a:extLst>
              </a:tr>
              <a:tr h="840249">
                <a:tc vMerge="1">
                  <a:txBody>
                    <a:bodyPr/>
                    <a:lstStyle/>
                    <a:p>
                      <a:endParaRPr lang="zh-TW" altLang="en-US" dirty="0"/>
                    </a:p>
                  </a:txBody>
                  <a:tcPr/>
                </a:tc>
                <a:tc>
                  <a:txBody>
                    <a:bodyPr/>
                    <a:lstStyle/>
                    <a:p>
                      <a:pPr algn="ctr"/>
                      <a:endParaRPr lang="zh-TW" altLang="en-US" sz="2400" b="1" dirty="0"/>
                    </a:p>
                  </a:txBody>
                  <a:tcPr anchor="ctr"/>
                </a:tc>
                <a:tc>
                  <a:txBody>
                    <a:bodyPr/>
                    <a:lstStyle/>
                    <a:p>
                      <a:endParaRPr lang="zh-TW" altLang="en-US" dirty="0"/>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2400" b="1" dirty="0"/>
                        <a:t>V</a:t>
                      </a:r>
                      <a:endParaRPr lang="zh-TW" altLang="en-US" sz="2400" b="1" dirty="0"/>
                    </a:p>
                    <a:p>
                      <a:endParaRPr lang="zh-TW" altLang="en-US" dirty="0"/>
                    </a:p>
                  </a:txBody>
                  <a:tcPr anchor="ctr"/>
                </a:tc>
                <a:extLst>
                  <a:ext uri="{0D108BD9-81ED-4DB2-BD59-A6C34878D82A}">
                    <a16:rowId xmlns:a16="http://schemas.microsoft.com/office/drawing/2014/main" val="3333484914"/>
                  </a:ext>
                </a:extLst>
              </a:tr>
            </a:tbl>
          </a:graphicData>
        </a:graphic>
      </p:graphicFrame>
      <p:sp>
        <p:nvSpPr>
          <p:cNvPr id="12" name="文字方塊 11">
            <a:extLst>
              <a:ext uri="{FF2B5EF4-FFF2-40B4-BE49-F238E27FC236}">
                <a16:creationId xmlns:a16="http://schemas.microsoft.com/office/drawing/2014/main" id="{6D7C8C07-BB83-2384-B986-61760544CF3D}"/>
              </a:ext>
            </a:extLst>
          </p:cNvPr>
          <p:cNvSpPr txBox="1"/>
          <p:nvPr/>
        </p:nvSpPr>
        <p:spPr>
          <a:xfrm>
            <a:off x="6498431" y="2474893"/>
            <a:ext cx="4959792" cy="954107"/>
          </a:xfrm>
          <a:prstGeom prst="rect">
            <a:avLst/>
          </a:prstGeom>
          <a:noFill/>
        </p:spPr>
        <p:txBody>
          <a:bodyPr wrap="square" rtlCol="0">
            <a:spAutoFit/>
          </a:bodyPr>
          <a:lstStyle/>
          <a:p>
            <a:pPr marL="457200" indent="-457200">
              <a:buFont typeface="Arial" panose="020B0604020202020204" pitchFamily="34" charset="0"/>
              <a:buChar char="•"/>
            </a:pPr>
            <a:r>
              <a:rPr lang="zh-TW" altLang="en-US" sz="2800" dirty="0">
                <a:solidFill>
                  <a:srgbClr val="0070C0"/>
                </a:solidFill>
                <a:latin typeface="Microsoft YaHei" panose="020B0503020204020204" pitchFamily="34" charset="-122"/>
                <a:ea typeface="Microsoft YaHei" panose="020B0503020204020204" pitchFamily="34" charset="-122"/>
              </a:rPr>
              <a:t>結果評估者及受試者皆未被盲化。</a:t>
            </a:r>
          </a:p>
        </p:txBody>
      </p:sp>
      <p:pic>
        <p:nvPicPr>
          <p:cNvPr id="6" name="內容版面配置區 5">
            <a:extLst>
              <a:ext uri="{FF2B5EF4-FFF2-40B4-BE49-F238E27FC236}">
                <a16:creationId xmlns:a16="http://schemas.microsoft.com/office/drawing/2014/main" id="{2A3991C6-2350-D2C9-EC60-6310B9E015AE}"/>
              </a:ext>
            </a:extLst>
          </p:cNvPr>
          <p:cNvPicPr>
            <a:picLocks noGrp="1" noChangeAspect="1"/>
          </p:cNvPicPr>
          <p:nvPr>
            <p:ph idx="1"/>
          </p:nvPr>
        </p:nvPicPr>
        <p:blipFill>
          <a:blip r:embed="rId2"/>
          <a:stretch>
            <a:fillRect/>
          </a:stretch>
        </p:blipFill>
        <p:spPr>
          <a:xfrm>
            <a:off x="733777" y="2260618"/>
            <a:ext cx="4627542" cy="4192383"/>
          </a:xfrm>
        </p:spPr>
      </p:pic>
    </p:spTree>
    <p:extLst>
      <p:ext uri="{BB962C8B-B14F-4D97-AF65-F5344CB8AC3E}">
        <p14:creationId xmlns:p14="http://schemas.microsoft.com/office/powerpoint/2010/main" val="170577427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FBCE9-FA40-0624-4DE5-562A40128343}"/>
            </a:ext>
          </a:extLst>
        </p:cNvPr>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B12DF450-538E-C8C5-8F07-8195DECC73DD}"/>
              </a:ext>
            </a:extLst>
          </p:cNvPr>
          <p:cNvSpPr>
            <a:spLocks noGrp="1"/>
          </p:cNvSpPr>
          <p:nvPr>
            <p:ph type="sldNum" sz="quarter" idx="12"/>
          </p:nvPr>
        </p:nvSpPr>
        <p:spPr>
          <a:xfrm>
            <a:off x="11530014" y="6457950"/>
            <a:ext cx="531356" cy="360177"/>
          </a:xfrm>
        </p:spPr>
        <p:txBody>
          <a:bodyPr vert="horz" lIns="91440" tIns="45720" rIns="91440" bIns="45720" rtlCol="0" anchor="ctr">
            <a:noAutofit/>
          </a:bodyPr>
          <a:lstStyle/>
          <a:p>
            <a:pPr>
              <a:spcAft>
                <a:spcPts val="600"/>
              </a:spcAft>
            </a:pPr>
            <a:fld id="{CC057153-B650-4DEB-B370-79DDCFDCE934}" type="slidenum">
              <a:rPr lang="en-US" sz="2400" smtClean="0"/>
              <a:pPr>
                <a:spcAft>
                  <a:spcPts val="600"/>
                </a:spcAft>
              </a:pPr>
              <a:t>14</a:t>
            </a:fld>
            <a:endParaRPr lang="en-US" sz="2400" dirty="0"/>
          </a:p>
        </p:txBody>
      </p:sp>
      <p:graphicFrame>
        <p:nvGraphicFramePr>
          <p:cNvPr id="9" name="表格 8">
            <a:extLst>
              <a:ext uri="{FF2B5EF4-FFF2-40B4-BE49-F238E27FC236}">
                <a16:creationId xmlns:a16="http://schemas.microsoft.com/office/drawing/2014/main" id="{9740A362-3906-A015-8FB9-0ED8A7AFDE48}"/>
              </a:ext>
            </a:extLst>
          </p:cNvPr>
          <p:cNvGraphicFramePr>
            <a:graphicFrameLocks noGrp="1"/>
          </p:cNvGraphicFramePr>
          <p:nvPr>
            <p:extLst>
              <p:ext uri="{D42A27DB-BD31-4B8C-83A1-F6EECF244321}">
                <p14:modId xmlns:p14="http://schemas.microsoft.com/office/powerpoint/2010/main" val="2766531892"/>
              </p:ext>
            </p:extLst>
          </p:nvPr>
        </p:nvGraphicFramePr>
        <p:xfrm>
          <a:off x="136753" y="39873"/>
          <a:ext cx="11918493" cy="1592828"/>
        </p:xfrm>
        <a:graphic>
          <a:graphicData uri="http://schemas.openxmlformats.org/drawingml/2006/table">
            <a:tbl>
              <a:tblPr firstRow="1" bandRow="1">
                <a:tableStyleId>{5C22544A-7EE6-4342-B048-85BDC9FD1C3A}</a:tableStyleId>
              </a:tblPr>
              <a:tblGrid>
                <a:gridCol w="6243243">
                  <a:extLst>
                    <a:ext uri="{9D8B030D-6E8A-4147-A177-3AD203B41FA5}">
                      <a16:colId xmlns:a16="http://schemas.microsoft.com/office/drawing/2014/main" val="1340665412"/>
                    </a:ext>
                  </a:extLst>
                </a:gridCol>
                <a:gridCol w="1871576">
                  <a:extLst>
                    <a:ext uri="{9D8B030D-6E8A-4147-A177-3AD203B41FA5}">
                      <a16:colId xmlns:a16="http://schemas.microsoft.com/office/drawing/2014/main" val="4247696271"/>
                    </a:ext>
                  </a:extLst>
                </a:gridCol>
                <a:gridCol w="1941410">
                  <a:extLst>
                    <a:ext uri="{9D8B030D-6E8A-4147-A177-3AD203B41FA5}">
                      <a16:colId xmlns:a16="http://schemas.microsoft.com/office/drawing/2014/main" val="209357475"/>
                    </a:ext>
                  </a:extLst>
                </a:gridCol>
                <a:gridCol w="1862264">
                  <a:extLst>
                    <a:ext uri="{9D8B030D-6E8A-4147-A177-3AD203B41FA5}">
                      <a16:colId xmlns:a16="http://schemas.microsoft.com/office/drawing/2014/main" val="137647530"/>
                    </a:ext>
                  </a:extLst>
                </a:gridCol>
              </a:tblGrid>
              <a:tr h="811237">
                <a:tc rowSpan="2">
                  <a:txBody>
                    <a:bodyPr/>
                    <a:lstStyle/>
                    <a:p>
                      <a:pPr marL="0" indent="0">
                        <a:buNone/>
                      </a:pPr>
                      <a:r>
                        <a:rPr lang="en-US" altLang="zh-TW" sz="2400" dirty="0"/>
                        <a:t>5. Were the study groups similar at the start of the </a:t>
                      </a:r>
                      <a:r>
                        <a:rPr lang="en-US" altLang="zh-TW" sz="2400" dirty="0" err="1"/>
                        <a:t>randomised</a:t>
                      </a:r>
                      <a:r>
                        <a:rPr lang="en-US" altLang="zh-TW" sz="2400" dirty="0"/>
                        <a:t> controlled trial?</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2400" dirty="0"/>
                        <a:t>各組研究對象在一開始進入試驗時的基本特性是否相似？</a:t>
                      </a: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YES</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Can’t tell</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NO</a:t>
                      </a:r>
                      <a:endParaRPr lang="zh-TW" altLang="en-US" sz="2400"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493887565"/>
                  </a:ext>
                </a:extLst>
              </a:tr>
              <a:tr h="769868">
                <a:tc vMerge="1">
                  <a:txBody>
                    <a:bodyPr/>
                    <a:lstStyle/>
                    <a:p>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b="1" dirty="0"/>
                        <a:t>V</a:t>
                      </a:r>
                      <a:endParaRPr lang="zh-TW" altLang="en-US" sz="2400" b="1" dirty="0"/>
                    </a:p>
                  </a:txBody>
                  <a:tcPr anchor="ctr"/>
                </a:tc>
                <a:tc>
                  <a:txBody>
                    <a:bodyPr/>
                    <a:lstStyle/>
                    <a:p>
                      <a:endParaRPr lang="zh-TW" altLang="en-US" dirty="0"/>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TW" altLang="en-US" sz="2400" b="1" dirty="0"/>
                    </a:p>
                    <a:p>
                      <a:endParaRPr lang="zh-TW" altLang="en-US" dirty="0"/>
                    </a:p>
                  </a:txBody>
                  <a:tcPr anchor="ctr"/>
                </a:tc>
                <a:extLst>
                  <a:ext uri="{0D108BD9-81ED-4DB2-BD59-A6C34878D82A}">
                    <a16:rowId xmlns:a16="http://schemas.microsoft.com/office/drawing/2014/main" val="3333484914"/>
                  </a:ext>
                </a:extLst>
              </a:tr>
            </a:tbl>
          </a:graphicData>
        </a:graphic>
      </p:graphicFrame>
      <p:sp>
        <p:nvSpPr>
          <p:cNvPr id="12" name="文字方塊 11">
            <a:extLst>
              <a:ext uri="{FF2B5EF4-FFF2-40B4-BE49-F238E27FC236}">
                <a16:creationId xmlns:a16="http://schemas.microsoft.com/office/drawing/2014/main" id="{6F41B7F1-552E-ACA0-78A5-343CE3AC91D3}"/>
              </a:ext>
            </a:extLst>
          </p:cNvPr>
          <p:cNvSpPr txBox="1"/>
          <p:nvPr/>
        </p:nvSpPr>
        <p:spPr>
          <a:xfrm>
            <a:off x="3583648" y="5903893"/>
            <a:ext cx="8263117" cy="954107"/>
          </a:xfrm>
          <a:prstGeom prst="rect">
            <a:avLst/>
          </a:prstGeom>
          <a:noFill/>
        </p:spPr>
        <p:txBody>
          <a:bodyPr wrap="square" rtlCol="0">
            <a:spAutoFit/>
          </a:bodyPr>
          <a:lstStyle/>
          <a:p>
            <a:pPr marL="457200" indent="-457200">
              <a:buFont typeface="Arial" panose="020B0604020202020204" pitchFamily="34" charset="0"/>
              <a:buChar char="•"/>
            </a:pPr>
            <a:r>
              <a:rPr lang="zh-TW" altLang="en-US" sz="2800" dirty="0">
                <a:solidFill>
                  <a:srgbClr val="0070C0"/>
                </a:solidFill>
                <a:latin typeface="Microsoft YaHei" panose="020B0503020204020204" pitchFamily="34" charset="-122"/>
                <a:ea typeface="Microsoft YaHei" panose="020B0503020204020204" pitchFamily="34" charset="-122"/>
              </a:rPr>
              <a:t>三組性別、年齡、身高、體重皆無統計差異。</a:t>
            </a:r>
          </a:p>
          <a:p>
            <a:endParaRPr lang="zh-TW" altLang="en-US" sz="2800" dirty="0">
              <a:solidFill>
                <a:srgbClr val="0070C0"/>
              </a:solidFill>
              <a:latin typeface="Microsoft YaHei" panose="020B0503020204020204" pitchFamily="34" charset="-122"/>
              <a:ea typeface="Microsoft YaHei" panose="020B0503020204020204" pitchFamily="34" charset="-122"/>
            </a:endParaRPr>
          </a:p>
        </p:txBody>
      </p:sp>
      <p:pic>
        <p:nvPicPr>
          <p:cNvPr id="7" name="內容版面配置區 6">
            <a:extLst>
              <a:ext uri="{FF2B5EF4-FFF2-40B4-BE49-F238E27FC236}">
                <a16:creationId xmlns:a16="http://schemas.microsoft.com/office/drawing/2014/main" id="{E335A199-74CF-15AC-23F2-120E1E143B73}"/>
              </a:ext>
            </a:extLst>
          </p:cNvPr>
          <p:cNvPicPr>
            <a:picLocks noGrp="1" noChangeAspect="1"/>
          </p:cNvPicPr>
          <p:nvPr>
            <p:ph idx="1"/>
          </p:nvPr>
        </p:nvPicPr>
        <p:blipFill>
          <a:blip r:embed="rId2"/>
          <a:stretch>
            <a:fillRect/>
          </a:stretch>
        </p:blipFill>
        <p:spPr>
          <a:xfrm>
            <a:off x="414156" y="1980997"/>
            <a:ext cx="10662067" cy="3605415"/>
          </a:xfrm>
        </p:spPr>
      </p:pic>
    </p:spTree>
    <p:extLst>
      <p:ext uri="{BB962C8B-B14F-4D97-AF65-F5344CB8AC3E}">
        <p14:creationId xmlns:p14="http://schemas.microsoft.com/office/powerpoint/2010/main" val="379587082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DBA58-6A65-1F9B-7333-9A9EE67B4C87}"/>
            </a:ext>
          </a:extLst>
        </p:cNvPr>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77222F01-4EF7-1648-814B-BC1895AB7885}"/>
              </a:ext>
            </a:extLst>
          </p:cNvPr>
          <p:cNvSpPr>
            <a:spLocks noGrp="1"/>
          </p:cNvSpPr>
          <p:nvPr>
            <p:ph type="sldNum" sz="quarter" idx="12"/>
          </p:nvPr>
        </p:nvSpPr>
        <p:spPr>
          <a:xfrm>
            <a:off x="11515726" y="6453001"/>
            <a:ext cx="545644" cy="365127"/>
          </a:xfrm>
        </p:spPr>
        <p:txBody>
          <a:bodyPr vert="horz" lIns="91440" tIns="45720" rIns="91440" bIns="45720" rtlCol="0" anchor="ctr">
            <a:noAutofit/>
          </a:bodyPr>
          <a:lstStyle/>
          <a:p>
            <a:pPr>
              <a:spcAft>
                <a:spcPts val="600"/>
              </a:spcAft>
            </a:pPr>
            <a:fld id="{CC057153-B650-4DEB-B370-79DDCFDCE934}" type="slidenum">
              <a:rPr lang="en-US" sz="2400" smtClean="0"/>
              <a:pPr>
                <a:spcAft>
                  <a:spcPts val="600"/>
                </a:spcAft>
              </a:pPr>
              <a:t>15</a:t>
            </a:fld>
            <a:endParaRPr lang="en-US" sz="2400" dirty="0"/>
          </a:p>
        </p:txBody>
      </p:sp>
      <p:graphicFrame>
        <p:nvGraphicFramePr>
          <p:cNvPr id="9" name="表格 8">
            <a:extLst>
              <a:ext uri="{FF2B5EF4-FFF2-40B4-BE49-F238E27FC236}">
                <a16:creationId xmlns:a16="http://schemas.microsoft.com/office/drawing/2014/main" id="{A8ECC85B-9516-4A57-F470-94A1CEEF1C63}"/>
              </a:ext>
            </a:extLst>
          </p:cNvPr>
          <p:cNvGraphicFramePr>
            <a:graphicFrameLocks noGrp="1"/>
          </p:cNvGraphicFramePr>
          <p:nvPr>
            <p:extLst>
              <p:ext uri="{D42A27DB-BD31-4B8C-83A1-F6EECF244321}">
                <p14:modId xmlns:p14="http://schemas.microsoft.com/office/powerpoint/2010/main" val="4063931640"/>
              </p:ext>
            </p:extLst>
          </p:nvPr>
        </p:nvGraphicFramePr>
        <p:xfrm>
          <a:off x="136753" y="39873"/>
          <a:ext cx="11918493" cy="2480401"/>
        </p:xfrm>
        <a:graphic>
          <a:graphicData uri="http://schemas.openxmlformats.org/drawingml/2006/table">
            <a:tbl>
              <a:tblPr firstRow="1" bandRow="1">
                <a:tableStyleId>{5C22544A-7EE6-4342-B048-85BDC9FD1C3A}</a:tableStyleId>
              </a:tblPr>
              <a:tblGrid>
                <a:gridCol w="6243243">
                  <a:extLst>
                    <a:ext uri="{9D8B030D-6E8A-4147-A177-3AD203B41FA5}">
                      <a16:colId xmlns:a16="http://schemas.microsoft.com/office/drawing/2014/main" val="1340665412"/>
                    </a:ext>
                  </a:extLst>
                </a:gridCol>
                <a:gridCol w="1871576">
                  <a:extLst>
                    <a:ext uri="{9D8B030D-6E8A-4147-A177-3AD203B41FA5}">
                      <a16:colId xmlns:a16="http://schemas.microsoft.com/office/drawing/2014/main" val="4247696271"/>
                    </a:ext>
                  </a:extLst>
                </a:gridCol>
                <a:gridCol w="1941410">
                  <a:extLst>
                    <a:ext uri="{9D8B030D-6E8A-4147-A177-3AD203B41FA5}">
                      <a16:colId xmlns:a16="http://schemas.microsoft.com/office/drawing/2014/main" val="209357475"/>
                    </a:ext>
                  </a:extLst>
                </a:gridCol>
                <a:gridCol w="1862264">
                  <a:extLst>
                    <a:ext uri="{9D8B030D-6E8A-4147-A177-3AD203B41FA5}">
                      <a16:colId xmlns:a16="http://schemas.microsoft.com/office/drawing/2014/main" val="137647530"/>
                    </a:ext>
                  </a:extLst>
                </a:gridCol>
              </a:tblGrid>
              <a:tr h="745849">
                <a:tc rowSpan="2">
                  <a:txBody>
                    <a:bodyPr/>
                    <a:lstStyle/>
                    <a:p>
                      <a:pPr marL="0" indent="0">
                        <a:buNone/>
                      </a:pPr>
                      <a:r>
                        <a:rPr lang="en-US" altLang="zh-TW" sz="2400" dirty="0"/>
                        <a:t>6. Apart from the experimental intervention, did each study group receive the same level of care (that is, were they treated equally)?</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2400" dirty="0"/>
                        <a:t>除了實驗的介入措施之外，各組的所有對待是否相同？</a:t>
                      </a: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YES</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Can’t tell</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NO</a:t>
                      </a:r>
                      <a:endParaRPr lang="zh-TW" altLang="en-US" sz="2400"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493887565"/>
                  </a:ext>
                </a:extLst>
              </a:tr>
              <a:tr h="1657441">
                <a:tc vMerge="1">
                  <a:txBody>
                    <a:bodyPr/>
                    <a:lstStyle/>
                    <a:p>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b="1" dirty="0"/>
                        <a:t>V</a:t>
                      </a:r>
                      <a:endParaRPr lang="zh-TW" altLang="en-US" sz="2400" b="1" dirty="0"/>
                    </a:p>
                  </a:txBody>
                  <a:tcPr anchor="ctr"/>
                </a:tc>
                <a:tc>
                  <a:txBody>
                    <a:bodyPr/>
                    <a:lstStyle/>
                    <a:p>
                      <a:endParaRPr lang="zh-TW" altLang="en-US" dirty="0"/>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TW" altLang="en-US" sz="2400" b="1" dirty="0"/>
                    </a:p>
                    <a:p>
                      <a:endParaRPr lang="zh-TW" altLang="en-US" dirty="0"/>
                    </a:p>
                  </a:txBody>
                  <a:tcPr anchor="ctr"/>
                </a:tc>
                <a:extLst>
                  <a:ext uri="{0D108BD9-81ED-4DB2-BD59-A6C34878D82A}">
                    <a16:rowId xmlns:a16="http://schemas.microsoft.com/office/drawing/2014/main" val="3333484914"/>
                  </a:ext>
                </a:extLst>
              </a:tr>
            </a:tbl>
          </a:graphicData>
        </a:graphic>
      </p:graphicFrame>
      <p:sp>
        <p:nvSpPr>
          <p:cNvPr id="12" name="文字方塊 11">
            <a:extLst>
              <a:ext uri="{FF2B5EF4-FFF2-40B4-BE49-F238E27FC236}">
                <a16:creationId xmlns:a16="http://schemas.microsoft.com/office/drawing/2014/main" id="{BC8BEC2B-165F-2F99-1DC3-90C904797873}"/>
              </a:ext>
            </a:extLst>
          </p:cNvPr>
          <p:cNvSpPr txBox="1"/>
          <p:nvPr/>
        </p:nvSpPr>
        <p:spPr>
          <a:xfrm>
            <a:off x="5700422" y="3794140"/>
            <a:ext cx="5931740" cy="1384995"/>
          </a:xfrm>
          <a:prstGeom prst="rect">
            <a:avLst/>
          </a:prstGeom>
          <a:noFill/>
        </p:spPr>
        <p:txBody>
          <a:bodyPr wrap="square" rtlCol="0">
            <a:spAutoFit/>
          </a:bodyPr>
          <a:lstStyle/>
          <a:p>
            <a:pPr marL="457200" indent="-457200">
              <a:buFont typeface="Arial" panose="020B0604020202020204" pitchFamily="34" charset="0"/>
              <a:buChar char="•"/>
            </a:pPr>
            <a:r>
              <a:rPr lang="zh-TW" altLang="en-US" sz="2800" dirty="0">
                <a:solidFill>
                  <a:srgbClr val="0070C0"/>
                </a:solidFill>
                <a:latin typeface="Microsoft YaHei" panose="020B0503020204020204" pitchFamily="34" charset="-122"/>
                <a:ea typeface="Microsoft YaHei" panose="020B0503020204020204" pitchFamily="34" charset="-122"/>
              </a:rPr>
              <a:t>三組除了音樂的有無外，其餘設備及流程皆一致。</a:t>
            </a:r>
          </a:p>
          <a:p>
            <a:endParaRPr lang="zh-TW" altLang="en-US" sz="2800" dirty="0">
              <a:solidFill>
                <a:srgbClr val="0070C0"/>
              </a:solidFill>
              <a:latin typeface="Microsoft YaHei" panose="020B0503020204020204" pitchFamily="34" charset="-122"/>
              <a:ea typeface="Microsoft YaHei" panose="020B0503020204020204" pitchFamily="34" charset="-122"/>
            </a:endParaRPr>
          </a:p>
        </p:txBody>
      </p:sp>
      <p:pic>
        <p:nvPicPr>
          <p:cNvPr id="6" name="內容版面配置區 5">
            <a:extLst>
              <a:ext uri="{FF2B5EF4-FFF2-40B4-BE49-F238E27FC236}">
                <a16:creationId xmlns:a16="http://schemas.microsoft.com/office/drawing/2014/main" id="{5C23A1D1-3534-B67E-6862-8244BED4E35F}"/>
              </a:ext>
            </a:extLst>
          </p:cNvPr>
          <p:cNvPicPr>
            <a:picLocks noGrp="1" noChangeAspect="1"/>
          </p:cNvPicPr>
          <p:nvPr>
            <p:ph idx="1"/>
          </p:nvPr>
        </p:nvPicPr>
        <p:blipFill>
          <a:blip r:embed="rId2"/>
          <a:stretch>
            <a:fillRect/>
          </a:stretch>
        </p:blipFill>
        <p:spPr>
          <a:xfrm>
            <a:off x="336777" y="2716406"/>
            <a:ext cx="5238445" cy="3736596"/>
          </a:xfrm>
        </p:spPr>
      </p:pic>
    </p:spTree>
    <p:extLst>
      <p:ext uri="{BB962C8B-B14F-4D97-AF65-F5344CB8AC3E}">
        <p14:creationId xmlns:p14="http://schemas.microsoft.com/office/powerpoint/2010/main" val="33802362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B5527-7281-BFB2-D094-42182082C3D9}"/>
            </a:ext>
          </a:extLst>
        </p:cNvPr>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4AF7439B-C1E6-C2E8-5174-D2F10891B92D}"/>
              </a:ext>
            </a:extLst>
          </p:cNvPr>
          <p:cNvSpPr>
            <a:spLocks noGrp="1"/>
          </p:cNvSpPr>
          <p:nvPr>
            <p:ph type="sldNum" sz="quarter" idx="12"/>
          </p:nvPr>
        </p:nvSpPr>
        <p:spPr>
          <a:xfrm>
            <a:off x="11472864" y="6508862"/>
            <a:ext cx="588506" cy="309265"/>
          </a:xfrm>
        </p:spPr>
        <p:txBody>
          <a:bodyPr vert="horz" lIns="91440" tIns="45720" rIns="91440" bIns="45720" rtlCol="0" anchor="ctr">
            <a:noAutofit/>
          </a:bodyPr>
          <a:lstStyle/>
          <a:p>
            <a:pPr>
              <a:spcAft>
                <a:spcPts val="600"/>
              </a:spcAft>
            </a:pPr>
            <a:fld id="{CC057153-B650-4DEB-B370-79DDCFDCE934}" type="slidenum">
              <a:rPr lang="en-US" sz="2400" smtClean="0"/>
              <a:pPr>
                <a:spcAft>
                  <a:spcPts val="600"/>
                </a:spcAft>
              </a:pPr>
              <a:t>16</a:t>
            </a:fld>
            <a:endParaRPr lang="en-US" sz="2400" dirty="0"/>
          </a:p>
        </p:txBody>
      </p:sp>
      <p:graphicFrame>
        <p:nvGraphicFramePr>
          <p:cNvPr id="9" name="表格 8">
            <a:extLst>
              <a:ext uri="{FF2B5EF4-FFF2-40B4-BE49-F238E27FC236}">
                <a16:creationId xmlns:a16="http://schemas.microsoft.com/office/drawing/2014/main" id="{D924FE8A-D61C-59F7-4352-00E2BA171358}"/>
              </a:ext>
            </a:extLst>
          </p:cNvPr>
          <p:cNvGraphicFramePr>
            <a:graphicFrameLocks noGrp="1"/>
          </p:cNvGraphicFramePr>
          <p:nvPr>
            <p:extLst>
              <p:ext uri="{D42A27DB-BD31-4B8C-83A1-F6EECF244321}">
                <p14:modId xmlns:p14="http://schemas.microsoft.com/office/powerpoint/2010/main" val="1506889913"/>
              </p:ext>
            </p:extLst>
          </p:nvPr>
        </p:nvGraphicFramePr>
        <p:xfrm>
          <a:off x="136753" y="39874"/>
          <a:ext cx="11918493" cy="1597566"/>
        </p:xfrm>
        <a:graphic>
          <a:graphicData uri="http://schemas.openxmlformats.org/drawingml/2006/table">
            <a:tbl>
              <a:tblPr firstRow="1" bandRow="1">
                <a:tableStyleId>{5C22544A-7EE6-4342-B048-85BDC9FD1C3A}</a:tableStyleId>
              </a:tblPr>
              <a:tblGrid>
                <a:gridCol w="6243243">
                  <a:extLst>
                    <a:ext uri="{9D8B030D-6E8A-4147-A177-3AD203B41FA5}">
                      <a16:colId xmlns:a16="http://schemas.microsoft.com/office/drawing/2014/main" val="1340665412"/>
                    </a:ext>
                  </a:extLst>
                </a:gridCol>
                <a:gridCol w="1871576">
                  <a:extLst>
                    <a:ext uri="{9D8B030D-6E8A-4147-A177-3AD203B41FA5}">
                      <a16:colId xmlns:a16="http://schemas.microsoft.com/office/drawing/2014/main" val="4247696271"/>
                    </a:ext>
                  </a:extLst>
                </a:gridCol>
                <a:gridCol w="1941410">
                  <a:extLst>
                    <a:ext uri="{9D8B030D-6E8A-4147-A177-3AD203B41FA5}">
                      <a16:colId xmlns:a16="http://schemas.microsoft.com/office/drawing/2014/main" val="209357475"/>
                    </a:ext>
                  </a:extLst>
                </a:gridCol>
                <a:gridCol w="1862264">
                  <a:extLst>
                    <a:ext uri="{9D8B030D-6E8A-4147-A177-3AD203B41FA5}">
                      <a16:colId xmlns:a16="http://schemas.microsoft.com/office/drawing/2014/main" val="137647530"/>
                    </a:ext>
                  </a:extLst>
                </a:gridCol>
              </a:tblGrid>
              <a:tr h="628059">
                <a:tc rowSpan="2">
                  <a:txBody>
                    <a:bodyPr/>
                    <a:lstStyle/>
                    <a:p>
                      <a:pPr marL="0" indent="0">
                        <a:buNone/>
                      </a:pPr>
                      <a:r>
                        <a:rPr lang="en-US" altLang="zh-TW" sz="2400" dirty="0"/>
                        <a:t>7. Were the effects of intervention reported comprehensively?</a:t>
                      </a:r>
                    </a:p>
                    <a:p>
                      <a:pPr marL="0" indent="0">
                        <a:buNone/>
                      </a:pPr>
                      <a:r>
                        <a:rPr lang="zh-TW" altLang="en-US" sz="2400" dirty="0"/>
                        <a:t>介入措施的效果是否有被完整報告？</a:t>
                      </a: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YES</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Can’t tell</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NO</a:t>
                      </a:r>
                      <a:endParaRPr lang="zh-TW" altLang="en-US" sz="2400"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493887565"/>
                  </a:ext>
                </a:extLst>
              </a:tr>
              <a:tr h="774606">
                <a:tc vMerge="1">
                  <a:txBody>
                    <a:bodyPr/>
                    <a:lstStyle/>
                    <a:p>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b="1" dirty="0"/>
                        <a:t>V</a:t>
                      </a:r>
                      <a:endParaRPr lang="zh-TW" altLang="en-US" sz="2400" b="1" dirty="0"/>
                    </a:p>
                  </a:txBody>
                  <a:tcPr anchor="ctr"/>
                </a:tc>
                <a:tc>
                  <a:txBody>
                    <a:bodyPr/>
                    <a:lstStyle/>
                    <a:p>
                      <a:endParaRPr lang="zh-TW" altLang="en-US" dirty="0"/>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TW" altLang="en-US" sz="2400" b="1" dirty="0"/>
                    </a:p>
                    <a:p>
                      <a:endParaRPr lang="zh-TW" altLang="en-US" dirty="0"/>
                    </a:p>
                  </a:txBody>
                  <a:tcPr anchor="ctr"/>
                </a:tc>
                <a:extLst>
                  <a:ext uri="{0D108BD9-81ED-4DB2-BD59-A6C34878D82A}">
                    <a16:rowId xmlns:a16="http://schemas.microsoft.com/office/drawing/2014/main" val="3333484914"/>
                  </a:ext>
                </a:extLst>
              </a:tr>
            </a:tbl>
          </a:graphicData>
        </a:graphic>
      </p:graphicFrame>
      <p:sp>
        <p:nvSpPr>
          <p:cNvPr id="12" name="文字方塊 11">
            <a:extLst>
              <a:ext uri="{FF2B5EF4-FFF2-40B4-BE49-F238E27FC236}">
                <a16:creationId xmlns:a16="http://schemas.microsoft.com/office/drawing/2014/main" id="{B7D701EE-6A27-3D80-CFEE-B23EB843B4DE}"/>
              </a:ext>
            </a:extLst>
          </p:cNvPr>
          <p:cNvSpPr txBox="1"/>
          <p:nvPr/>
        </p:nvSpPr>
        <p:spPr>
          <a:xfrm>
            <a:off x="5700422" y="2565415"/>
            <a:ext cx="5931740" cy="2246769"/>
          </a:xfrm>
          <a:prstGeom prst="rect">
            <a:avLst/>
          </a:prstGeom>
          <a:noFill/>
        </p:spPr>
        <p:txBody>
          <a:bodyPr wrap="square" rtlCol="0">
            <a:spAutoFit/>
          </a:bodyPr>
          <a:lstStyle/>
          <a:p>
            <a:pPr marL="457200" indent="-457200">
              <a:buFont typeface="Arial" panose="020B0604020202020204" pitchFamily="34" charset="0"/>
              <a:buChar char="•"/>
            </a:pPr>
            <a:r>
              <a:rPr lang="zh-TW" altLang="en-US" sz="2800" dirty="0">
                <a:solidFill>
                  <a:srgbClr val="0070C0"/>
                </a:solidFill>
                <a:latin typeface="Microsoft YaHei" panose="020B0503020204020204" pitchFamily="34" charset="-122"/>
                <a:ea typeface="Microsoft YaHei" panose="020B0503020204020204" pitchFamily="34" charset="-122"/>
              </a:rPr>
              <a:t>使用</a:t>
            </a:r>
            <a:r>
              <a:rPr lang="en-US" altLang="zh-TW" sz="2800" dirty="0">
                <a:solidFill>
                  <a:srgbClr val="0070C0"/>
                </a:solidFill>
                <a:latin typeface="Microsoft YaHei" panose="020B0503020204020204" pitchFamily="34" charset="-122"/>
                <a:ea typeface="Microsoft YaHei" panose="020B0503020204020204" pitchFamily="34" charset="-122"/>
              </a:rPr>
              <a:t>SPSS</a:t>
            </a:r>
            <a:r>
              <a:rPr lang="zh-TW" altLang="en-US" sz="2800" dirty="0">
                <a:solidFill>
                  <a:srgbClr val="0070C0"/>
                </a:solidFill>
                <a:latin typeface="Microsoft YaHei" panose="020B0503020204020204" pitchFamily="34" charset="-122"/>
                <a:ea typeface="Microsoft YaHei" panose="020B0503020204020204" pitchFamily="34" charset="-122"/>
              </a:rPr>
              <a:t>分析，類別變項使用</a:t>
            </a:r>
            <a:r>
              <a:rPr lang="en-US" altLang="zh-TW" sz="2800" dirty="0">
                <a:solidFill>
                  <a:srgbClr val="0070C0"/>
                </a:solidFill>
                <a:latin typeface="Microsoft YaHei" panose="020B0503020204020204" pitchFamily="34" charset="-122"/>
                <a:ea typeface="Microsoft YaHei" panose="020B0503020204020204" pitchFamily="34" charset="-122"/>
              </a:rPr>
              <a:t>chi-square</a:t>
            </a:r>
            <a:r>
              <a:rPr lang="zh-TW" altLang="en-US" sz="2800" dirty="0">
                <a:solidFill>
                  <a:srgbClr val="0070C0"/>
                </a:solidFill>
                <a:latin typeface="Microsoft YaHei" panose="020B0503020204020204" pitchFamily="34" charset="-122"/>
                <a:ea typeface="Microsoft YaHei" panose="020B0503020204020204" pitchFamily="34" charset="-122"/>
              </a:rPr>
              <a:t>，連續變項使用</a:t>
            </a:r>
            <a:r>
              <a:rPr lang="en-US" altLang="zh-TW" sz="2800" dirty="0">
                <a:solidFill>
                  <a:srgbClr val="0070C0"/>
                </a:solidFill>
                <a:latin typeface="Microsoft YaHei" panose="020B0503020204020204" pitchFamily="34" charset="-122"/>
                <a:ea typeface="Microsoft YaHei" panose="020B0503020204020204" pitchFamily="34" charset="-122"/>
              </a:rPr>
              <a:t>one-way ANOVA</a:t>
            </a:r>
            <a:r>
              <a:rPr lang="zh-TW" altLang="en-US" sz="2800" dirty="0">
                <a:solidFill>
                  <a:srgbClr val="0070C0"/>
                </a:solidFill>
                <a:latin typeface="Microsoft YaHei" panose="020B0503020204020204" pitchFamily="34" charset="-122"/>
                <a:ea typeface="Microsoft YaHei" panose="020B0503020204020204" pitchFamily="34" charset="-122"/>
              </a:rPr>
              <a:t>或</a:t>
            </a:r>
            <a:r>
              <a:rPr lang="en-US" altLang="zh-TW" sz="2800" dirty="0">
                <a:solidFill>
                  <a:srgbClr val="0070C0"/>
                </a:solidFill>
                <a:latin typeface="Microsoft YaHei" panose="020B0503020204020204" pitchFamily="34" charset="-122"/>
                <a:ea typeface="Microsoft YaHei" panose="020B0503020204020204" pitchFamily="34" charset="-122"/>
              </a:rPr>
              <a:t>Kruskal-Wallis test</a:t>
            </a:r>
            <a:r>
              <a:rPr lang="zh-TW" altLang="en-US" sz="2800" dirty="0">
                <a:solidFill>
                  <a:srgbClr val="0070C0"/>
                </a:solidFill>
                <a:latin typeface="Microsoft YaHei" panose="020B0503020204020204" pitchFamily="34" charset="-122"/>
                <a:ea typeface="Microsoft YaHei" panose="020B0503020204020204" pitchFamily="34" charset="-122"/>
              </a:rPr>
              <a:t>，以比較三組是否有差異。</a:t>
            </a:r>
          </a:p>
          <a:p>
            <a:endParaRPr lang="zh-TW" altLang="en-US" sz="2800" dirty="0">
              <a:solidFill>
                <a:srgbClr val="0070C0"/>
              </a:solidFill>
              <a:latin typeface="Microsoft YaHei" panose="020B0503020204020204" pitchFamily="34" charset="-122"/>
              <a:ea typeface="Microsoft YaHei" panose="020B0503020204020204" pitchFamily="34" charset="-122"/>
            </a:endParaRPr>
          </a:p>
        </p:txBody>
      </p:sp>
      <p:pic>
        <p:nvPicPr>
          <p:cNvPr id="7" name="內容版面配置區 6">
            <a:extLst>
              <a:ext uri="{FF2B5EF4-FFF2-40B4-BE49-F238E27FC236}">
                <a16:creationId xmlns:a16="http://schemas.microsoft.com/office/drawing/2014/main" id="{C760B6F5-C1F9-7483-9560-3957858744DB}"/>
              </a:ext>
            </a:extLst>
          </p:cNvPr>
          <p:cNvPicPr>
            <a:picLocks noGrp="1" noChangeAspect="1"/>
          </p:cNvPicPr>
          <p:nvPr>
            <p:ph idx="1"/>
          </p:nvPr>
        </p:nvPicPr>
        <p:blipFill>
          <a:blip r:embed="rId2"/>
          <a:stretch>
            <a:fillRect/>
          </a:stretch>
        </p:blipFill>
        <p:spPr>
          <a:xfrm>
            <a:off x="559838" y="1772748"/>
            <a:ext cx="4469362" cy="4736114"/>
          </a:xfrm>
        </p:spPr>
      </p:pic>
    </p:spTree>
    <p:extLst>
      <p:ext uri="{BB962C8B-B14F-4D97-AF65-F5344CB8AC3E}">
        <p14:creationId xmlns:p14="http://schemas.microsoft.com/office/powerpoint/2010/main" val="402614232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B1A5F-907D-A599-F84D-D5101EBB580A}"/>
            </a:ext>
          </a:extLst>
        </p:cNvPr>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2735F408-9EA5-5843-9069-66F139574ACE}"/>
              </a:ext>
            </a:extLst>
          </p:cNvPr>
          <p:cNvSpPr>
            <a:spLocks noGrp="1"/>
          </p:cNvSpPr>
          <p:nvPr>
            <p:ph type="sldNum" sz="quarter" idx="12"/>
          </p:nvPr>
        </p:nvSpPr>
        <p:spPr>
          <a:xfrm>
            <a:off x="11444288" y="6400800"/>
            <a:ext cx="617081" cy="417327"/>
          </a:xfrm>
        </p:spPr>
        <p:txBody>
          <a:bodyPr vert="horz" lIns="91440" tIns="45720" rIns="91440" bIns="45720" rtlCol="0" anchor="ctr">
            <a:noAutofit/>
          </a:bodyPr>
          <a:lstStyle/>
          <a:p>
            <a:pPr>
              <a:spcAft>
                <a:spcPts val="600"/>
              </a:spcAft>
            </a:pPr>
            <a:fld id="{CC057153-B650-4DEB-B370-79DDCFDCE934}" type="slidenum">
              <a:rPr lang="en-US" sz="2400" smtClean="0"/>
              <a:pPr>
                <a:spcAft>
                  <a:spcPts val="600"/>
                </a:spcAft>
              </a:pPr>
              <a:t>17</a:t>
            </a:fld>
            <a:endParaRPr lang="en-US" sz="2400" dirty="0"/>
          </a:p>
        </p:txBody>
      </p:sp>
      <p:graphicFrame>
        <p:nvGraphicFramePr>
          <p:cNvPr id="9" name="表格 8">
            <a:extLst>
              <a:ext uri="{FF2B5EF4-FFF2-40B4-BE49-F238E27FC236}">
                <a16:creationId xmlns:a16="http://schemas.microsoft.com/office/drawing/2014/main" id="{D0280693-FF1F-1E73-C928-5FB18B08388E}"/>
              </a:ext>
            </a:extLst>
          </p:cNvPr>
          <p:cNvGraphicFramePr>
            <a:graphicFrameLocks noGrp="1"/>
          </p:cNvGraphicFramePr>
          <p:nvPr>
            <p:extLst>
              <p:ext uri="{D42A27DB-BD31-4B8C-83A1-F6EECF244321}">
                <p14:modId xmlns:p14="http://schemas.microsoft.com/office/powerpoint/2010/main" val="2663097805"/>
              </p:ext>
            </p:extLst>
          </p:nvPr>
        </p:nvGraphicFramePr>
        <p:xfrm>
          <a:off x="136753" y="39874"/>
          <a:ext cx="11918493" cy="1597566"/>
        </p:xfrm>
        <a:graphic>
          <a:graphicData uri="http://schemas.openxmlformats.org/drawingml/2006/table">
            <a:tbl>
              <a:tblPr firstRow="1" bandRow="1">
                <a:tableStyleId>{5C22544A-7EE6-4342-B048-85BDC9FD1C3A}</a:tableStyleId>
              </a:tblPr>
              <a:tblGrid>
                <a:gridCol w="6243243">
                  <a:extLst>
                    <a:ext uri="{9D8B030D-6E8A-4147-A177-3AD203B41FA5}">
                      <a16:colId xmlns:a16="http://schemas.microsoft.com/office/drawing/2014/main" val="1340665412"/>
                    </a:ext>
                  </a:extLst>
                </a:gridCol>
                <a:gridCol w="1871576">
                  <a:extLst>
                    <a:ext uri="{9D8B030D-6E8A-4147-A177-3AD203B41FA5}">
                      <a16:colId xmlns:a16="http://schemas.microsoft.com/office/drawing/2014/main" val="4247696271"/>
                    </a:ext>
                  </a:extLst>
                </a:gridCol>
                <a:gridCol w="1941410">
                  <a:extLst>
                    <a:ext uri="{9D8B030D-6E8A-4147-A177-3AD203B41FA5}">
                      <a16:colId xmlns:a16="http://schemas.microsoft.com/office/drawing/2014/main" val="209357475"/>
                    </a:ext>
                  </a:extLst>
                </a:gridCol>
                <a:gridCol w="1862264">
                  <a:extLst>
                    <a:ext uri="{9D8B030D-6E8A-4147-A177-3AD203B41FA5}">
                      <a16:colId xmlns:a16="http://schemas.microsoft.com/office/drawing/2014/main" val="137647530"/>
                    </a:ext>
                  </a:extLst>
                </a:gridCol>
              </a:tblGrid>
              <a:tr h="628059">
                <a:tc rowSpan="2">
                  <a:txBody>
                    <a:bodyPr/>
                    <a:lstStyle/>
                    <a:p>
                      <a:pPr marL="0" indent="0">
                        <a:buNone/>
                      </a:pPr>
                      <a:r>
                        <a:rPr lang="en-US" altLang="zh-TW" sz="2400" dirty="0"/>
                        <a:t>8. Was the precision of the estimate of the intervention or treatment effect reported?</a:t>
                      </a:r>
                    </a:p>
                    <a:p>
                      <a:pPr marL="0" indent="0">
                        <a:buNone/>
                      </a:pPr>
                      <a:r>
                        <a:rPr lang="zh-TW" altLang="en-US" sz="2400" dirty="0"/>
                        <a:t>是否有列出介入</a:t>
                      </a:r>
                      <a:r>
                        <a:rPr lang="en-US" altLang="zh-TW" sz="2400" dirty="0"/>
                        <a:t>/</a:t>
                      </a:r>
                      <a:r>
                        <a:rPr lang="zh-TW" altLang="en-US" sz="2400" dirty="0"/>
                        <a:t>治療的精確度？</a:t>
                      </a: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YES</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Can’t tell</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NO</a:t>
                      </a:r>
                      <a:endParaRPr lang="zh-TW" altLang="en-US" sz="2400"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493887565"/>
                  </a:ext>
                </a:extLst>
              </a:tr>
              <a:tr h="774606">
                <a:tc vMerge="1">
                  <a:txBody>
                    <a:bodyPr/>
                    <a:lstStyle/>
                    <a:p>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4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2400" b="1" i="0" u="none" strike="noStrike" kern="1200" cap="none" spc="0" normalizeH="0" baseline="0" noProof="0" dirty="0">
                        <a:ln>
                          <a:noFill/>
                        </a:ln>
                        <a:solidFill>
                          <a:prstClr val="black"/>
                        </a:solidFill>
                        <a:effectLst/>
                        <a:uLnTx/>
                        <a:uFillTx/>
                        <a:latin typeface="+mn-lt"/>
                        <a:ea typeface="+mn-ea"/>
                        <a:cs typeface="+mn-cs"/>
                      </a:endParaRP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prstClr val="black"/>
                          </a:solidFill>
                          <a:effectLst/>
                          <a:uLnTx/>
                          <a:uFillTx/>
                          <a:latin typeface="+mn-lt"/>
                          <a:ea typeface="+mn-ea"/>
                          <a:cs typeface="+mn-cs"/>
                        </a:rPr>
                        <a:t>V</a:t>
                      </a:r>
                      <a:endParaRPr lang="zh-TW" altLang="en-US" sz="2400" b="1" dirty="0"/>
                    </a:p>
                    <a:p>
                      <a:endParaRPr lang="zh-TW" altLang="en-US" dirty="0"/>
                    </a:p>
                  </a:txBody>
                  <a:tcPr anchor="ctr"/>
                </a:tc>
                <a:extLst>
                  <a:ext uri="{0D108BD9-81ED-4DB2-BD59-A6C34878D82A}">
                    <a16:rowId xmlns:a16="http://schemas.microsoft.com/office/drawing/2014/main" val="3333484914"/>
                  </a:ext>
                </a:extLst>
              </a:tr>
            </a:tbl>
          </a:graphicData>
        </a:graphic>
      </p:graphicFrame>
      <p:sp>
        <p:nvSpPr>
          <p:cNvPr id="12" name="文字方塊 11">
            <a:extLst>
              <a:ext uri="{FF2B5EF4-FFF2-40B4-BE49-F238E27FC236}">
                <a16:creationId xmlns:a16="http://schemas.microsoft.com/office/drawing/2014/main" id="{82E4B859-41B0-A89A-3CFE-829D95FB9D51}"/>
              </a:ext>
            </a:extLst>
          </p:cNvPr>
          <p:cNvSpPr txBox="1"/>
          <p:nvPr/>
        </p:nvSpPr>
        <p:spPr>
          <a:xfrm>
            <a:off x="6407347" y="2313404"/>
            <a:ext cx="5224815" cy="954107"/>
          </a:xfrm>
          <a:prstGeom prst="rect">
            <a:avLst/>
          </a:prstGeom>
          <a:noFill/>
        </p:spPr>
        <p:txBody>
          <a:bodyPr wrap="square" rtlCol="0">
            <a:spAutoFit/>
          </a:bodyPr>
          <a:lstStyle/>
          <a:p>
            <a:pPr marL="457200" indent="-457200">
              <a:buFont typeface="Arial" panose="020B0604020202020204" pitchFamily="34" charset="0"/>
              <a:buChar char="•"/>
            </a:pPr>
            <a:r>
              <a:rPr lang="zh-TW" altLang="en-US" sz="2800" dirty="0">
                <a:solidFill>
                  <a:srgbClr val="0070C0"/>
                </a:solidFill>
                <a:latin typeface="Microsoft YaHei" panose="020B0503020204020204" pitchFamily="34" charset="-122"/>
                <a:ea typeface="Microsoft YaHei" panose="020B0503020204020204" pitchFamily="34" charset="-122"/>
              </a:rPr>
              <a:t>文中未呈現信賴區間。</a:t>
            </a:r>
          </a:p>
          <a:p>
            <a:endParaRPr lang="zh-TW" altLang="en-US" sz="2800" dirty="0">
              <a:solidFill>
                <a:srgbClr val="0070C0"/>
              </a:solidFill>
              <a:latin typeface="Microsoft YaHei" panose="020B0503020204020204" pitchFamily="34" charset="-122"/>
              <a:ea typeface="Microsoft YaHei" panose="020B0503020204020204" pitchFamily="34" charset="-122"/>
            </a:endParaRPr>
          </a:p>
        </p:txBody>
      </p:sp>
      <p:pic>
        <p:nvPicPr>
          <p:cNvPr id="6" name="內容版面配置區 5">
            <a:extLst>
              <a:ext uri="{FF2B5EF4-FFF2-40B4-BE49-F238E27FC236}">
                <a16:creationId xmlns:a16="http://schemas.microsoft.com/office/drawing/2014/main" id="{742B65BC-8D35-E50F-4E61-88EA8A8E8DEC}"/>
              </a:ext>
            </a:extLst>
          </p:cNvPr>
          <p:cNvPicPr>
            <a:picLocks noGrp="1" noChangeAspect="1"/>
          </p:cNvPicPr>
          <p:nvPr>
            <p:ph idx="1"/>
          </p:nvPr>
        </p:nvPicPr>
        <p:blipFill>
          <a:blip r:embed="rId2"/>
          <a:stretch>
            <a:fillRect/>
          </a:stretch>
        </p:blipFill>
        <p:spPr>
          <a:xfrm>
            <a:off x="361599" y="1659031"/>
            <a:ext cx="5224814" cy="3238553"/>
          </a:xfrm>
        </p:spPr>
      </p:pic>
      <p:pic>
        <p:nvPicPr>
          <p:cNvPr id="10" name="圖片 9">
            <a:extLst>
              <a:ext uri="{FF2B5EF4-FFF2-40B4-BE49-F238E27FC236}">
                <a16:creationId xmlns:a16="http://schemas.microsoft.com/office/drawing/2014/main" id="{FE3BF902-DCA1-C63E-64B9-CA388B1D8863}"/>
              </a:ext>
            </a:extLst>
          </p:cNvPr>
          <p:cNvPicPr>
            <a:picLocks noChangeAspect="1"/>
          </p:cNvPicPr>
          <p:nvPr/>
        </p:nvPicPr>
        <p:blipFill>
          <a:blip r:embed="rId3"/>
          <a:stretch>
            <a:fillRect/>
          </a:stretch>
        </p:blipFill>
        <p:spPr>
          <a:xfrm>
            <a:off x="460718" y="4897584"/>
            <a:ext cx="5125695" cy="1813866"/>
          </a:xfrm>
          <a:prstGeom prst="rect">
            <a:avLst/>
          </a:prstGeom>
        </p:spPr>
      </p:pic>
    </p:spTree>
    <p:extLst>
      <p:ext uri="{BB962C8B-B14F-4D97-AF65-F5344CB8AC3E}">
        <p14:creationId xmlns:p14="http://schemas.microsoft.com/office/powerpoint/2010/main" val="86573819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7FC02-1BA1-4FCC-1599-5802CB5FEFEC}"/>
            </a:ext>
          </a:extLst>
        </p:cNvPr>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F1FE34C4-645B-50AB-CEFF-F85D1281F38D}"/>
              </a:ext>
            </a:extLst>
          </p:cNvPr>
          <p:cNvSpPr>
            <a:spLocks noGrp="1"/>
          </p:cNvSpPr>
          <p:nvPr>
            <p:ph type="sldNum" sz="quarter" idx="12"/>
          </p:nvPr>
        </p:nvSpPr>
        <p:spPr>
          <a:xfrm>
            <a:off x="11487150" y="6478922"/>
            <a:ext cx="574219" cy="339205"/>
          </a:xfrm>
        </p:spPr>
        <p:txBody>
          <a:bodyPr vert="horz" lIns="91440" tIns="45720" rIns="91440" bIns="45720" rtlCol="0" anchor="ctr">
            <a:noAutofit/>
          </a:bodyPr>
          <a:lstStyle/>
          <a:p>
            <a:pPr>
              <a:spcAft>
                <a:spcPts val="600"/>
              </a:spcAft>
            </a:pPr>
            <a:fld id="{CC057153-B650-4DEB-B370-79DDCFDCE934}" type="slidenum">
              <a:rPr lang="en-US" sz="2400" smtClean="0"/>
              <a:pPr>
                <a:spcAft>
                  <a:spcPts val="600"/>
                </a:spcAft>
              </a:pPr>
              <a:t>18</a:t>
            </a:fld>
            <a:endParaRPr lang="en-US" sz="2400" dirty="0"/>
          </a:p>
        </p:txBody>
      </p:sp>
      <p:graphicFrame>
        <p:nvGraphicFramePr>
          <p:cNvPr id="9" name="表格 8">
            <a:extLst>
              <a:ext uri="{FF2B5EF4-FFF2-40B4-BE49-F238E27FC236}">
                <a16:creationId xmlns:a16="http://schemas.microsoft.com/office/drawing/2014/main" id="{B7CCFF4E-C2D1-E6A4-BF10-92FFFE0F5D0F}"/>
              </a:ext>
            </a:extLst>
          </p:cNvPr>
          <p:cNvGraphicFramePr>
            <a:graphicFrameLocks noGrp="1"/>
          </p:cNvGraphicFramePr>
          <p:nvPr>
            <p:extLst>
              <p:ext uri="{D42A27DB-BD31-4B8C-83A1-F6EECF244321}">
                <p14:modId xmlns:p14="http://schemas.microsoft.com/office/powerpoint/2010/main" val="2980503372"/>
              </p:ext>
            </p:extLst>
          </p:nvPr>
        </p:nvGraphicFramePr>
        <p:xfrm>
          <a:off x="136753" y="39874"/>
          <a:ext cx="11918493" cy="1920240"/>
        </p:xfrm>
        <a:graphic>
          <a:graphicData uri="http://schemas.openxmlformats.org/drawingml/2006/table">
            <a:tbl>
              <a:tblPr firstRow="1" bandRow="1">
                <a:tableStyleId>{5C22544A-7EE6-4342-B048-85BDC9FD1C3A}</a:tableStyleId>
              </a:tblPr>
              <a:tblGrid>
                <a:gridCol w="6243243">
                  <a:extLst>
                    <a:ext uri="{9D8B030D-6E8A-4147-A177-3AD203B41FA5}">
                      <a16:colId xmlns:a16="http://schemas.microsoft.com/office/drawing/2014/main" val="1340665412"/>
                    </a:ext>
                  </a:extLst>
                </a:gridCol>
                <a:gridCol w="1871576">
                  <a:extLst>
                    <a:ext uri="{9D8B030D-6E8A-4147-A177-3AD203B41FA5}">
                      <a16:colId xmlns:a16="http://schemas.microsoft.com/office/drawing/2014/main" val="4247696271"/>
                    </a:ext>
                  </a:extLst>
                </a:gridCol>
                <a:gridCol w="1941410">
                  <a:extLst>
                    <a:ext uri="{9D8B030D-6E8A-4147-A177-3AD203B41FA5}">
                      <a16:colId xmlns:a16="http://schemas.microsoft.com/office/drawing/2014/main" val="209357475"/>
                    </a:ext>
                  </a:extLst>
                </a:gridCol>
                <a:gridCol w="1862264">
                  <a:extLst>
                    <a:ext uri="{9D8B030D-6E8A-4147-A177-3AD203B41FA5}">
                      <a16:colId xmlns:a16="http://schemas.microsoft.com/office/drawing/2014/main" val="137647530"/>
                    </a:ext>
                  </a:extLst>
                </a:gridCol>
              </a:tblGrid>
              <a:tr h="628059">
                <a:tc rowSpan="2">
                  <a:txBody>
                    <a:bodyPr/>
                    <a:lstStyle/>
                    <a:p>
                      <a:pPr marL="0" indent="0">
                        <a:buNone/>
                      </a:pPr>
                      <a:r>
                        <a:rPr lang="en-US" altLang="zh-TW" sz="2400" dirty="0"/>
                        <a:t>9.</a:t>
                      </a:r>
                      <a:r>
                        <a:rPr lang="zh-TW" altLang="en-US" sz="2400" dirty="0"/>
                        <a:t> </a:t>
                      </a:r>
                      <a:r>
                        <a:rPr lang="en-US" altLang="zh-TW" sz="2400" dirty="0"/>
                        <a:t>Do the benefits of the experimental intervention outweigh the harms and costs?</a:t>
                      </a:r>
                    </a:p>
                    <a:p>
                      <a:pPr marL="0" indent="0">
                        <a:buNone/>
                      </a:pPr>
                      <a:r>
                        <a:rPr lang="zh-TW" altLang="en-US" sz="2400" dirty="0"/>
                        <a:t>介入措施所帶來的效益是否值得付出傷害及成本的代價？</a:t>
                      </a: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YES</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Can’t tell</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NO</a:t>
                      </a:r>
                      <a:endParaRPr lang="zh-TW" altLang="en-US" sz="2400"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493887565"/>
                  </a:ext>
                </a:extLst>
              </a:tr>
              <a:tr h="774606">
                <a:tc vMerge="1">
                  <a:txBody>
                    <a:bodyPr/>
                    <a:lstStyle/>
                    <a:p>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4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prstClr val="black"/>
                          </a:solidFill>
                          <a:effectLst/>
                          <a:uLnTx/>
                          <a:uFillTx/>
                          <a:latin typeface="+mn-lt"/>
                          <a:ea typeface="+mn-ea"/>
                          <a:cs typeface="+mn-cs"/>
                        </a:rPr>
                        <a:t>V</a:t>
                      </a:r>
                      <a:endParaRPr kumimoji="0" lang="zh-TW" altLang="en-US" sz="2400" b="1" i="0" u="none" strike="noStrike" kern="1200" cap="none" spc="0" normalizeH="0" baseline="0" noProof="0" dirty="0">
                        <a:ln>
                          <a:noFill/>
                        </a:ln>
                        <a:solidFill>
                          <a:prstClr val="black"/>
                        </a:solidFill>
                        <a:effectLst/>
                        <a:uLnTx/>
                        <a:uFillTx/>
                        <a:latin typeface="+mn-lt"/>
                        <a:ea typeface="+mn-ea"/>
                        <a:cs typeface="+mn-cs"/>
                      </a:endParaRP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TW" altLang="en-US" sz="2400" b="1" dirty="0"/>
                    </a:p>
                    <a:p>
                      <a:endParaRPr lang="zh-TW" altLang="en-US" dirty="0"/>
                    </a:p>
                  </a:txBody>
                  <a:tcPr anchor="ctr"/>
                </a:tc>
                <a:extLst>
                  <a:ext uri="{0D108BD9-81ED-4DB2-BD59-A6C34878D82A}">
                    <a16:rowId xmlns:a16="http://schemas.microsoft.com/office/drawing/2014/main" val="3333484914"/>
                  </a:ext>
                </a:extLst>
              </a:tr>
            </a:tbl>
          </a:graphicData>
        </a:graphic>
      </p:graphicFrame>
      <p:sp>
        <p:nvSpPr>
          <p:cNvPr id="12" name="文字方塊 11">
            <a:extLst>
              <a:ext uri="{FF2B5EF4-FFF2-40B4-BE49-F238E27FC236}">
                <a16:creationId xmlns:a16="http://schemas.microsoft.com/office/drawing/2014/main" id="{88A2F43C-E341-74DD-5800-14DC5A03D5A9}"/>
              </a:ext>
            </a:extLst>
          </p:cNvPr>
          <p:cNvSpPr txBox="1"/>
          <p:nvPr/>
        </p:nvSpPr>
        <p:spPr>
          <a:xfrm>
            <a:off x="6407347" y="2234359"/>
            <a:ext cx="5383191" cy="3970318"/>
          </a:xfrm>
          <a:prstGeom prst="rect">
            <a:avLst/>
          </a:prstGeom>
          <a:noFill/>
        </p:spPr>
        <p:txBody>
          <a:bodyPr wrap="square" rtlCol="0">
            <a:spAutoFit/>
          </a:bodyPr>
          <a:lstStyle/>
          <a:p>
            <a:pPr marL="457200" indent="-457200">
              <a:buFont typeface="Arial" panose="020B0604020202020204" pitchFamily="34" charset="0"/>
              <a:buChar char="•"/>
            </a:pPr>
            <a:r>
              <a:rPr lang="zh-TW" altLang="en-US" sz="2800" dirty="0">
                <a:solidFill>
                  <a:srgbClr val="0070C0"/>
                </a:solidFill>
                <a:latin typeface="Microsoft YaHei" panose="020B0503020204020204" pitchFamily="34" charset="-122"/>
                <a:ea typeface="Microsoft YaHei" panose="020B0503020204020204" pitchFamily="34" charset="-122"/>
              </a:rPr>
              <a:t>音樂輔助 </a:t>
            </a:r>
            <a:r>
              <a:rPr lang="en-US" altLang="zh-TW" sz="2800" dirty="0">
                <a:solidFill>
                  <a:srgbClr val="0070C0"/>
                </a:solidFill>
                <a:latin typeface="Microsoft YaHei" panose="020B0503020204020204" pitchFamily="34" charset="-122"/>
                <a:ea typeface="Microsoft YaHei" panose="020B0503020204020204" pitchFamily="34" charset="-122"/>
              </a:rPr>
              <a:t>CPR </a:t>
            </a:r>
            <a:r>
              <a:rPr lang="zh-TW" altLang="en-US" sz="2800" dirty="0">
                <a:solidFill>
                  <a:srgbClr val="0070C0"/>
                </a:solidFill>
                <a:latin typeface="Microsoft YaHei" panose="020B0503020204020204" pitchFamily="34" charset="-122"/>
                <a:ea typeface="Microsoft YaHei" panose="020B0503020204020204" pitchFamily="34" charset="-122"/>
              </a:rPr>
              <a:t>能明顯提升學員參與度，使其在最短時間內掌握操作技巧並提升成就感。相較於昂貴且不易取得的視聽回饋設備，音樂輔助 </a:t>
            </a:r>
            <a:r>
              <a:rPr lang="en-US" altLang="zh-TW" sz="2800" dirty="0">
                <a:solidFill>
                  <a:srgbClr val="0070C0"/>
                </a:solidFill>
                <a:latin typeface="Microsoft YaHei" panose="020B0503020204020204" pitchFamily="34" charset="-122"/>
                <a:ea typeface="Microsoft YaHei" panose="020B0503020204020204" pitchFamily="34" charset="-122"/>
              </a:rPr>
              <a:t>CPR </a:t>
            </a:r>
            <a:r>
              <a:rPr lang="zh-TW" altLang="en-US" sz="2800" dirty="0">
                <a:solidFill>
                  <a:srgbClr val="0070C0"/>
                </a:solidFill>
                <a:latin typeface="Microsoft YaHei" panose="020B0503020204020204" pitchFamily="34" charset="-122"/>
                <a:ea typeface="Microsoft YaHei" panose="020B0503020204020204" pitchFamily="34" charset="-122"/>
              </a:rPr>
              <a:t>是一種方便、低成本且能提升按壓品質的訓練方式，能改善按壓速率與深度。</a:t>
            </a:r>
            <a:endParaRPr lang="en-US" altLang="zh-TW" sz="2800" dirty="0">
              <a:solidFill>
                <a:srgbClr val="0070C0"/>
              </a:solidFill>
              <a:latin typeface="Microsoft YaHei" panose="020B0503020204020204" pitchFamily="34" charset="-122"/>
              <a:ea typeface="Microsoft YaHei" panose="020B0503020204020204" pitchFamily="34" charset="-122"/>
            </a:endParaRPr>
          </a:p>
          <a:p>
            <a:pPr marL="457200" indent="-457200">
              <a:buFont typeface="Arial" panose="020B0604020202020204" pitchFamily="34" charset="0"/>
              <a:buChar char="•"/>
            </a:pPr>
            <a:r>
              <a:rPr lang="zh-TW" altLang="en-US" sz="2800" dirty="0">
                <a:solidFill>
                  <a:srgbClr val="0070C0"/>
                </a:solidFill>
                <a:latin typeface="Microsoft YaHei" panose="020B0503020204020204" pitchFamily="34" charset="-122"/>
                <a:ea typeface="Microsoft YaHei" panose="020B0503020204020204" pitchFamily="34" charset="-122"/>
              </a:rPr>
              <a:t>文中並未指出是否需付出傷害。</a:t>
            </a:r>
          </a:p>
        </p:txBody>
      </p:sp>
      <p:pic>
        <p:nvPicPr>
          <p:cNvPr id="7" name="內容版面配置區 6">
            <a:extLst>
              <a:ext uri="{FF2B5EF4-FFF2-40B4-BE49-F238E27FC236}">
                <a16:creationId xmlns:a16="http://schemas.microsoft.com/office/drawing/2014/main" id="{FC13DC01-1653-FF73-D684-ED362E0DFB20}"/>
              </a:ext>
            </a:extLst>
          </p:cNvPr>
          <p:cNvPicPr>
            <a:picLocks noGrp="1" noChangeAspect="1"/>
          </p:cNvPicPr>
          <p:nvPr>
            <p:ph idx="1"/>
          </p:nvPr>
        </p:nvPicPr>
        <p:blipFill>
          <a:blip r:embed="rId2"/>
          <a:stretch>
            <a:fillRect/>
          </a:stretch>
        </p:blipFill>
        <p:spPr>
          <a:xfrm>
            <a:off x="401462" y="2125756"/>
            <a:ext cx="6005885" cy="3603531"/>
          </a:xfrm>
        </p:spPr>
      </p:pic>
    </p:spTree>
    <p:extLst>
      <p:ext uri="{BB962C8B-B14F-4D97-AF65-F5344CB8AC3E}">
        <p14:creationId xmlns:p14="http://schemas.microsoft.com/office/powerpoint/2010/main" val="361853281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3EAAF-4A29-DB13-D04F-88E7C2899419}"/>
            </a:ext>
          </a:extLst>
        </p:cNvPr>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D66D68E4-5463-18F7-06F5-F38AE4D55C99}"/>
              </a:ext>
            </a:extLst>
          </p:cNvPr>
          <p:cNvSpPr>
            <a:spLocks noGrp="1"/>
          </p:cNvSpPr>
          <p:nvPr>
            <p:ph type="sldNum" sz="quarter" idx="12"/>
          </p:nvPr>
        </p:nvSpPr>
        <p:spPr>
          <a:xfrm>
            <a:off x="11458576" y="6400800"/>
            <a:ext cx="602794" cy="417327"/>
          </a:xfrm>
        </p:spPr>
        <p:txBody>
          <a:bodyPr vert="horz" lIns="91440" tIns="45720" rIns="91440" bIns="45720" rtlCol="0" anchor="ctr">
            <a:noAutofit/>
          </a:bodyPr>
          <a:lstStyle/>
          <a:p>
            <a:pPr>
              <a:spcAft>
                <a:spcPts val="600"/>
              </a:spcAft>
            </a:pPr>
            <a:fld id="{CC057153-B650-4DEB-B370-79DDCFDCE934}" type="slidenum">
              <a:rPr lang="en-US" sz="2400" smtClean="0"/>
              <a:pPr>
                <a:spcAft>
                  <a:spcPts val="600"/>
                </a:spcAft>
              </a:pPr>
              <a:t>19</a:t>
            </a:fld>
            <a:endParaRPr lang="en-US" sz="2400" dirty="0"/>
          </a:p>
        </p:txBody>
      </p:sp>
      <p:graphicFrame>
        <p:nvGraphicFramePr>
          <p:cNvPr id="9" name="表格 8">
            <a:extLst>
              <a:ext uri="{FF2B5EF4-FFF2-40B4-BE49-F238E27FC236}">
                <a16:creationId xmlns:a16="http://schemas.microsoft.com/office/drawing/2014/main" id="{A705A40A-5C01-5950-2FAC-B3C4C61B32FA}"/>
              </a:ext>
            </a:extLst>
          </p:cNvPr>
          <p:cNvGraphicFramePr>
            <a:graphicFrameLocks noGrp="1"/>
          </p:cNvGraphicFramePr>
          <p:nvPr>
            <p:extLst>
              <p:ext uri="{D42A27DB-BD31-4B8C-83A1-F6EECF244321}">
                <p14:modId xmlns:p14="http://schemas.microsoft.com/office/powerpoint/2010/main" val="3502594578"/>
              </p:ext>
            </p:extLst>
          </p:nvPr>
        </p:nvGraphicFramePr>
        <p:xfrm>
          <a:off x="136753" y="39874"/>
          <a:ext cx="11918493" cy="1597566"/>
        </p:xfrm>
        <a:graphic>
          <a:graphicData uri="http://schemas.openxmlformats.org/drawingml/2006/table">
            <a:tbl>
              <a:tblPr firstRow="1" bandRow="1">
                <a:tableStyleId>{5C22544A-7EE6-4342-B048-85BDC9FD1C3A}</a:tableStyleId>
              </a:tblPr>
              <a:tblGrid>
                <a:gridCol w="6243243">
                  <a:extLst>
                    <a:ext uri="{9D8B030D-6E8A-4147-A177-3AD203B41FA5}">
                      <a16:colId xmlns:a16="http://schemas.microsoft.com/office/drawing/2014/main" val="1340665412"/>
                    </a:ext>
                  </a:extLst>
                </a:gridCol>
                <a:gridCol w="1871576">
                  <a:extLst>
                    <a:ext uri="{9D8B030D-6E8A-4147-A177-3AD203B41FA5}">
                      <a16:colId xmlns:a16="http://schemas.microsoft.com/office/drawing/2014/main" val="4247696271"/>
                    </a:ext>
                  </a:extLst>
                </a:gridCol>
                <a:gridCol w="1941410">
                  <a:extLst>
                    <a:ext uri="{9D8B030D-6E8A-4147-A177-3AD203B41FA5}">
                      <a16:colId xmlns:a16="http://schemas.microsoft.com/office/drawing/2014/main" val="209357475"/>
                    </a:ext>
                  </a:extLst>
                </a:gridCol>
                <a:gridCol w="1862264">
                  <a:extLst>
                    <a:ext uri="{9D8B030D-6E8A-4147-A177-3AD203B41FA5}">
                      <a16:colId xmlns:a16="http://schemas.microsoft.com/office/drawing/2014/main" val="137647530"/>
                    </a:ext>
                  </a:extLst>
                </a:gridCol>
              </a:tblGrid>
              <a:tr h="628059">
                <a:tc rowSpan="2">
                  <a:txBody>
                    <a:bodyPr/>
                    <a:lstStyle/>
                    <a:p>
                      <a:pPr marL="0" indent="0">
                        <a:buNone/>
                      </a:pPr>
                      <a:r>
                        <a:rPr lang="en-US" altLang="zh-TW" sz="2400" dirty="0"/>
                        <a:t>10.  Can the results be applied to your local population/in your context?</a:t>
                      </a:r>
                    </a:p>
                    <a:p>
                      <a:pPr marL="0" indent="0">
                        <a:buNone/>
                      </a:pPr>
                      <a:r>
                        <a:rPr lang="zh-TW" altLang="en-US" sz="2400" dirty="0"/>
                        <a:t>研究結果是否可以應用在你的情境當中（或當地族群？）</a:t>
                      </a: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YES</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Can’t tell</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NO</a:t>
                      </a:r>
                      <a:endParaRPr lang="zh-TW" altLang="en-US" sz="2400"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493887565"/>
                  </a:ext>
                </a:extLst>
              </a:tr>
              <a:tr h="774606">
                <a:tc vMerge="1">
                  <a:txBody>
                    <a:bodyPr/>
                    <a:lstStyle/>
                    <a:p>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4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prstClr val="black"/>
                          </a:solidFill>
                          <a:effectLst/>
                          <a:uLnTx/>
                          <a:uFillTx/>
                          <a:latin typeface="+mn-lt"/>
                          <a:ea typeface="+mn-ea"/>
                          <a:cs typeface="+mn-cs"/>
                        </a:rPr>
                        <a:t>V</a:t>
                      </a:r>
                      <a:endParaRPr kumimoji="0" lang="zh-TW" altLang="en-US" sz="2400" b="1" i="0" u="none" strike="noStrike" kern="1200" cap="none" spc="0" normalizeH="0" baseline="0" noProof="0" dirty="0">
                        <a:ln>
                          <a:noFill/>
                        </a:ln>
                        <a:solidFill>
                          <a:prstClr val="black"/>
                        </a:solidFill>
                        <a:effectLst/>
                        <a:uLnTx/>
                        <a:uFillTx/>
                        <a:latin typeface="+mn-lt"/>
                        <a:ea typeface="+mn-ea"/>
                        <a:cs typeface="+mn-cs"/>
                      </a:endParaRP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TW" altLang="en-US" sz="2400" b="1" dirty="0"/>
                    </a:p>
                    <a:p>
                      <a:endParaRPr lang="zh-TW" altLang="en-US" dirty="0"/>
                    </a:p>
                  </a:txBody>
                  <a:tcPr anchor="ctr"/>
                </a:tc>
                <a:extLst>
                  <a:ext uri="{0D108BD9-81ED-4DB2-BD59-A6C34878D82A}">
                    <a16:rowId xmlns:a16="http://schemas.microsoft.com/office/drawing/2014/main" val="3333484914"/>
                  </a:ext>
                </a:extLst>
              </a:tr>
            </a:tbl>
          </a:graphicData>
        </a:graphic>
      </p:graphicFrame>
      <p:sp>
        <p:nvSpPr>
          <p:cNvPr id="12" name="文字方塊 11">
            <a:extLst>
              <a:ext uri="{FF2B5EF4-FFF2-40B4-BE49-F238E27FC236}">
                <a16:creationId xmlns:a16="http://schemas.microsoft.com/office/drawing/2014/main" id="{1F67D20F-FAE0-3D4E-ECDD-E468D762CFEE}"/>
              </a:ext>
            </a:extLst>
          </p:cNvPr>
          <p:cNvSpPr txBox="1"/>
          <p:nvPr/>
        </p:nvSpPr>
        <p:spPr>
          <a:xfrm>
            <a:off x="6407347" y="2234359"/>
            <a:ext cx="5383191" cy="954107"/>
          </a:xfrm>
          <a:prstGeom prst="rect">
            <a:avLst/>
          </a:prstGeom>
          <a:noFill/>
        </p:spPr>
        <p:txBody>
          <a:bodyPr wrap="square" rtlCol="0">
            <a:spAutoFit/>
          </a:bodyPr>
          <a:lstStyle/>
          <a:p>
            <a:pPr marL="457200" indent="-457200">
              <a:buFont typeface="Arial" panose="020B0604020202020204" pitchFamily="34" charset="0"/>
              <a:buChar char="•"/>
            </a:pPr>
            <a:r>
              <a:rPr lang="zh-TW" altLang="en-US" sz="2800" dirty="0">
                <a:solidFill>
                  <a:srgbClr val="0070C0"/>
                </a:solidFill>
                <a:latin typeface="Microsoft YaHei" panose="020B0503020204020204" pitchFamily="34" charset="-122"/>
                <a:ea typeface="Microsoft YaHei" panose="020B0503020204020204" pitchFamily="34" charset="-122"/>
              </a:rPr>
              <a:t>本研究為模擬演練，不確定能否外推至臨床實務中。</a:t>
            </a:r>
          </a:p>
        </p:txBody>
      </p:sp>
      <p:pic>
        <p:nvPicPr>
          <p:cNvPr id="6" name="內容版面配置區 5">
            <a:extLst>
              <a:ext uri="{FF2B5EF4-FFF2-40B4-BE49-F238E27FC236}">
                <a16:creationId xmlns:a16="http://schemas.microsoft.com/office/drawing/2014/main" id="{8410B82C-961A-4049-6B7D-F4609259A8F5}"/>
              </a:ext>
            </a:extLst>
          </p:cNvPr>
          <p:cNvPicPr>
            <a:picLocks noGrp="1" noChangeAspect="1"/>
          </p:cNvPicPr>
          <p:nvPr>
            <p:ph idx="1"/>
          </p:nvPr>
        </p:nvPicPr>
        <p:blipFill>
          <a:blip r:embed="rId2"/>
          <a:stretch>
            <a:fillRect/>
          </a:stretch>
        </p:blipFill>
        <p:spPr>
          <a:xfrm>
            <a:off x="484912" y="2061127"/>
            <a:ext cx="5470273" cy="3569689"/>
          </a:xfrm>
        </p:spPr>
      </p:pic>
    </p:spTree>
    <p:extLst>
      <p:ext uri="{BB962C8B-B14F-4D97-AF65-F5344CB8AC3E}">
        <p14:creationId xmlns:p14="http://schemas.microsoft.com/office/powerpoint/2010/main" val="97706993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F3DAE-9408-605F-7913-2968F464674E}"/>
            </a:ext>
          </a:extLst>
        </p:cNvPr>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2563045F-5C34-FBD4-F77E-1319D83DBAB9}"/>
              </a:ext>
            </a:extLst>
          </p:cNvPr>
          <p:cNvSpPr>
            <a:spLocks noGrp="1"/>
          </p:cNvSpPr>
          <p:nvPr>
            <p:ph type="sldNum" sz="quarter" idx="12"/>
          </p:nvPr>
        </p:nvSpPr>
        <p:spPr>
          <a:xfrm>
            <a:off x="11515726" y="6386514"/>
            <a:ext cx="545644" cy="431614"/>
          </a:xfrm>
        </p:spPr>
        <p:txBody>
          <a:bodyPr vert="horz" lIns="91440" tIns="45720" rIns="91440" bIns="45720" rtlCol="0" anchor="ctr">
            <a:noAutofit/>
          </a:bodyPr>
          <a:lstStyle/>
          <a:p>
            <a:pPr>
              <a:spcAft>
                <a:spcPts val="600"/>
              </a:spcAft>
            </a:pPr>
            <a:fld id="{CC057153-B650-4DEB-B370-79DDCFDCE934}" type="slidenum">
              <a:rPr lang="en-US" sz="2000" smtClean="0"/>
              <a:pPr>
                <a:spcAft>
                  <a:spcPts val="600"/>
                </a:spcAft>
              </a:pPr>
              <a:t>20</a:t>
            </a:fld>
            <a:endParaRPr lang="en-US" sz="2000" dirty="0"/>
          </a:p>
        </p:txBody>
      </p:sp>
      <p:graphicFrame>
        <p:nvGraphicFramePr>
          <p:cNvPr id="9" name="表格 8">
            <a:extLst>
              <a:ext uri="{FF2B5EF4-FFF2-40B4-BE49-F238E27FC236}">
                <a16:creationId xmlns:a16="http://schemas.microsoft.com/office/drawing/2014/main" id="{33E7C471-E7EB-B895-F3D9-AFA9792502DE}"/>
              </a:ext>
            </a:extLst>
          </p:cNvPr>
          <p:cNvGraphicFramePr>
            <a:graphicFrameLocks noGrp="1"/>
          </p:cNvGraphicFramePr>
          <p:nvPr>
            <p:extLst>
              <p:ext uri="{D42A27DB-BD31-4B8C-83A1-F6EECF244321}">
                <p14:modId xmlns:p14="http://schemas.microsoft.com/office/powerpoint/2010/main" val="2381641276"/>
              </p:ext>
            </p:extLst>
          </p:nvPr>
        </p:nvGraphicFramePr>
        <p:xfrm>
          <a:off x="136753" y="39874"/>
          <a:ext cx="11918493" cy="2286000"/>
        </p:xfrm>
        <a:graphic>
          <a:graphicData uri="http://schemas.openxmlformats.org/drawingml/2006/table">
            <a:tbl>
              <a:tblPr firstRow="1" bandRow="1">
                <a:tableStyleId>{5C22544A-7EE6-4342-B048-85BDC9FD1C3A}</a:tableStyleId>
              </a:tblPr>
              <a:tblGrid>
                <a:gridCol w="6243243">
                  <a:extLst>
                    <a:ext uri="{9D8B030D-6E8A-4147-A177-3AD203B41FA5}">
                      <a16:colId xmlns:a16="http://schemas.microsoft.com/office/drawing/2014/main" val="1340665412"/>
                    </a:ext>
                  </a:extLst>
                </a:gridCol>
                <a:gridCol w="1871576">
                  <a:extLst>
                    <a:ext uri="{9D8B030D-6E8A-4147-A177-3AD203B41FA5}">
                      <a16:colId xmlns:a16="http://schemas.microsoft.com/office/drawing/2014/main" val="4247696271"/>
                    </a:ext>
                  </a:extLst>
                </a:gridCol>
                <a:gridCol w="1941410">
                  <a:extLst>
                    <a:ext uri="{9D8B030D-6E8A-4147-A177-3AD203B41FA5}">
                      <a16:colId xmlns:a16="http://schemas.microsoft.com/office/drawing/2014/main" val="209357475"/>
                    </a:ext>
                  </a:extLst>
                </a:gridCol>
                <a:gridCol w="1862264">
                  <a:extLst>
                    <a:ext uri="{9D8B030D-6E8A-4147-A177-3AD203B41FA5}">
                      <a16:colId xmlns:a16="http://schemas.microsoft.com/office/drawing/2014/main" val="137647530"/>
                    </a:ext>
                  </a:extLst>
                </a:gridCol>
              </a:tblGrid>
              <a:tr h="628059">
                <a:tc rowSpan="2">
                  <a:txBody>
                    <a:bodyPr/>
                    <a:lstStyle/>
                    <a:p>
                      <a:pPr marL="0" indent="0">
                        <a:buNone/>
                      </a:pPr>
                      <a:r>
                        <a:rPr lang="en-US" altLang="zh-TW" sz="2400" dirty="0"/>
                        <a:t>11. Would the experimental intervention</a:t>
                      </a:r>
                      <a:r>
                        <a:rPr lang="zh-TW" altLang="en-US" sz="2400" dirty="0"/>
                        <a:t> </a:t>
                      </a:r>
                      <a:endParaRPr lang="en-US" altLang="zh-TW" sz="2400" dirty="0"/>
                    </a:p>
                    <a:p>
                      <a:pPr marL="0" indent="0">
                        <a:buNone/>
                      </a:pPr>
                      <a:r>
                        <a:rPr lang="en-US" altLang="zh-TW" sz="2400" dirty="0"/>
                        <a:t>provide greater value to the people in your care than any of the existing interventions?</a:t>
                      </a:r>
                    </a:p>
                    <a:p>
                      <a:pPr marL="0" indent="0">
                        <a:buNone/>
                      </a:pPr>
                      <a:r>
                        <a:rPr lang="zh-TW" altLang="en-US" sz="2400" dirty="0"/>
                        <a:t>研究中的介入方法對您的患者們是否比起任何現存介入方式更有價值？</a:t>
                      </a:r>
                      <a:endParaRPr lang="en-US" altLang="zh-TW" sz="2400" dirty="0"/>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YES</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Can’t tell</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latin typeface="Microsoft YaHei" panose="020B0503020204020204" pitchFamily="34" charset="-122"/>
                        <a:ea typeface="Microsoft YaHei" panose="020B0503020204020204" pitchFamily="34" charset="-122"/>
                      </a:endParaRPr>
                    </a:p>
                    <a:p>
                      <a:pPr algn="ctr"/>
                      <a:r>
                        <a:rPr lang="en-US" altLang="zh-TW" sz="2400" dirty="0">
                          <a:latin typeface="Microsoft YaHei" panose="020B0503020204020204" pitchFamily="34" charset="-122"/>
                          <a:ea typeface="Microsoft YaHei" panose="020B0503020204020204" pitchFamily="34" charset="-122"/>
                        </a:rPr>
                        <a:t>NO</a:t>
                      </a:r>
                      <a:endParaRPr lang="zh-TW" altLang="en-US" sz="2400"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493887565"/>
                  </a:ext>
                </a:extLst>
              </a:tr>
              <a:tr h="774606">
                <a:tc vMerge="1">
                  <a:txBody>
                    <a:bodyPr/>
                    <a:lstStyle/>
                    <a:p>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4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prstClr val="black"/>
                          </a:solidFill>
                          <a:effectLst/>
                          <a:uLnTx/>
                          <a:uFillTx/>
                          <a:latin typeface="+mn-lt"/>
                          <a:ea typeface="+mn-ea"/>
                          <a:cs typeface="+mn-cs"/>
                        </a:rPr>
                        <a:t>V</a:t>
                      </a:r>
                      <a:endParaRPr kumimoji="0" lang="zh-TW" altLang="en-US" sz="2400" b="1" i="0" u="none" strike="noStrike" kern="1200" cap="none" spc="0" normalizeH="0" baseline="0" noProof="0" dirty="0">
                        <a:ln>
                          <a:noFill/>
                        </a:ln>
                        <a:solidFill>
                          <a:prstClr val="black"/>
                        </a:solidFill>
                        <a:effectLst/>
                        <a:uLnTx/>
                        <a:uFillTx/>
                        <a:latin typeface="+mn-lt"/>
                        <a:ea typeface="+mn-ea"/>
                        <a:cs typeface="+mn-cs"/>
                      </a:endParaRP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TW" altLang="en-US" sz="2400" b="1" dirty="0"/>
                    </a:p>
                    <a:p>
                      <a:endParaRPr lang="zh-TW" altLang="en-US" dirty="0"/>
                    </a:p>
                  </a:txBody>
                  <a:tcPr anchor="ctr"/>
                </a:tc>
                <a:extLst>
                  <a:ext uri="{0D108BD9-81ED-4DB2-BD59-A6C34878D82A}">
                    <a16:rowId xmlns:a16="http://schemas.microsoft.com/office/drawing/2014/main" val="3333484914"/>
                  </a:ext>
                </a:extLst>
              </a:tr>
            </a:tbl>
          </a:graphicData>
        </a:graphic>
      </p:graphicFrame>
      <p:sp>
        <p:nvSpPr>
          <p:cNvPr id="12" name="文字方塊 11">
            <a:extLst>
              <a:ext uri="{FF2B5EF4-FFF2-40B4-BE49-F238E27FC236}">
                <a16:creationId xmlns:a16="http://schemas.microsoft.com/office/drawing/2014/main" id="{963176DD-C981-F5D8-5025-9D5B1A8118A5}"/>
              </a:ext>
            </a:extLst>
          </p:cNvPr>
          <p:cNvSpPr txBox="1"/>
          <p:nvPr/>
        </p:nvSpPr>
        <p:spPr>
          <a:xfrm>
            <a:off x="712808" y="2712400"/>
            <a:ext cx="10802917" cy="954107"/>
          </a:xfrm>
          <a:prstGeom prst="rect">
            <a:avLst/>
          </a:prstGeom>
          <a:noFill/>
        </p:spPr>
        <p:txBody>
          <a:bodyPr wrap="square" rtlCol="0">
            <a:spAutoFit/>
          </a:bodyPr>
          <a:lstStyle/>
          <a:p>
            <a:pPr marL="457200" indent="-457200">
              <a:buFont typeface="Arial" panose="020B0604020202020204" pitchFamily="34" charset="0"/>
              <a:buChar char="•"/>
            </a:pPr>
            <a:r>
              <a:rPr lang="zh-TW" altLang="en-US" sz="2800" dirty="0">
                <a:solidFill>
                  <a:srgbClr val="0070C0"/>
                </a:solidFill>
                <a:latin typeface="Microsoft YaHei" panose="020B0503020204020204" pitchFamily="34" charset="-122"/>
                <a:ea typeface="Microsoft YaHei" panose="020B0503020204020204" pitchFamily="34" charset="-122"/>
              </a:rPr>
              <a:t>音樂節奏有改善整體胸外按壓分數、按壓頻率、按壓深度、達到合格深度比例及胸回彈比例的實務價值，但臨床證據不足。</a:t>
            </a:r>
          </a:p>
        </p:txBody>
      </p:sp>
    </p:spTree>
    <p:extLst>
      <p:ext uri="{BB962C8B-B14F-4D97-AF65-F5344CB8AC3E}">
        <p14:creationId xmlns:p14="http://schemas.microsoft.com/office/powerpoint/2010/main" val="7558017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7AED0-3BCC-E49B-3359-9A786BBF483E}"/>
            </a:ext>
          </a:extLst>
        </p:cNvPr>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9E2C60D6-EB42-D1E8-E3B6-61932CC878CC}"/>
              </a:ext>
            </a:extLst>
          </p:cNvPr>
          <p:cNvSpPr>
            <a:spLocks noGrp="1"/>
          </p:cNvSpPr>
          <p:nvPr>
            <p:ph type="sldNum" sz="quarter" idx="12"/>
          </p:nvPr>
        </p:nvSpPr>
        <p:spPr>
          <a:xfrm>
            <a:off x="11558588" y="6453000"/>
            <a:ext cx="502781" cy="365127"/>
          </a:xfrm>
        </p:spPr>
        <p:txBody>
          <a:bodyPr vert="horz" lIns="91440" tIns="45720" rIns="91440" bIns="45720" rtlCol="0" anchor="ctr">
            <a:noAutofit/>
          </a:bodyPr>
          <a:lstStyle/>
          <a:p>
            <a:pPr>
              <a:spcAft>
                <a:spcPts val="600"/>
              </a:spcAft>
            </a:pPr>
            <a:fld id="{CC057153-B650-4DEB-B370-79DDCFDCE934}" type="slidenum">
              <a:rPr lang="en-US" sz="2000" smtClean="0"/>
              <a:pPr>
                <a:spcAft>
                  <a:spcPts val="600"/>
                </a:spcAft>
              </a:pPr>
              <a:t>21</a:t>
            </a:fld>
            <a:endParaRPr lang="en-US" sz="2000" dirty="0"/>
          </a:p>
        </p:txBody>
      </p:sp>
      <p:graphicFrame>
        <p:nvGraphicFramePr>
          <p:cNvPr id="9" name="表格 8">
            <a:extLst>
              <a:ext uri="{FF2B5EF4-FFF2-40B4-BE49-F238E27FC236}">
                <a16:creationId xmlns:a16="http://schemas.microsoft.com/office/drawing/2014/main" id="{0BBE5121-344F-F659-EFB9-1874B2706B78}"/>
              </a:ext>
            </a:extLst>
          </p:cNvPr>
          <p:cNvGraphicFramePr>
            <a:graphicFrameLocks noGrp="1"/>
          </p:cNvGraphicFramePr>
          <p:nvPr>
            <p:extLst>
              <p:ext uri="{D42A27DB-BD31-4B8C-83A1-F6EECF244321}">
                <p14:modId xmlns:p14="http://schemas.microsoft.com/office/powerpoint/2010/main" val="621051515"/>
              </p:ext>
            </p:extLst>
          </p:nvPr>
        </p:nvGraphicFramePr>
        <p:xfrm>
          <a:off x="142876" y="39872"/>
          <a:ext cx="11918494" cy="1663209"/>
        </p:xfrm>
        <a:graphic>
          <a:graphicData uri="http://schemas.openxmlformats.org/drawingml/2006/table">
            <a:tbl>
              <a:tblPr firstRow="1" bandRow="1">
                <a:tableStyleId>{91EBBBCC-DAD2-459C-BE2E-F6DE35CF9A28}</a:tableStyleId>
              </a:tblPr>
              <a:tblGrid>
                <a:gridCol w="6243243">
                  <a:extLst>
                    <a:ext uri="{9D8B030D-6E8A-4147-A177-3AD203B41FA5}">
                      <a16:colId xmlns:a16="http://schemas.microsoft.com/office/drawing/2014/main" val="1340665412"/>
                    </a:ext>
                  </a:extLst>
                </a:gridCol>
                <a:gridCol w="1871576">
                  <a:extLst>
                    <a:ext uri="{9D8B030D-6E8A-4147-A177-3AD203B41FA5}">
                      <a16:colId xmlns:a16="http://schemas.microsoft.com/office/drawing/2014/main" val="4247696271"/>
                    </a:ext>
                  </a:extLst>
                </a:gridCol>
                <a:gridCol w="1941410">
                  <a:extLst>
                    <a:ext uri="{9D8B030D-6E8A-4147-A177-3AD203B41FA5}">
                      <a16:colId xmlns:a16="http://schemas.microsoft.com/office/drawing/2014/main" val="209357475"/>
                    </a:ext>
                  </a:extLst>
                </a:gridCol>
                <a:gridCol w="1862265">
                  <a:extLst>
                    <a:ext uri="{9D8B030D-6E8A-4147-A177-3AD203B41FA5}">
                      <a16:colId xmlns:a16="http://schemas.microsoft.com/office/drawing/2014/main" val="137647530"/>
                    </a:ext>
                  </a:extLst>
                </a:gridCol>
              </a:tblGrid>
              <a:tr h="661504">
                <a:tc rowSpan="2">
                  <a:txBody>
                    <a:bodyPr/>
                    <a:lstStyle/>
                    <a:p>
                      <a:pPr marL="342900" indent="-342900">
                        <a:buAutoNum type="arabicPeriod"/>
                      </a:pPr>
                      <a:endParaRPr lang="en-US" altLang="zh-TW" sz="2400" dirty="0"/>
                    </a:p>
                    <a:p>
                      <a:pPr marL="0" indent="0">
                        <a:buNone/>
                      </a:pPr>
                      <a:r>
                        <a:rPr lang="en-US" altLang="zh-TW" sz="2400" dirty="0"/>
                        <a:t>1. Did the study address a clearly formulated research question?</a:t>
                      </a:r>
                    </a:p>
                    <a:p>
                      <a:pPr marL="0" indent="0">
                        <a:buNone/>
                      </a:pPr>
                      <a:r>
                        <a:rPr lang="zh-TW" altLang="en-US" sz="2400" dirty="0"/>
                        <a:t>研究是否提出明確的研究問題？</a:t>
                      </a:r>
                    </a:p>
                  </a:txBody>
                  <a:tcPr/>
                </a:tc>
                <a:tc>
                  <a:txBody>
                    <a:bodyPr/>
                    <a:lstStyle/>
                    <a:p>
                      <a:pPr algn="ctr"/>
                      <a:endParaRPr lang="en-US" altLang="zh-TW" sz="2400" dirty="0"/>
                    </a:p>
                    <a:p>
                      <a:pPr algn="ctr"/>
                      <a:r>
                        <a:rPr lang="en-US" altLang="zh-TW" sz="2400" dirty="0"/>
                        <a:t>YES</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p>
                    <a:p>
                      <a:pPr algn="ctr"/>
                      <a:r>
                        <a:rPr lang="en-US" altLang="zh-TW" sz="2400" dirty="0"/>
                        <a:t>Can’t tell</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p>
                    <a:p>
                      <a:pPr algn="ctr"/>
                      <a:r>
                        <a:rPr lang="en-US" altLang="zh-TW" sz="2400" dirty="0"/>
                        <a:t>NO</a:t>
                      </a:r>
                      <a:endParaRPr lang="zh-TW" altLang="en-US" sz="2400"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493887565"/>
                  </a:ext>
                </a:extLst>
              </a:tr>
              <a:tr h="840249">
                <a:tc vMerge="1">
                  <a:txBody>
                    <a:bodyPr/>
                    <a:lstStyle/>
                    <a:p>
                      <a:endParaRPr lang="zh-TW" altLang="en-US" dirty="0"/>
                    </a:p>
                  </a:txBody>
                  <a:tcPr/>
                </a:tc>
                <a:tc>
                  <a:txBody>
                    <a:bodyPr/>
                    <a:lstStyle/>
                    <a:p>
                      <a:pPr algn="ctr"/>
                      <a:r>
                        <a:rPr lang="en-US" altLang="zh-TW" sz="2400" b="1" dirty="0">
                          <a:solidFill>
                            <a:sysClr val="windowText" lastClr="000000"/>
                          </a:solidFill>
                        </a:rPr>
                        <a:t>V</a:t>
                      </a:r>
                      <a:endParaRPr lang="zh-TW" altLang="en-US" sz="2400" b="1" dirty="0">
                        <a:solidFill>
                          <a:sysClr val="windowText" lastClr="000000"/>
                        </a:solidFill>
                      </a:endParaRPr>
                    </a:p>
                  </a:txBody>
                  <a:tcPr anchor="ct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3333484914"/>
                  </a:ext>
                </a:extLst>
              </a:tr>
            </a:tbl>
          </a:graphicData>
        </a:graphic>
      </p:graphicFrame>
      <p:pic>
        <p:nvPicPr>
          <p:cNvPr id="16" name="內容版面配置區 15">
            <a:extLst>
              <a:ext uri="{FF2B5EF4-FFF2-40B4-BE49-F238E27FC236}">
                <a16:creationId xmlns:a16="http://schemas.microsoft.com/office/drawing/2014/main" id="{9FF2D4CB-D3F5-6A6B-0247-4170894214C5}"/>
              </a:ext>
            </a:extLst>
          </p:cNvPr>
          <p:cNvPicPr>
            <a:picLocks noGrp="1" noChangeAspect="1"/>
          </p:cNvPicPr>
          <p:nvPr>
            <p:ph idx="1"/>
          </p:nvPr>
        </p:nvPicPr>
        <p:blipFill>
          <a:blip r:embed="rId2"/>
          <a:stretch>
            <a:fillRect/>
          </a:stretch>
        </p:blipFill>
        <p:spPr>
          <a:xfrm>
            <a:off x="893754" y="1910105"/>
            <a:ext cx="8905875" cy="4542896"/>
          </a:xfrm>
        </p:spPr>
      </p:pic>
      <p:pic>
        <p:nvPicPr>
          <p:cNvPr id="11" name="圖片 10">
            <a:extLst>
              <a:ext uri="{FF2B5EF4-FFF2-40B4-BE49-F238E27FC236}">
                <a16:creationId xmlns:a16="http://schemas.microsoft.com/office/drawing/2014/main" id="{B8D478AC-3EB5-B57D-C757-BE29B9978923}"/>
              </a:ext>
            </a:extLst>
          </p:cNvPr>
          <p:cNvPicPr>
            <a:picLocks noChangeAspect="1"/>
          </p:cNvPicPr>
          <p:nvPr/>
        </p:nvPicPr>
        <p:blipFill>
          <a:blip r:embed="rId3"/>
          <a:stretch>
            <a:fillRect/>
          </a:stretch>
        </p:blipFill>
        <p:spPr>
          <a:xfrm>
            <a:off x="1792587" y="2073642"/>
            <a:ext cx="10054178" cy="4215821"/>
          </a:xfrm>
          <a:prstGeom prst="rect">
            <a:avLst/>
          </a:prstGeom>
        </p:spPr>
      </p:pic>
    </p:spTree>
    <p:extLst>
      <p:ext uri="{BB962C8B-B14F-4D97-AF65-F5344CB8AC3E}">
        <p14:creationId xmlns:p14="http://schemas.microsoft.com/office/powerpoint/2010/main" val="91172078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8E36F-0490-3AAF-E9E4-A76CB4CDA702}"/>
            </a:ext>
          </a:extLst>
        </p:cNvPr>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CE165215-C23C-C022-C871-0CA6900ED254}"/>
              </a:ext>
            </a:extLst>
          </p:cNvPr>
          <p:cNvSpPr>
            <a:spLocks noGrp="1"/>
          </p:cNvSpPr>
          <p:nvPr>
            <p:ph type="sldNum" sz="quarter" idx="12"/>
          </p:nvPr>
        </p:nvSpPr>
        <p:spPr>
          <a:xfrm>
            <a:off x="11472864" y="6515100"/>
            <a:ext cx="588506" cy="303027"/>
          </a:xfrm>
        </p:spPr>
        <p:txBody>
          <a:bodyPr vert="horz" lIns="91440" tIns="45720" rIns="91440" bIns="45720" rtlCol="0" anchor="ctr">
            <a:noAutofit/>
          </a:bodyPr>
          <a:lstStyle/>
          <a:p>
            <a:pPr>
              <a:spcAft>
                <a:spcPts val="600"/>
              </a:spcAft>
            </a:pPr>
            <a:fld id="{CC057153-B650-4DEB-B370-79DDCFDCE934}" type="slidenum">
              <a:rPr lang="en-US" sz="2400" smtClean="0"/>
              <a:pPr>
                <a:spcAft>
                  <a:spcPts val="600"/>
                </a:spcAft>
              </a:pPr>
              <a:t>22</a:t>
            </a:fld>
            <a:endParaRPr lang="en-US" sz="2400" dirty="0"/>
          </a:p>
        </p:txBody>
      </p:sp>
      <p:graphicFrame>
        <p:nvGraphicFramePr>
          <p:cNvPr id="9" name="表格 8">
            <a:extLst>
              <a:ext uri="{FF2B5EF4-FFF2-40B4-BE49-F238E27FC236}">
                <a16:creationId xmlns:a16="http://schemas.microsoft.com/office/drawing/2014/main" id="{F22ECA7C-9BB9-4666-1A6D-4BB0BB6DA42B}"/>
              </a:ext>
            </a:extLst>
          </p:cNvPr>
          <p:cNvGraphicFramePr>
            <a:graphicFrameLocks noGrp="1"/>
          </p:cNvGraphicFramePr>
          <p:nvPr>
            <p:extLst>
              <p:ext uri="{D42A27DB-BD31-4B8C-83A1-F6EECF244321}">
                <p14:modId xmlns:p14="http://schemas.microsoft.com/office/powerpoint/2010/main" val="755693483"/>
              </p:ext>
            </p:extLst>
          </p:nvPr>
        </p:nvGraphicFramePr>
        <p:xfrm>
          <a:off x="142876" y="39872"/>
          <a:ext cx="11918494" cy="1663209"/>
        </p:xfrm>
        <a:graphic>
          <a:graphicData uri="http://schemas.openxmlformats.org/drawingml/2006/table">
            <a:tbl>
              <a:tblPr firstRow="1" bandRow="1">
                <a:tableStyleId>{91EBBBCC-DAD2-459C-BE2E-F6DE35CF9A28}</a:tableStyleId>
              </a:tblPr>
              <a:tblGrid>
                <a:gridCol w="6243243">
                  <a:extLst>
                    <a:ext uri="{9D8B030D-6E8A-4147-A177-3AD203B41FA5}">
                      <a16:colId xmlns:a16="http://schemas.microsoft.com/office/drawing/2014/main" val="1340665412"/>
                    </a:ext>
                  </a:extLst>
                </a:gridCol>
                <a:gridCol w="1871576">
                  <a:extLst>
                    <a:ext uri="{9D8B030D-6E8A-4147-A177-3AD203B41FA5}">
                      <a16:colId xmlns:a16="http://schemas.microsoft.com/office/drawing/2014/main" val="4247696271"/>
                    </a:ext>
                  </a:extLst>
                </a:gridCol>
                <a:gridCol w="1941410">
                  <a:extLst>
                    <a:ext uri="{9D8B030D-6E8A-4147-A177-3AD203B41FA5}">
                      <a16:colId xmlns:a16="http://schemas.microsoft.com/office/drawing/2014/main" val="209357475"/>
                    </a:ext>
                  </a:extLst>
                </a:gridCol>
                <a:gridCol w="1862265">
                  <a:extLst>
                    <a:ext uri="{9D8B030D-6E8A-4147-A177-3AD203B41FA5}">
                      <a16:colId xmlns:a16="http://schemas.microsoft.com/office/drawing/2014/main" val="137647530"/>
                    </a:ext>
                  </a:extLst>
                </a:gridCol>
              </a:tblGrid>
              <a:tr h="661504">
                <a:tc rowSpan="2">
                  <a:txBody>
                    <a:bodyPr/>
                    <a:lstStyle/>
                    <a:p>
                      <a:pPr marL="0" indent="0">
                        <a:buNone/>
                      </a:pPr>
                      <a:endParaRPr lang="en-US" altLang="zh-TW" sz="2400" dirty="0"/>
                    </a:p>
                    <a:p>
                      <a:pPr marL="0" indent="0">
                        <a:buNone/>
                      </a:pPr>
                      <a:r>
                        <a:rPr lang="en-US" altLang="zh-TW" sz="2400" dirty="0"/>
                        <a:t>2. Was the assignment of participants to interventions </a:t>
                      </a:r>
                      <a:r>
                        <a:rPr lang="en-US" altLang="zh-TW" sz="2400" dirty="0" err="1"/>
                        <a:t>randomised</a:t>
                      </a:r>
                      <a:r>
                        <a:rPr lang="en-US" altLang="zh-TW" sz="24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2400" dirty="0"/>
                        <a:t>受試者是否被隨機分派到不同組別？</a:t>
                      </a:r>
                    </a:p>
                  </a:txBody>
                  <a:tcPr/>
                </a:tc>
                <a:tc>
                  <a:txBody>
                    <a:bodyPr/>
                    <a:lstStyle/>
                    <a:p>
                      <a:pPr algn="ctr"/>
                      <a:endParaRPr lang="en-US" altLang="zh-TW" sz="2400" dirty="0"/>
                    </a:p>
                    <a:p>
                      <a:pPr algn="ctr"/>
                      <a:r>
                        <a:rPr lang="en-US" altLang="zh-TW" sz="2400" dirty="0"/>
                        <a:t>YES</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p>
                    <a:p>
                      <a:pPr algn="ctr"/>
                      <a:r>
                        <a:rPr lang="en-US" altLang="zh-TW" sz="2400" dirty="0"/>
                        <a:t>Can’t tell</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p>
                    <a:p>
                      <a:pPr algn="ctr"/>
                      <a:r>
                        <a:rPr lang="en-US" altLang="zh-TW" sz="2400" dirty="0"/>
                        <a:t>NO</a:t>
                      </a:r>
                      <a:endParaRPr lang="zh-TW" altLang="en-US" sz="2400"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493887565"/>
                  </a:ext>
                </a:extLst>
              </a:tr>
              <a:tr h="840249">
                <a:tc vMerge="1">
                  <a:txBody>
                    <a:bodyPr/>
                    <a:lstStyle/>
                    <a:p>
                      <a:endParaRPr lang="zh-TW" altLang="en-US" dirty="0"/>
                    </a:p>
                  </a:txBody>
                  <a:tcPr/>
                </a:tc>
                <a:tc>
                  <a:txBody>
                    <a:bodyPr/>
                    <a:lstStyle/>
                    <a:p>
                      <a:pPr algn="ctr"/>
                      <a:r>
                        <a:rPr lang="en-US" altLang="zh-TW" sz="2400" b="1" dirty="0"/>
                        <a:t>V</a:t>
                      </a:r>
                      <a:endParaRPr lang="zh-TW" altLang="en-US" sz="2400" b="1" dirty="0"/>
                    </a:p>
                  </a:txBody>
                  <a:tcPr anchor="ct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3333484914"/>
                  </a:ext>
                </a:extLst>
              </a:tr>
            </a:tbl>
          </a:graphicData>
        </a:graphic>
      </p:graphicFrame>
      <p:sp>
        <p:nvSpPr>
          <p:cNvPr id="12" name="文字方塊 11">
            <a:extLst>
              <a:ext uri="{FF2B5EF4-FFF2-40B4-BE49-F238E27FC236}">
                <a16:creationId xmlns:a16="http://schemas.microsoft.com/office/drawing/2014/main" id="{A7C37EBE-FEB3-A806-5BF2-CB65C316298F}"/>
              </a:ext>
            </a:extLst>
          </p:cNvPr>
          <p:cNvSpPr txBox="1"/>
          <p:nvPr/>
        </p:nvSpPr>
        <p:spPr>
          <a:xfrm>
            <a:off x="6629401" y="2693046"/>
            <a:ext cx="4731299" cy="1384995"/>
          </a:xfrm>
          <a:prstGeom prst="rect">
            <a:avLst/>
          </a:prstGeom>
          <a:noFill/>
        </p:spPr>
        <p:txBody>
          <a:bodyPr wrap="square" rtlCol="0">
            <a:spAutoFit/>
          </a:bodyPr>
          <a:lstStyle/>
          <a:p>
            <a:pPr marL="457200" indent="-457200">
              <a:buFont typeface="Arial" panose="020B0604020202020204" pitchFamily="34" charset="0"/>
              <a:buChar char="•"/>
            </a:pPr>
            <a:r>
              <a:rPr lang="zh-TW" altLang="en-US" sz="2800" dirty="0">
                <a:solidFill>
                  <a:srgbClr val="0070C0"/>
                </a:solidFill>
                <a:latin typeface="Microsoft YaHei" panose="020B0503020204020204" pitchFamily="34" charset="-122"/>
                <a:ea typeface="Microsoft YaHei" panose="020B0503020204020204" pitchFamily="34" charset="-122"/>
              </a:rPr>
              <a:t>透過擲硬幣方式將</a:t>
            </a:r>
            <a:r>
              <a:rPr lang="en-US" altLang="zh-TW" sz="2800" dirty="0">
                <a:solidFill>
                  <a:srgbClr val="0070C0"/>
                </a:solidFill>
                <a:latin typeface="Microsoft YaHei" panose="020B0503020204020204" pitchFamily="34" charset="-122"/>
                <a:ea typeface="Microsoft YaHei" panose="020B0503020204020204" pitchFamily="34" charset="-122"/>
              </a:rPr>
              <a:t>80</a:t>
            </a:r>
            <a:r>
              <a:rPr lang="zh-TW" altLang="en-US" sz="2800" dirty="0">
                <a:solidFill>
                  <a:srgbClr val="0070C0"/>
                </a:solidFill>
                <a:latin typeface="Microsoft YaHei" panose="020B0503020204020204" pitchFamily="34" charset="-122"/>
                <a:ea typeface="Microsoft YaHei" panose="020B0503020204020204" pitchFamily="34" charset="-122"/>
              </a:rPr>
              <a:t>名受試者隨機分配到實驗組及對照組。</a:t>
            </a:r>
          </a:p>
        </p:txBody>
      </p:sp>
      <p:pic>
        <p:nvPicPr>
          <p:cNvPr id="7" name="內容版面配置區 6">
            <a:extLst>
              <a:ext uri="{FF2B5EF4-FFF2-40B4-BE49-F238E27FC236}">
                <a16:creationId xmlns:a16="http://schemas.microsoft.com/office/drawing/2014/main" id="{F26F00D5-A5EA-2CFD-2F5F-711873107516}"/>
              </a:ext>
            </a:extLst>
          </p:cNvPr>
          <p:cNvPicPr>
            <a:picLocks noGrp="1" noChangeAspect="1"/>
          </p:cNvPicPr>
          <p:nvPr>
            <p:ph idx="1"/>
          </p:nvPr>
        </p:nvPicPr>
        <p:blipFill>
          <a:blip r:embed="rId2"/>
          <a:stretch>
            <a:fillRect/>
          </a:stretch>
        </p:blipFill>
        <p:spPr>
          <a:xfrm>
            <a:off x="480342" y="2027697"/>
            <a:ext cx="5443572" cy="3815891"/>
          </a:xfrm>
        </p:spPr>
      </p:pic>
    </p:spTree>
    <p:extLst>
      <p:ext uri="{BB962C8B-B14F-4D97-AF65-F5344CB8AC3E}">
        <p14:creationId xmlns:p14="http://schemas.microsoft.com/office/powerpoint/2010/main" val="286783402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24703-F5ED-6A3E-5219-15D4C6E5C2C5}"/>
            </a:ext>
          </a:extLst>
        </p:cNvPr>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EF916462-2D93-DD59-3FB6-339D48846107}"/>
              </a:ext>
            </a:extLst>
          </p:cNvPr>
          <p:cNvSpPr>
            <a:spLocks noGrp="1"/>
          </p:cNvSpPr>
          <p:nvPr>
            <p:ph type="sldNum" sz="quarter" idx="12"/>
          </p:nvPr>
        </p:nvSpPr>
        <p:spPr>
          <a:xfrm>
            <a:off x="11472864" y="6472238"/>
            <a:ext cx="588506" cy="345889"/>
          </a:xfrm>
        </p:spPr>
        <p:txBody>
          <a:bodyPr vert="horz" lIns="91440" tIns="45720" rIns="91440" bIns="45720" rtlCol="0" anchor="ctr">
            <a:noAutofit/>
          </a:bodyPr>
          <a:lstStyle/>
          <a:p>
            <a:pPr>
              <a:spcAft>
                <a:spcPts val="600"/>
              </a:spcAft>
            </a:pPr>
            <a:fld id="{CC057153-B650-4DEB-B370-79DDCFDCE934}" type="slidenum">
              <a:rPr lang="en-US" sz="2400" smtClean="0"/>
              <a:pPr>
                <a:spcAft>
                  <a:spcPts val="600"/>
                </a:spcAft>
              </a:pPr>
              <a:t>23</a:t>
            </a:fld>
            <a:endParaRPr lang="en-US" sz="2400" dirty="0"/>
          </a:p>
        </p:txBody>
      </p:sp>
      <p:graphicFrame>
        <p:nvGraphicFramePr>
          <p:cNvPr id="9" name="表格 8">
            <a:extLst>
              <a:ext uri="{FF2B5EF4-FFF2-40B4-BE49-F238E27FC236}">
                <a16:creationId xmlns:a16="http://schemas.microsoft.com/office/drawing/2014/main" id="{10FFB841-47FA-C6C2-CAC0-BCE5E6CF53B5}"/>
              </a:ext>
            </a:extLst>
          </p:cNvPr>
          <p:cNvGraphicFramePr>
            <a:graphicFrameLocks noGrp="1"/>
          </p:cNvGraphicFramePr>
          <p:nvPr>
            <p:extLst>
              <p:ext uri="{D42A27DB-BD31-4B8C-83A1-F6EECF244321}">
                <p14:modId xmlns:p14="http://schemas.microsoft.com/office/powerpoint/2010/main" val="4029976850"/>
              </p:ext>
            </p:extLst>
          </p:nvPr>
        </p:nvGraphicFramePr>
        <p:xfrm>
          <a:off x="142875" y="39872"/>
          <a:ext cx="11918493" cy="1920240"/>
        </p:xfrm>
        <a:graphic>
          <a:graphicData uri="http://schemas.openxmlformats.org/drawingml/2006/table">
            <a:tbl>
              <a:tblPr firstRow="1" bandRow="1">
                <a:tableStyleId>{91EBBBCC-DAD2-459C-BE2E-F6DE35CF9A28}</a:tableStyleId>
              </a:tblPr>
              <a:tblGrid>
                <a:gridCol w="6243243">
                  <a:extLst>
                    <a:ext uri="{9D8B030D-6E8A-4147-A177-3AD203B41FA5}">
                      <a16:colId xmlns:a16="http://schemas.microsoft.com/office/drawing/2014/main" val="1340665412"/>
                    </a:ext>
                  </a:extLst>
                </a:gridCol>
                <a:gridCol w="1871576">
                  <a:extLst>
                    <a:ext uri="{9D8B030D-6E8A-4147-A177-3AD203B41FA5}">
                      <a16:colId xmlns:a16="http://schemas.microsoft.com/office/drawing/2014/main" val="4247696271"/>
                    </a:ext>
                  </a:extLst>
                </a:gridCol>
                <a:gridCol w="1941410">
                  <a:extLst>
                    <a:ext uri="{9D8B030D-6E8A-4147-A177-3AD203B41FA5}">
                      <a16:colId xmlns:a16="http://schemas.microsoft.com/office/drawing/2014/main" val="209357475"/>
                    </a:ext>
                  </a:extLst>
                </a:gridCol>
                <a:gridCol w="1862264">
                  <a:extLst>
                    <a:ext uri="{9D8B030D-6E8A-4147-A177-3AD203B41FA5}">
                      <a16:colId xmlns:a16="http://schemas.microsoft.com/office/drawing/2014/main" val="137647530"/>
                    </a:ext>
                  </a:extLst>
                </a:gridCol>
              </a:tblGrid>
              <a:tr h="661504">
                <a:tc rowSpan="2">
                  <a:txBody>
                    <a:bodyPr/>
                    <a:lstStyle/>
                    <a:p>
                      <a:pPr marL="0" indent="0">
                        <a:buNone/>
                      </a:pPr>
                      <a:endParaRPr lang="en-US" altLang="zh-TW" sz="2400" dirty="0"/>
                    </a:p>
                    <a:p>
                      <a:pPr marL="0" indent="0">
                        <a:buNone/>
                      </a:pPr>
                      <a:r>
                        <a:rPr lang="en-US" altLang="zh-TW" sz="2400" dirty="0"/>
                        <a:t>3. Were all participants who entered the study accounted for at its conclusion?</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2400" dirty="0"/>
                        <a:t>是否所有進入試驗的受試者在研究結論當中均被適當的考量過？</a:t>
                      </a:r>
                    </a:p>
                  </a:txBody>
                  <a:tcPr/>
                </a:tc>
                <a:tc>
                  <a:txBody>
                    <a:bodyPr/>
                    <a:lstStyle/>
                    <a:p>
                      <a:pPr algn="ctr"/>
                      <a:endParaRPr lang="en-US" altLang="zh-TW" sz="2400" dirty="0"/>
                    </a:p>
                    <a:p>
                      <a:pPr algn="ctr"/>
                      <a:r>
                        <a:rPr lang="en-US" altLang="zh-TW" sz="2400" dirty="0"/>
                        <a:t>YES</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p>
                    <a:p>
                      <a:pPr algn="ctr"/>
                      <a:r>
                        <a:rPr lang="en-US" altLang="zh-TW" sz="2400" dirty="0"/>
                        <a:t>Can’t tell</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p>
                    <a:p>
                      <a:pPr algn="ctr"/>
                      <a:r>
                        <a:rPr lang="en-US" altLang="zh-TW" sz="2400" dirty="0"/>
                        <a:t>NO</a:t>
                      </a:r>
                      <a:endParaRPr lang="zh-TW" altLang="en-US" sz="2400"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493887565"/>
                  </a:ext>
                </a:extLst>
              </a:tr>
              <a:tr h="840249">
                <a:tc vMerge="1">
                  <a:txBody>
                    <a:bodyPr/>
                    <a:lstStyle/>
                    <a:p>
                      <a:endParaRPr lang="zh-TW" altLang="en-US" dirty="0"/>
                    </a:p>
                  </a:txBody>
                  <a:tcPr/>
                </a:tc>
                <a:tc>
                  <a:txBody>
                    <a:bodyPr/>
                    <a:lstStyle/>
                    <a:p>
                      <a:pPr algn="ctr"/>
                      <a:r>
                        <a:rPr lang="en-US" altLang="zh-TW" sz="2400" b="1" dirty="0"/>
                        <a:t>V</a:t>
                      </a:r>
                      <a:endParaRPr lang="zh-TW" altLang="en-US" sz="2400" b="1" dirty="0"/>
                    </a:p>
                  </a:txBody>
                  <a:tcPr anchor="ct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3333484914"/>
                  </a:ext>
                </a:extLst>
              </a:tr>
            </a:tbl>
          </a:graphicData>
        </a:graphic>
      </p:graphicFrame>
      <p:sp>
        <p:nvSpPr>
          <p:cNvPr id="12" name="文字方塊 11">
            <a:extLst>
              <a:ext uri="{FF2B5EF4-FFF2-40B4-BE49-F238E27FC236}">
                <a16:creationId xmlns:a16="http://schemas.microsoft.com/office/drawing/2014/main" id="{D5529015-3754-8EF5-F12B-111BA0124584}"/>
              </a:ext>
            </a:extLst>
          </p:cNvPr>
          <p:cNvSpPr txBox="1"/>
          <p:nvPr/>
        </p:nvSpPr>
        <p:spPr>
          <a:xfrm>
            <a:off x="6498431" y="2474893"/>
            <a:ext cx="4731299" cy="954107"/>
          </a:xfrm>
          <a:prstGeom prst="rect">
            <a:avLst/>
          </a:prstGeom>
          <a:noFill/>
        </p:spPr>
        <p:txBody>
          <a:bodyPr wrap="square" rtlCol="0">
            <a:spAutoFit/>
          </a:bodyPr>
          <a:lstStyle/>
          <a:p>
            <a:pPr marL="457200" indent="-457200">
              <a:buFont typeface="Arial" panose="020B0604020202020204" pitchFamily="34" charset="0"/>
              <a:buChar char="•"/>
            </a:pPr>
            <a:r>
              <a:rPr lang="zh-TW" altLang="en-US" sz="2800" dirty="0">
                <a:solidFill>
                  <a:srgbClr val="0070C0"/>
                </a:solidFill>
                <a:latin typeface="Microsoft YaHei" panose="020B0503020204020204" pitchFamily="34" charset="-122"/>
                <a:ea typeface="Microsoft YaHei" panose="020B0503020204020204" pitchFamily="34" charset="-122"/>
              </a:rPr>
              <a:t>所有受試者皆完成研究，並全部進行統計分析。</a:t>
            </a:r>
          </a:p>
        </p:txBody>
      </p:sp>
      <p:pic>
        <p:nvPicPr>
          <p:cNvPr id="6" name="內容版面配置區 5">
            <a:extLst>
              <a:ext uri="{FF2B5EF4-FFF2-40B4-BE49-F238E27FC236}">
                <a16:creationId xmlns:a16="http://schemas.microsoft.com/office/drawing/2014/main" id="{E5137655-92E5-312D-9C5F-135873B95812}"/>
              </a:ext>
            </a:extLst>
          </p:cNvPr>
          <p:cNvPicPr>
            <a:picLocks noGrp="1" noChangeAspect="1"/>
          </p:cNvPicPr>
          <p:nvPr>
            <p:ph idx="1"/>
          </p:nvPr>
        </p:nvPicPr>
        <p:blipFill>
          <a:blip r:embed="rId2"/>
          <a:stretch>
            <a:fillRect/>
          </a:stretch>
        </p:blipFill>
        <p:spPr>
          <a:xfrm>
            <a:off x="308425" y="2208954"/>
            <a:ext cx="6238427" cy="3163146"/>
          </a:xfrm>
        </p:spPr>
      </p:pic>
    </p:spTree>
    <p:extLst>
      <p:ext uri="{BB962C8B-B14F-4D97-AF65-F5344CB8AC3E}">
        <p14:creationId xmlns:p14="http://schemas.microsoft.com/office/powerpoint/2010/main" val="350788578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ED913-62A8-7CD8-2C46-2FD01A45E5D8}"/>
            </a:ext>
          </a:extLst>
        </p:cNvPr>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B7BE37EB-BBC0-06C2-47C8-4A9F60F16643}"/>
              </a:ext>
            </a:extLst>
          </p:cNvPr>
          <p:cNvSpPr>
            <a:spLocks noGrp="1"/>
          </p:cNvSpPr>
          <p:nvPr>
            <p:ph type="sldNum" sz="quarter" idx="12"/>
          </p:nvPr>
        </p:nvSpPr>
        <p:spPr>
          <a:xfrm>
            <a:off x="11458224" y="6443664"/>
            <a:ext cx="603146" cy="374464"/>
          </a:xfrm>
        </p:spPr>
        <p:txBody>
          <a:bodyPr vert="horz" lIns="91440" tIns="45720" rIns="91440" bIns="45720" rtlCol="0" anchor="ctr">
            <a:noAutofit/>
          </a:bodyPr>
          <a:lstStyle/>
          <a:p>
            <a:pPr>
              <a:spcAft>
                <a:spcPts val="600"/>
              </a:spcAft>
            </a:pPr>
            <a:fld id="{CC057153-B650-4DEB-B370-79DDCFDCE934}" type="slidenum">
              <a:rPr lang="en-US" sz="2400" smtClean="0"/>
              <a:pPr>
                <a:spcAft>
                  <a:spcPts val="600"/>
                </a:spcAft>
              </a:pPr>
              <a:t>24</a:t>
            </a:fld>
            <a:endParaRPr lang="en-US" sz="2400" dirty="0"/>
          </a:p>
        </p:txBody>
      </p:sp>
      <p:graphicFrame>
        <p:nvGraphicFramePr>
          <p:cNvPr id="9" name="表格 8">
            <a:extLst>
              <a:ext uri="{FF2B5EF4-FFF2-40B4-BE49-F238E27FC236}">
                <a16:creationId xmlns:a16="http://schemas.microsoft.com/office/drawing/2014/main" id="{9A7A2BB4-5DDA-F5D0-8A9F-C82E536FB2E6}"/>
              </a:ext>
            </a:extLst>
          </p:cNvPr>
          <p:cNvGraphicFramePr>
            <a:graphicFrameLocks noGrp="1"/>
          </p:cNvGraphicFramePr>
          <p:nvPr>
            <p:extLst>
              <p:ext uri="{D42A27DB-BD31-4B8C-83A1-F6EECF244321}">
                <p14:modId xmlns:p14="http://schemas.microsoft.com/office/powerpoint/2010/main" val="3671290607"/>
              </p:ext>
            </p:extLst>
          </p:nvPr>
        </p:nvGraphicFramePr>
        <p:xfrm>
          <a:off x="142875" y="39872"/>
          <a:ext cx="11918493" cy="1920240"/>
        </p:xfrm>
        <a:graphic>
          <a:graphicData uri="http://schemas.openxmlformats.org/drawingml/2006/table">
            <a:tbl>
              <a:tblPr firstRow="1" bandRow="1">
                <a:tableStyleId>{91EBBBCC-DAD2-459C-BE2E-F6DE35CF9A28}</a:tableStyleId>
              </a:tblPr>
              <a:tblGrid>
                <a:gridCol w="6243243">
                  <a:extLst>
                    <a:ext uri="{9D8B030D-6E8A-4147-A177-3AD203B41FA5}">
                      <a16:colId xmlns:a16="http://schemas.microsoft.com/office/drawing/2014/main" val="1340665412"/>
                    </a:ext>
                  </a:extLst>
                </a:gridCol>
                <a:gridCol w="1871576">
                  <a:extLst>
                    <a:ext uri="{9D8B030D-6E8A-4147-A177-3AD203B41FA5}">
                      <a16:colId xmlns:a16="http://schemas.microsoft.com/office/drawing/2014/main" val="4247696271"/>
                    </a:ext>
                  </a:extLst>
                </a:gridCol>
                <a:gridCol w="1941410">
                  <a:extLst>
                    <a:ext uri="{9D8B030D-6E8A-4147-A177-3AD203B41FA5}">
                      <a16:colId xmlns:a16="http://schemas.microsoft.com/office/drawing/2014/main" val="209357475"/>
                    </a:ext>
                  </a:extLst>
                </a:gridCol>
                <a:gridCol w="1862264">
                  <a:extLst>
                    <a:ext uri="{9D8B030D-6E8A-4147-A177-3AD203B41FA5}">
                      <a16:colId xmlns:a16="http://schemas.microsoft.com/office/drawing/2014/main" val="137647530"/>
                    </a:ext>
                  </a:extLst>
                </a:gridCol>
              </a:tblGrid>
              <a:tr h="661504">
                <a:tc rowSpan="2">
                  <a:txBody>
                    <a:bodyPr/>
                    <a:lstStyle/>
                    <a:p>
                      <a:pPr marL="0" indent="0">
                        <a:buNone/>
                      </a:pPr>
                      <a:r>
                        <a:rPr lang="en-US" altLang="zh-TW" sz="2400" dirty="0"/>
                        <a:t>4. Were the participants/investigators</a:t>
                      </a:r>
                    </a:p>
                    <a:p>
                      <a:pPr marL="0" indent="0">
                        <a:buNone/>
                      </a:pPr>
                      <a:r>
                        <a:rPr lang="en-US" altLang="zh-TW" sz="2400" dirty="0"/>
                        <a:t>/ people assessing/</a:t>
                      </a:r>
                      <a:r>
                        <a:rPr lang="en-US" altLang="zh-TW" sz="2400" dirty="0" err="1"/>
                        <a:t>analysing</a:t>
                      </a:r>
                      <a:r>
                        <a:rPr lang="en-US" altLang="zh-TW" sz="2400" dirty="0"/>
                        <a:t> outcome</a:t>
                      </a:r>
                    </a:p>
                    <a:p>
                      <a:pPr marL="0" indent="0">
                        <a:buNone/>
                      </a:pPr>
                      <a:r>
                        <a:rPr lang="en-US" altLang="zh-TW" sz="2400" dirty="0"/>
                        <a:t> ‘blind’ to intervention they were given?</a:t>
                      </a:r>
                    </a:p>
                    <a:p>
                      <a:pPr marL="0" indent="0">
                        <a:buNone/>
                      </a:pPr>
                      <a:r>
                        <a:rPr lang="zh-TW" altLang="en-US" sz="2400" dirty="0"/>
                        <a:t>受試者、研究人員、評估或資料分析人員是否盲化</a:t>
                      </a:r>
                      <a:r>
                        <a:rPr lang="en-US" altLang="zh-TW" sz="2400" dirty="0"/>
                        <a:t>?</a:t>
                      </a:r>
                      <a:endParaRPr lang="zh-TW" altLang="en-US" sz="2400" dirty="0"/>
                    </a:p>
                  </a:txBody>
                  <a:tcPr/>
                </a:tc>
                <a:tc>
                  <a:txBody>
                    <a:bodyPr/>
                    <a:lstStyle/>
                    <a:p>
                      <a:pPr algn="ctr"/>
                      <a:endParaRPr lang="en-US" altLang="zh-TW" sz="2400" dirty="0"/>
                    </a:p>
                    <a:p>
                      <a:pPr algn="ctr"/>
                      <a:r>
                        <a:rPr lang="en-US" altLang="zh-TW" sz="2400" dirty="0"/>
                        <a:t>YES</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p>
                    <a:p>
                      <a:pPr algn="ctr"/>
                      <a:r>
                        <a:rPr lang="en-US" altLang="zh-TW" sz="2400" dirty="0"/>
                        <a:t>Can’t tell</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p>
                    <a:p>
                      <a:pPr algn="ctr"/>
                      <a:r>
                        <a:rPr lang="en-US" altLang="zh-TW" sz="2400" dirty="0"/>
                        <a:t>NO</a:t>
                      </a:r>
                      <a:endParaRPr lang="zh-TW" altLang="en-US" sz="2400"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493887565"/>
                  </a:ext>
                </a:extLst>
              </a:tr>
              <a:tr h="840249">
                <a:tc vMerge="1">
                  <a:txBody>
                    <a:bodyPr/>
                    <a:lstStyle/>
                    <a:p>
                      <a:endParaRPr lang="zh-TW" altLang="en-US" dirty="0"/>
                    </a:p>
                  </a:txBody>
                  <a:tcPr/>
                </a:tc>
                <a:tc>
                  <a:txBody>
                    <a:bodyPr/>
                    <a:lstStyle/>
                    <a:p>
                      <a:pPr algn="ctr"/>
                      <a:endParaRPr lang="zh-TW" altLang="en-US" sz="2400" b="1" dirty="0"/>
                    </a:p>
                  </a:txBody>
                  <a:tcPr anchor="ctr"/>
                </a:tc>
                <a:tc>
                  <a:txBody>
                    <a:bodyPr/>
                    <a:lstStyle/>
                    <a:p>
                      <a:endParaRPr lang="zh-TW" altLang="en-US" dirty="0"/>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2400" b="1" dirty="0"/>
                        <a:t>V</a:t>
                      </a:r>
                      <a:endParaRPr lang="zh-TW" altLang="en-US" sz="2400" b="1" dirty="0"/>
                    </a:p>
                    <a:p>
                      <a:endParaRPr lang="zh-TW" altLang="en-US" dirty="0"/>
                    </a:p>
                  </a:txBody>
                  <a:tcPr anchor="ctr"/>
                </a:tc>
                <a:extLst>
                  <a:ext uri="{0D108BD9-81ED-4DB2-BD59-A6C34878D82A}">
                    <a16:rowId xmlns:a16="http://schemas.microsoft.com/office/drawing/2014/main" val="3333484914"/>
                  </a:ext>
                </a:extLst>
              </a:tr>
            </a:tbl>
          </a:graphicData>
        </a:graphic>
      </p:graphicFrame>
      <p:sp>
        <p:nvSpPr>
          <p:cNvPr id="12" name="文字方塊 11">
            <a:extLst>
              <a:ext uri="{FF2B5EF4-FFF2-40B4-BE49-F238E27FC236}">
                <a16:creationId xmlns:a16="http://schemas.microsoft.com/office/drawing/2014/main" id="{980F5B64-06D1-1B35-D648-DEA15DDDFB09}"/>
              </a:ext>
            </a:extLst>
          </p:cNvPr>
          <p:cNvSpPr txBox="1"/>
          <p:nvPr/>
        </p:nvSpPr>
        <p:spPr>
          <a:xfrm>
            <a:off x="6096000" y="2474893"/>
            <a:ext cx="5362223" cy="3108543"/>
          </a:xfrm>
          <a:prstGeom prst="rect">
            <a:avLst/>
          </a:prstGeom>
          <a:noFill/>
        </p:spPr>
        <p:txBody>
          <a:bodyPr wrap="square" rtlCol="0">
            <a:spAutoFit/>
          </a:bodyPr>
          <a:lstStyle/>
          <a:p>
            <a:pPr marL="457200" indent="-457200">
              <a:buFont typeface="Arial" panose="020B0604020202020204" pitchFamily="34" charset="0"/>
              <a:buChar char="•"/>
            </a:pPr>
            <a:r>
              <a:rPr lang="zh-TW" altLang="en-US" sz="2800" dirty="0">
                <a:solidFill>
                  <a:srgbClr val="0070C0"/>
                </a:solidFill>
                <a:latin typeface="Microsoft YaHei" panose="020B0503020204020204" pitchFamily="34" charset="-122"/>
                <a:ea typeface="Microsoft YaHei" panose="020B0503020204020204" pitchFamily="34" charset="-122"/>
              </a:rPr>
              <a:t>實驗組：有配戴</a:t>
            </a:r>
            <a:r>
              <a:rPr lang="en-US" altLang="zh-TW" sz="2800" dirty="0">
                <a:solidFill>
                  <a:srgbClr val="0070C0"/>
                </a:solidFill>
                <a:latin typeface="Microsoft YaHei" panose="020B0503020204020204" pitchFamily="34" charset="-122"/>
                <a:ea typeface="Microsoft YaHei" panose="020B0503020204020204" pitchFamily="34" charset="-122"/>
              </a:rPr>
              <a:t>smartwatch</a:t>
            </a:r>
            <a:r>
              <a:rPr lang="zh-TW" altLang="en-US" sz="2800" dirty="0">
                <a:solidFill>
                  <a:srgbClr val="0070C0"/>
                </a:solidFill>
                <a:latin typeface="Microsoft YaHei" panose="020B0503020204020204" pitchFamily="34" charset="-122"/>
                <a:ea typeface="Microsoft YaHei" panose="020B0503020204020204" pitchFamily="34" charset="-122"/>
              </a:rPr>
              <a:t>。</a:t>
            </a:r>
            <a:endParaRPr lang="en-US" altLang="zh-TW" sz="2800" dirty="0">
              <a:solidFill>
                <a:srgbClr val="0070C0"/>
              </a:solidFill>
              <a:latin typeface="Microsoft YaHei" panose="020B0503020204020204" pitchFamily="34" charset="-122"/>
              <a:ea typeface="Microsoft YaHei" panose="020B0503020204020204" pitchFamily="34" charset="-122"/>
            </a:endParaRPr>
          </a:p>
          <a:p>
            <a:pPr marL="457200" indent="-457200">
              <a:buFont typeface="Arial" panose="020B0604020202020204" pitchFamily="34" charset="0"/>
              <a:buChar char="•"/>
            </a:pPr>
            <a:r>
              <a:rPr lang="zh-TW" altLang="en-US" sz="2800" dirty="0">
                <a:solidFill>
                  <a:srgbClr val="0070C0"/>
                </a:solidFill>
                <a:latin typeface="Microsoft YaHei" panose="020B0503020204020204" pitchFamily="34" charset="-122"/>
                <a:ea typeface="Microsoft YaHei" panose="020B0503020204020204" pitchFamily="34" charset="-122"/>
              </a:rPr>
              <a:t>對照組：無配戴</a:t>
            </a:r>
            <a:r>
              <a:rPr lang="en-US" altLang="zh-TW" sz="2800" dirty="0">
                <a:solidFill>
                  <a:srgbClr val="0070C0"/>
                </a:solidFill>
                <a:latin typeface="Microsoft YaHei" panose="020B0503020204020204" pitchFamily="34" charset="-122"/>
                <a:ea typeface="Microsoft YaHei" panose="020B0503020204020204" pitchFamily="34" charset="-122"/>
              </a:rPr>
              <a:t>smartwatch</a:t>
            </a:r>
            <a:r>
              <a:rPr lang="zh-TW" altLang="en-US" sz="2800" dirty="0">
                <a:solidFill>
                  <a:srgbClr val="0070C0"/>
                </a:solidFill>
                <a:latin typeface="Microsoft YaHei" panose="020B0503020204020204" pitchFamily="34" charset="-122"/>
                <a:ea typeface="Microsoft YaHei" panose="020B0503020204020204" pitchFamily="34" charset="-122"/>
              </a:rPr>
              <a:t>。</a:t>
            </a:r>
            <a:endParaRPr lang="en-US" altLang="zh-TW" sz="2800" dirty="0">
              <a:solidFill>
                <a:srgbClr val="0070C0"/>
              </a:solidFill>
              <a:latin typeface="Microsoft YaHei" panose="020B0503020204020204" pitchFamily="34" charset="-122"/>
              <a:ea typeface="Microsoft YaHei" panose="020B0503020204020204" pitchFamily="34" charset="-122"/>
            </a:endParaRPr>
          </a:p>
          <a:p>
            <a:pPr marL="457200" indent="-457200">
              <a:buFont typeface="Arial" panose="020B0604020202020204" pitchFamily="34" charset="0"/>
              <a:buChar char="•"/>
            </a:pPr>
            <a:endParaRPr lang="en-US" altLang="zh-TW" sz="2800" dirty="0">
              <a:solidFill>
                <a:srgbClr val="0070C0"/>
              </a:solidFill>
              <a:latin typeface="Microsoft YaHei" panose="020B0503020204020204" pitchFamily="34" charset="-122"/>
              <a:ea typeface="Microsoft YaHei" panose="020B0503020204020204" pitchFamily="34" charset="-122"/>
            </a:endParaRPr>
          </a:p>
          <a:p>
            <a:endParaRPr lang="en-US" altLang="zh-TW" sz="2800" dirty="0">
              <a:solidFill>
                <a:srgbClr val="0070C0"/>
              </a:solidFill>
              <a:latin typeface="Microsoft YaHei" panose="020B0503020204020204" pitchFamily="34" charset="-122"/>
              <a:ea typeface="Microsoft YaHei" panose="020B0503020204020204" pitchFamily="34" charset="-122"/>
            </a:endParaRPr>
          </a:p>
          <a:p>
            <a:pPr marL="457200" indent="-457200">
              <a:buFont typeface="Wingdings" panose="05000000000000000000" pitchFamily="2" charset="2"/>
              <a:buChar char="Ø"/>
            </a:pPr>
            <a:r>
              <a:rPr lang="zh-TW" altLang="en-US" sz="2800" dirty="0">
                <a:solidFill>
                  <a:srgbClr val="0070C0"/>
                </a:solidFill>
                <a:latin typeface="Microsoft YaHei" panose="020B0503020204020204" pitchFamily="34" charset="-122"/>
                <a:ea typeface="Microsoft YaHei" panose="020B0503020204020204" pitchFamily="34" charset="-122"/>
              </a:rPr>
              <a:t>受試者無法盲化，文中也未說明研究人員、評估或資料分析人員是否盲化。</a:t>
            </a:r>
          </a:p>
        </p:txBody>
      </p:sp>
      <p:pic>
        <p:nvPicPr>
          <p:cNvPr id="7" name="內容版面配置區 6">
            <a:extLst>
              <a:ext uri="{FF2B5EF4-FFF2-40B4-BE49-F238E27FC236}">
                <a16:creationId xmlns:a16="http://schemas.microsoft.com/office/drawing/2014/main" id="{C14ADC0A-DC75-2390-ED02-3CB308B8809C}"/>
              </a:ext>
            </a:extLst>
          </p:cNvPr>
          <p:cNvPicPr>
            <a:picLocks noGrp="1" noChangeAspect="1"/>
          </p:cNvPicPr>
          <p:nvPr>
            <p:ph idx="1"/>
          </p:nvPr>
        </p:nvPicPr>
        <p:blipFill>
          <a:blip r:embed="rId2"/>
          <a:stretch>
            <a:fillRect/>
          </a:stretch>
        </p:blipFill>
        <p:spPr>
          <a:xfrm>
            <a:off x="405323" y="2042927"/>
            <a:ext cx="4959791" cy="4592637"/>
          </a:xfrm>
        </p:spPr>
      </p:pic>
    </p:spTree>
    <p:extLst>
      <p:ext uri="{BB962C8B-B14F-4D97-AF65-F5344CB8AC3E}">
        <p14:creationId xmlns:p14="http://schemas.microsoft.com/office/powerpoint/2010/main" val="54963193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D2F55-0D62-6B64-4550-A25B06800F5F}"/>
            </a:ext>
          </a:extLst>
        </p:cNvPr>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72B6E1EA-5A4B-821C-0A48-1E565DF9E169}"/>
              </a:ext>
            </a:extLst>
          </p:cNvPr>
          <p:cNvSpPr>
            <a:spLocks noGrp="1"/>
          </p:cNvSpPr>
          <p:nvPr>
            <p:ph type="sldNum" sz="quarter" idx="12"/>
          </p:nvPr>
        </p:nvSpPr>
        <p:spPr>
          <a:xfrm>
            <a:off x="11415714" y="6343650"/>
            <a:ext cx="645656" cy="474477"/>
          </a:xfrm>
        </p:spPr>
        <p:txBody>
          <a:bodyPr vert="horz" lIns="91440" tIns="45720" rIns="91440" bIns="45720" rtlCol="0" anchor="ctr">
            <a:noAutofit/>
          </a:bodyPr>
          <a:lstStyle/>
          <a:p>
            <a:pPr>
              <a:spcAft>
                <a:spcPts val="600"/>
              </a:spcAft>
            </a:pPr>
            <a:fld id="{CC057153-B650-4DEB-B370-79DDCFDCE934}" type="slidenum">
              <a:rPr lang="en-US" sz="2400" smtClean="0"/>
              <a:pPr>
                <a:spcAft>
                  <a:spcPts val="600"/>
                </a:spcAft>
              </a:pPr>
              <a:t>25</a:t>
            </a:fld>
            <a:endParaRPr lang="en-US" sz="2400" dirty="0"/>
          </a:p>
        </p:txBody>
      </p:sp>
      <p:graphicFrame>
        <p:nvGraphicFramePr>
          <p:cNvPr id="9" name="表格 8">
            <a:extLst>
              <a:ext uri="{FF2B5EF4-FFF2-40B4-BE49-F238E27FC236}">
                <a16:creationId xmlns:a16="http://schemas.microsoft.com/office/drawing/2014/main" id="{61E5DD1E-CB79-7ED8-62E3-57CC328153E7}"/>
              </a:ext>
            </a:extLst>
          </p:cNvPr>
          <p:cNvGraphicFramePr>
            <a:graphicFrameLocks noGrp="1"/>
          </p:cNvGraphicFramePr>
          <p:nvPr>
            <p:extLst>
              <p:ext uri="{D42A27DB-BD31-4B8C-83A1-F6EECF244321}">
                <p14:modId xmlns:p14="http://schemas.microsoft.com/office/powerpoint/2010/main" val="1192362315"/>
              </p:ext>
            </p:extLst>
          </p:nvPr>
        </p:nvGraphicFramePr>
        <p:xfrm>
          <a:off x="136753" y="39873"/>
          <a:ext cx="11918493" cy="1592828"/>
        </p:xfrm>
        <a:graphic>
          <a:graphicData uri="http://schemas.openxmlformats.org/drawingml/2006/table">
            <a:tbl>
              <a:tblPr firstRow="1" bandRow="1">
                <a:tableStyleId>{91EBBBCC-DAD2-459C-BE2E-F6DE35CF9A28}</a:tableStyleId>
              </a:tblPr>
              <a:tblGrid>
                <a:gridCol w="6243243">
                  <a:extLst>
                    <a:ext uri="{9D8B030D-6E8A-4147-A177-3AD203B41FA5}">
                      <a16:colId xmlns:a16="http://schemas.microsoft.com/office/drawing/2014/main" val="1340665412"/>
                    </a:ext>
                  </a:extLst>
                </a:gridCol>
                <a:gridCol w="1871576">
                  <a:extLst>
                    <a:ext uri="{9D8B030D-6E8A-4147-A177-3AD203B41FA5}">
                      <a16:colId xmlns:a16="http://schemas.microsoft.com/office/drawing/2014/main" val="4247696271"/>
                    </a:ext>
                  </a:extLst>
                </a:gridCol>
                <a:gridCol w="1941410">
                  <a:extLst>
                    <a:ext uri="{9D8B030D-6E8A-4147-A177-3AD203B41FA5}">
                      <a16:colId xmlns:a16="http://schemas.microsoft.com/office/drawing/2014/main" val="209357475"/>
                    </a:ext>
                  </a:extLst>
                </a:gridCol>
                <a:gridCol w="1862264">
                  <a:extLst>
                    <a:ext uri="{9D8B030D-6E8A-4147-A177-3AD203B41FA5}">
                      <a16:colId xmlns:a16="http://schemas.microsoft.com/office/drawing/2014/main" val="137647530"/>
                    </a:ext>
                  </a:extLst>
                </a:gridCol>
              </a:tblGrid>
              <a:tr h="811237">
                <a:tc rowSpan="2">
                  <a:txBody>
                    <a:bodyPr/>
                    <a:lstStyle/>
                    <a:p>
                      <a:pPr marL="0" indent="0">
                        <a:buNone/>
                      </a:pPr>
                      <a:r>
                        <a:rPr lang="en-US" altLang="zh-TW" sz="2400" dirty="0"/>
                        <a:t>5. Were the study groups similar at the start of the </a:t>
                      </a:r>
                      <a:r>
                        <a:rPr lang="en-US" altLang="zh-TW" sz="2400" dirty="0" err="1"/>
                        <a:t>randomised</a:t>
                      </a:r>
                      <a:r>
                        <a:rPr lang="en-US" altLang="zh-TW" sz="2400" dirty="0"/>
                        <a:t> controlled trial?</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2400" dirty="0"/>
                        <a:t>各組研究對象在一開始進入試驗時的基本特性是否相似？</a:t>
                      </a:r>
                    </a:p>
                  </a:txBody>
                  <a:tcPr/>
                </a:tc>
                <a:tc>
                  <a:txBody>
                    <a:bodyPr/>
                    <a:lstStyle/>
                    <a:p>
                      <a:pPr algn="ctr"/>
                      <a:endParaRPr lang="en-US" altLang="zh-TW" sz="2400" dirty="0"/>
                    </a:p>
                    <a:p>
                      <a:pPr algn="ctr"/>
                      <a:r>
                        <a:rPr lang="en-US" altLang="zh-TW" sz="2400" dirty="0"/>
                        <a:t>YES</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p>
                    <a:p>
                      <a:pPr algn="ctr"/>
                      <a:r>
                        <a:rPr lang="en-US" altLang="zh-TW" sz="2400" dirty="0"/>
                        <a:t>Can’t tell</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p>
                    <a:p>
                      <a:pPr algn="ctr"/>
                      <a:r>
                        <a:rPr lang="en-US" altLang="zh-TW" sz="2400" dirty="0"/>
                        <a:t>NO</a:t>
                      </a:r>
                      <a:endParaRPr lang="zh-TW" altLang="en-US" sz="2400"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493887565"/>
                  </a:ext>
                </a:extLst>
              </a:tr>
              <a:tr h="769868">
                <a:tc vMerge="1">
                  <a:txBody>
                    <a:bodyPr/>
                    <a:lstStyle/>
                    <a:p>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b="1" dirty="0"/>
                        <a:t>V</a:t>
                      </a:r>
                      <a:endParaRPr lang="zh-TW" altLang="en-US" sz="2400" b="1" dirty="0"/>
                    </a:p>
                  </a:txBody>
                  <a:tcPr anchor="ctr"/>
                </a:tc>
                <a:tc>
                  <a:txBody>
                    <a:bodyPr/>
                    <a:lstStyle/>
                    <a:p>
                      <a:endParaRPr lang="zh-TW" altLang="en-US" dirty="0"/>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TW" altLang="en-US" sz="2400" b="1" dirty="0"/>
                    </a:p>
                    <a:p>
                      <a:endParaRPr lang="zh-TW" altLang="en-US" dirty="0"/>
                    </a:p>
                  </a:txBody>
                  <a:tcPr anchor="ctr"/>
                </a:tc>
                <a:extLst>
                  <a:ext uri="{0D108BD9-81ED-4DB2-BD59-A6C34878D82A}">
                    <a16:rowId xmlns:a16="http://schemas.microsoft.com/office/drawing/2014/main" val="3333484914"/>
                  </a:ext>
                </a:extLst>
              </a:tr>
            </a:tbl>
          </a:graphicData>
        </a:graphic>
      </p:graphicFrame>
      <p:sp>
        <p:nvSpPr>
          <p:cNvPr id="12" name="文字方塊 11">
            <a:extLst>
              <a:ext uri="{FF2B5EF4-FFF2-40B4-BE49-F238E27FC236}">
                <a16:creationId xmlns:a16="http://schemas.microsoft.com/office/drawing/2014/main" id="{53A3DE86-8DB8-C6D5-DD0B-938B39C1FE84}"/>
              </a:ext>
            </a:extLst>
          </p:cNvPr>
          <p:cNvSpPr txBox="1"/>
          <p:nvPr/>
        </p:nvSpPr>
        <p:spPr>
          <a:xfrm>
            <a:off x="7100889" y="2346305"/>
            <a:ext cx="4531274" cy="954107"/>
          </a:xfrm>
          <a:prstGeom prst="rect">
            <a:avLst/>
          </a:prstGeom>
          <a:noFill/>
        </p:spPr>
        <p:txBody>
          <a:bodyPr wrap="square" rtlCol="0">
            <a:spAutoFit/>
          </a:bodyPr>
          <a:lstStyle/>
          <a:p>
            <a:pPr marL="457200" indent="-457200">
              <a:buFont typeface="Arial" panose="020B0604020202020204" pitchFamily="34" charset="0"/>
              <a:buChar char="•"/>
            </a:pPr>
            <a:r>
              <a:rPr lang="zh-TW" altLang="en-US" sz="2800" dirty="0">
                <a:solidFill>
                  <a:srgbClr val="0070C0"/>
                </a:solidFill>
                <a:latin typeface="Microsoft YaHei" panose="020B0503020204020204" pitchFamily="34" charset="-122"/>
                <a:ea typeface="Microsoft YaHei" panose="020B0503020204020204" pitchFamily="34" charset="-122"/>
              </a:rPr>
              <a:t>兩組年齡、年資、</a:t>
            </a:r>
            <a:r>
              <a:rPr lang="en-US" altLang="zh-TW" sz="2800" dirty="0">
                <a:solidFill>
                  <a:srgbClr val="0070C0"/>
                </a:solidFill>
                <a:latin typeface="Microsoft YaHei" panose="020B0503020204020204" pitchFamily="34" charset="-122"/>
                <a:ea typeface="Microsoft YaHei" panose="020B0503020204020204" pitchFamily="34" charset="-122"/>
              </a:rPr>
              <a:t>CPR </a:t>
            </a:r>
            <a:r>
              <a:rPr lang="zh-TW" altLang="en-US" sz="2800" dirty="0">
                <a:solidFill>
                  <a:srgbClr val="0070C0"/>
                </a:solidFill>
                <a:latin typeface="Microsoft YaHei" panose="020B0503020204020204" pitchFamily="34" charset="-122"/>
                <a:ea typeface="Microsoft YaHei" panose="020B0503020204020204" pitchFamily="34" charset="-122"/>
              </a:rPr>
              <a:t>認證皆無統計差異。</a:t>
            </a:r>
          </a:p>
        </p:txBody>
      </p:sp>
      <p:pic>
        <p:nvPicPr>
          <p:cNvPr id="6" name="內容版面配置區 5">
            <a:extLst>
              <a:ext uri="{FF2B5EF4-FFF2-40B4-BE49-F238E27FC236}">
                <a16:creationId xmlns:a16="http://schemas.microsoft.com/office/drawing/2014/main" id="{D45270CF-1D37-6E23-8B84-BBC8DF06C6B8}"/>
              </a:ext>
            </a:extLst>
          </p:cNvPr>
          <p:cNvPicPr>
            <a:picLocks noGrp="1" noChangeAspect="1"/>
          </p:cNvPicPr>
          <p:nvPr>
            <p:ph idx="1"/>
          </p:nvPr>
        </p:nvPicPr>
        <p:blipFill>
          <a:blip r:embed="rId2"/>
          <a:stretch>
            <a:fillRect/>
          </a:stretch>
        </p:blipFill>
        <p:spPr>
          <a:xfrm>
            <a:off x="378540" y="2034657"/>
            <a:ext cx="6193710" cy="3908943"/>
          </a:xfrm>
        </p:spPr>
      </p:pic>
    </p:spTree>
    <p:extLst>
      <p:ext uri="{BB962C8B-B14F-4D97-AF65-F5344CB8AC3E}">
        <p14:creationId xmlns:p14="http://schemas.microsoft.com/office/powerpoint/2010/main" val="43914957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96B68-E918-53E3-A164-87931E8FFE0C}"/>
            </a:ext>
          </a:extLst>
        </p:cNvPr>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9E01A2C9-EFDB-E143-9A82-319DE3B86F26}"/>
              </a:ext>
            </a:extLst>
          </p:cNvPr>
          <p:cNvSpPr>
            <a:spLocks noGrp="1"/>
          </p:cNvSpPr>
          <p:nvPr>
            <p:ph type="sldNum" sz="quarter" idx="12"/>
          </p:nvPr>
        </p:nvSpPr>
        <p:spPr>
          <a:xfrm>
            <a:off x="11433992" y="6415088"/>
            <a:ext cx="627378" cy="403039"/>
          </a:xfrm>
        </p:spPr>
        <p:txBody>
          <a:bodyPr vert="horz" lIns="91440" tIns="45720" rIns="91440" bIns="45720" rtlCol="0" anchor="ctr">
            <a:noAutofit/>
          </a:bodyPr>
          <a:lstStyle/>
          <a:p>
            <a:pPr>
              <a:spcAft>
                <a:spcPts val="600"/>
              </a:spcAft>
            </a:pPr>
            <a:fld id="{CC057153-B650-4DEB-B370-79DDCFDCE934}" type="slidenum">
              <a:rPr lang="en-US" sz="2400" smtClean="0"/>
              <a:pPr>
                <a:spcAft>
                  <a:spcPts val="600"/>
                </a:spcAft>
              </a:pPr>
              <a:t>26</a:t>
            </a:fld>
            <a:endParaRPr lang="en-US" sz="2400" dirty="0"/>
          </a:p>
        </p:txBody>
      </p:sp>
      <p:graphicFrame>
        <p:nvGraphicFramePr>
          <p:cNvPr id="9" name="表格 8">
            <a:extLst>
              <a:ext uri="{FF2B5EF4-FFF2-40B4-BE49-F238E27FC236}">
                <a16:creationId xmlns:a16="http://schemas.microsoft.com/office/drawing/2014/main" id="{72EECBD0-3048-3EE0-FFC4-DEE732D0424C}"/>
              </a:ext>
            </a:extLst>
          </p:cNvPr>
          <p:cNvGraphicFramePr>
            <a:graphicFrameLocks noGrp="1"/>
          </p:cNvGraphicFramePr>
          <p:nvPr>
            <p:extLst>
              <p:ext uri="{D42A27DB-BD31-4B8C-83A1-F6EECF244321}">
                <p14:modId xmlns:p14="http://schemas.microsoft.com/office/powerpoint/2010/main" val="685173655"/>
              </p:ext>
            </p:extLst>
          </p:nvPr>
        </p:nvGraphicFramePr>
        <p:xfrm>
          <a:off x="136753" y="39873"/>
          <a:ext cx="11918493" cy="2480401"/>
        </p:xfrm>
        <a:graphic>
          <a:graphicData uri="http://schemas.openxmlformats.org/drawingml/2006/table">
            <a:tbl>
              <a:tblPr firstRow="1" bandRow="1">
                <a:tableStyleId>{91EBBBCC-DAD2-459C-BE2E-F6DE35CF9A28}</a:tableStyleId>
              </a:tblPr>
              <a:tblGrid>
                <a:gridCol w="6243243">
                  <a:extLst>
                    <a:ext uri="{9D8B030D-6E8A-4147-A177-3AD203B41FA5}">
                      <a16:colId xmlns:a16="http://schemas.microsoft.com/office/drawing/2014/main" val="1340665412"/>
                    </a:ext>
                  </a:extLst>
                </a:gridCol>
                <a:gridCol w="1871576">
                  <a:extLst>
                    <a:ext uri="{9D8B030D-6E8A-4147-A177-3AD203B41FA5}">
                      <a16:colId xmlns:a16="http://schemas.microsoft.com/office/drawing/2014/main" val="4247696271"/>
                    </a:ext>
                  </a:extLst>
                </a:gridCol>
                <a:gridCol w="1941410">
                  <a:extLst>
                    <a:ext uri="{9D8B030D-6E8A-4147-A177-3AD203B41FA5}">
                      <a16:colId xmlns:a16="http://schemas.microsoft.com/office/drawing/2014/main" val="209357475"/>
                    </a:ext>
                  </a:extLst>
                </a:gridCol>
                <a:gridCol w="1862264">
                  <a:extLst>
                    <a:ext uri="{9D8B030D-6E8A-4147-A177-3AD203B41FA5}">
                      <a16:colId xmlns:a16="http://schemas.microsoft.com/office/drawing/2014/main" val="137647530"/>
                    </a:ext>
                  </a:extLst>
                </a:gridCol>
              </a:tblGrid>
              <a:tr h="745849">
                <a:tc rowSpan="2">
                  <a:txBody>
                    <a:bodyPr/>
                    <a:lstStyle/>
                    <a:p>
                      <a:pPr marL="0" indent="0">
                        <a:buNone/>
                      </a:pPr>
                      <a:r>
                        <a:rPr lang="en-US" altLang="zh-TW" sz="2400" dirty="0"/>
                        <a:t>6. Apart from the experimental intervention, did each study group receive the same level of care (that is, were they treated equally)?</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2400" dirty="0"/>
                        <a:t>除了實驗的介入措施之外，各組的所有對待是否相同？</a:t>
                      </a:r>
                    </a:p>
                  </a:txBody>
                  <a:tcPr/>
                </a:tc>
                <a:tc>
                  <a:txBody>
                    <a:bodyPr/>
                    <a:lstStyle/>
                    <a:p>
                      <a:pPr algn="ctr"/>
                      <a:endParaRPr lang="en-US" altLang="zh-TW" sz="2400" dirty="0"/>
                    </a:p>
                    <a:p>
                      <a:pPr algn="ctr"/>
                      <a:r>
                        <a:rPr lang="en-US" altLang="zh-TW" sz="2400" dirty="0"/>
                        <a:t>YES</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p>
                    <a:p>
                      <a:pPr algn="ctr"/>
                      <a:r>
                        <a:rPr lang="en-US" altLang="zh-TW" sz="2400" dirty="0"/>
                        <a:t>Can’t tell</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p>
                    <a:p>
                      <a:pPr algn="ctr"/>
                      <a:r>
                        <a:rPr lang="en-US" altLang="zh-TW" sz="2400" dirty="0"/>
                        <a:t>NO</a:t>
                      </a:r>
                      <a:endParaRPr lang="zh-TW" altLang="en-US" sz="2400"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493887565"/>
                  </a:ext>
                </a:extLst>
              </a:tr>
              <a:tr h="1657441">
                <a:tc vMerge="1">
                  <a:txBody>
                    <a:bodyPr/>
                    <a:lstStyle/>
                    <a:p>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b="1" dirty="0"/>
                        <a:t>V</a:t>
                      </a:r>
                      <a:endParaRPr lang="zh-TW" altLang="en-US" sz="2400" b="1" dirty="0"/>
                    </a:p>
                  </a:txBody>
                  <a:tcPr anchor="ctr"/>
                </a:tc>
                <a:tc>
                  <a:txBody>
                    <a:bodyPr/>
                    <a:lstStyle/>
                    <a:p>
                      <a:endParaRPr lang="zh-TW" altLang="en-US" dirty="0"/>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TW" altLang="en-US" sz="2400" b="1" dirty="0"/>
                    </a:p>
                    <a:p>
                      <a:endParaRPr lang="zh-TW" altLang="en-US" dirty="0"/>
                    </a:p>
                  </a:txBody>
                  <a:tcPr anchor="ctr"/>
                </a:tc>
                <a:extLst>
                  <a:ext uri="{0D108BD9-81ED-4DB2-BD59-A6C34878D82A}">
                    <a16:rowId xmlns:a16="http://schemas.microsoft.com/office/drawing/2014/main" val="3333484914"/>
                  </a:ext>
                </a:extLst>
              </a:tr>
            </a:tbl>
          </a:graphicData>
        </a:graphic>
      </p:graphicFrame>
      <p:sp>
        <p:nvSpPr>
          <p:cNvPr id="12" name="文字方塊 11">
            <a:extLst>
              <a:ext uri="{FF2B5EF4-FFF2-40B4-BE49-F238E27FC236}">
                <a16:creationId xmlns:a16="http://schemas.microsoft.com/office/drawing/2014/main" id="{6A9555CF-CA84-CEAD-AD0B-71C372C2C1F7}"/>
              </a:ext>
            </a:extLst>
          </p:cNvPr>
          <p:cNvSpPr txBox="1"/>
          <p:nvPr/>
        </p:nvSpPr>
        <p:spPr>
          <a:xfrm>
            <a:off x="5693318" y="3207819"/>
            <a:ext cx="5931740" cy="1384995"/>
          </a:xfrm>
          <a:prstGeom prst="rect">
            <a:avLst/>
          </a:prstGeom>
          <a:noFill/>
        </p:spPr>
        <p:txBody>
          <a:bodyPr wrap="square" rtlCol="0">
            <a:spAutoFit/>
          </a:bodyPr>
          <a:lstStyle/>
          <a:p>
            <a:pPr marL="457200" indent="-457200">
              <a:buFont typeface="Arial" panose="020B0604020202020204" pitchFamily="34" charset="0"/>
              <a:buChar char="•"/>
            </a:pPr>
            <a:r>
              <a:rPr lang="zh-TW" altLang="en-US" sz="2800" dirty="0">
                <a:solidFill>
                  <a:srgbClr val="0070C0"/>
                </a:solidFill>
                <a:latin typeface="Microsoft YaHei" panose="020B0503020204020204" pitchFamily="34" charset="-122"/>
                <a:ea typeface="Microsoft YaHei" panose="020B0503020204020204" pitchFamily="34" charset="-122"/>
              </a:rPr>
              <a:t>兩組除了有無配戴</a:t>
            </a:r>
            <a:r>
              <a:rPr lang="en-US" altLang="zh-TW" sz="2800" dirty="0">
                <a:solidFill>
                  <a:srgbClr val="0070C0"/>
                </a:solidFill>
                <a:latin typeface="Microsoft YaHei" panose="020B0503020204020204" pitchFamily="34" charset="-122"/>
                <a:ea typeface="Microsoft YaHei" panose="020B0503020204020204" pitchFamily="34" charset="-122"/>
              </a:rPr>
              <a:t>smartwatch</a:t>
            </a:r>
            <a:r>
              <a:rPr lang="zh-TW" altLang="en-US" sz="2800" dirty="0">
                <a:solidFill>
                  <a:srgbClr val="0070C0"/>
                </a:solidFill>
                <a:latin typeface="Microsoft YaHei" panose="020B0503020204020204" pitchFamily="34" charset="-122"/>
                <a:ea typeface="Microsoft YaHei" panose="020B0503020204020204" pitchFamily="34" charset="-122"/>
              </a:rPr>
              <a:t>外，其餘設備及流程皆一致。。</a:t>
            </a:r>
          </a:p>
          <a:p>
            <a:endParaRPr lang="zh-TW" altLang="en-US" sz="2800" dirty="0">
              <a:solidFill>
                <a:srgbClr val="0070C0"/>
              </a:solidFill>
              <a:latin typeface="Microsoft YaHei" panose="020B0503020204020204" pitchFamily="34" charset="-122"/>
              <a:ea typeface="Microsoft YaHei" panose="020B0503020204020204" pitchFamily="34" charset="-122"/>
            </a:endParaRPr>
          </a:p>
        </p:txBody>
      </p:sp>
      <p:pic>
        <p:nvPicPr>
          <p:cNvPr id="7" name="內容版面配置區 6">
            <a:extLst>
              <a:ext uri="{FF2B5EF4-FFF2-40B4-BE49-F238E27FC236}">
                <a16:creationId xmlns:a16="http://schemas.microsoft.com/office/drawing/2014/main" id="{23E5B6F9-EE52-7748-EC52-8E72C389E7FA}"/>
              </a:ext>
            </a:extLst>
          </p:cNvPr>
          <p:cNvPicPr>
            <a:picLocks noGrp="1" noChangeAspect="1"/>
          </p:cNvPicPr>
          <p:nvPr>
            <p:ph idx="1"/>
          </p:nvPr>
        </p:nvPicPr>
        <p:blipFill>
          <a:blip r:embed="rId2"/>
          <a:stretch>
            <a:fillRect/>
          </a:stretch>
        </p:blipFill>
        <p:spPr>
          <a:xfrm>
            <a:off x="758009" y="2520274"/>
            <a:ext cx="4314053" cy="4145080"/>
          </a:xfrm>
        </p:spPr>
      </p:pic>
    </p:spTree>
    <p:extLst>
      <p:ext uri="{BB962C8B-B14F-4D97-AF65-F5344CB8AC3E}">
        <p14:creationId xmlns:p14="http://schemas.microsoft.com/office/powerpoint/2010/main" val="301875643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CE09B-949D-7927-60D8-9C7AEF0200B7}"/>
            </a:ext>
          </a:extLst>
        </p:cNvPr>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91CEAA01-B177-1A2D-D6F9-A1FC3C963FCD}"/>
              </a:ext>
            </a:extLst>
          </p:cNvPr>
          <p:cNvSpPr>
            <a:spLocks noGrp="1"/>
          </p:cNvSpPr>
          <p:nvPr>
            <p:ph type="sldNum" sz="quarter" idx="12"/>
          </p:nvPr>
        </p:nvSpPr>
        <p:spPr>
          <a:xfrm>
            <a:off x="11430876" y="6453002"/>
            <a:ext cx="630493" cy="365125"/>
          </a:xfrm>
        </p:spPr>
        <p:txBody>
          <a:bodyPr vert="horz" lIns="91440" tIns="45720" rIns="91440" bIns="45720" rtlCol="0" anchor="ctr">
            <a:noAutofit/>
          </a:bodyPr>
          <a:lstStyle/>
          <a:p>
            <a:pPr>
              <a:spcAft>
                <a:spcPts val="600"/>
              </a:spcAft>
            </a:pPr>
            <a:fld id="{CC057153-B650-4DEB-B370-79DDCFDCE934}" type="slidenum">
              <a:rPr lang="en-US" sz="2000" smtClean="0"/>
              <a:pPr>
                <a:spcAft>
                  <a:spcPts val="600"/>
                </a:spcAft>
              </a:pPr>
              <a:t>27</a:t>
            </a:fld>
            <a:endParaRPr lang="en-US" sz="2000" dirty="0"/>
          </a:p>
        </p:txBody>
      </p:sp>
      <p:graphicFrame>
        <p:nvGraphicFramePr>
          <p:cNvPr id="9" name="表格 8">
            <a:extLst>
              <a:ext uri="{FF2B5EF4-FFF2-40B4-BE49-F238E27FC236}">
                <a16:creationId xmlns:a16="http://schemas.microsoft.com/office/drawing/2014/main" id="{0D8B17C8-7354-9AC2-30BC-BDBE4A41B82F}"/>
              </a:ext>
            </a:extLst>
          </p:cNvPr>
          <p:cNvGraphicFramePr>
            <a:graphicFrameLocks noGrp="1"/>
          </p:cNvGraphicFramePr>
          <p:nvPr>
            <p:extLst>
              <p:ext uri="{D42A27DB-BD31-4B8C-83A1-F6EECF244321}">
                <p14:modId xmlns:p14="http://schemas.microsoft.com/office/powerpoint/2010/main" val="643876080"/>
              </p:ext>
            </p:extLst>
          </p:nvPr>
        </p:nvGraphicFramePr>
        <p:xfrm>
          <a:off x="136753" y="39874"/>
          <a:ext cx="11918493" cy="1597566"/>
        </p:xfrm>
        <a:graphic>
          <a:graphicData uri="http://schemas.openxmlformats.org/drawingml/2006/table">
            <a:tbl>
              <a:tblPr firstRow="1" bandRow="1">
                <a:tableStyleId>{91EBBBCC-DAD2-459C-BE2E-F6DE35CF9A28}</a:tableStyleId>
              </a:tblPr>
              <a:tblGrid>
                <a:gridCol w="6243243">
                  <a:extLst>
                    <a:ext uri="{9D8B030D-6E8A-4147-A177-3AD203B41FA5}">
                      <a16:colId xmlns:a16="http://schemas.microsoft.com/office/drawing/2014/main" val="1340665412"/>
                    </a:ext>
                  </a:extLst>
                </a:gridCol>
                <a:gridCol w="1871576">
                  <a:extLst>
                    <a:ext uri="{9D8B030D-6E8A-4147-A177-3AD203B41FA5}">
                      <a16:colId xmlns:a16="http://schemas.microsoft.com/office/drawing/2014/main" val="4247696271"/>
                    </a:ext>
                  </a:extLst>
                </a:gridCol>
                <a:gridCol w="1941410">
                  <a:extLst>
                    <a:ext uri="{9D8B030D-6E8A-4147-A177-3AD203B41FA5}">
                      <a16:colId xmlns:a16="http://schemas.microsoft.com/office/drawing/2014/main" val="209357475"/>
                    </a:ext>
                  </a:extLst>
                </a:gridCol>
                <a:gridCol w="1862264">
                  <a:extLst>
                    <a:ext uri="{9D8B030D-6E8A-4147-A177-3AD203B41FA5}">
                      <a16:colId xmlns:a16="http://schemas.microsoft.com/office/drawing/2014/main" val="137647530"/>
                    </a:ext>
                  </a:extLst>
                </a:gridCol>
              </a:tblGrid>
              <a:tr h="628059">
                <a:tc rowSpan="2">
                  <a:txBody>
                    <a:bodyPr/>
                    <a:lstStyle/>
                    <a:p>
                      <a:pPr marL="0" indent="0">
                        <a:buNone/>
                      </a:pPr>
                      <a:r>
                        <a:rPr lang="en-US" altLang="zh-TW" sz="2400" dirty="0"/>
                        <a:t>7. Were the effects of intervention reported comprehensively?</a:t>
                      </a:r>
                    </a:p>
                    <a:p>
                      <a:pPr marL="0" indent="0">
                        <a:buNone/>
                      </a:pPr>
                      <a:r>
                        <a:rPr lang="zh-TW" altLang="en-US" sz="2400" dirty="0"/>
                        <a:t>介入措施的效果是否有被完整報告？</a:t>
                      </a:r>
                    </a:p>
                  </a:txBody>
                  <a:tcPr/>
                </a:tc>
                <a:tc>
                  <a:txBody>
                    <a:bodyPr/>
                    <a:lstStyle/>
                    <a:p>
                      <a:pPr algn="ctr"/>
                      <a:endParaRPr lang="en-US" altLang="zh-TW" sz="2400" dirty="0"/>
                    </a:p>
                    <a:p>
                      <a:pPr algn="ctr"/>
                      <a:r>
                        <a:rPr lang="en-US" altLang="zh-TW" sz="2400" dirty="0"/>
                        <a:t>YES</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p>
                    <a:p>
                      <a:pPr algn="ctr"/>
                      <a:r>
                        <a:rPr lang="en-US" altLang="zh-TW" sz="2400" dirty="0"/>
                        <a:t>Can’t tell</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p>
                    <a:p>
                      <a:pPr algn="ctr"/>
                      <a:r>
                        <a:rPr lang="en-US" altLang="zh-TW" sz="2400" dirty="0"/>
                        <a:t>NO</a:t>
                      </a:r>
                      <a:endParaRPr lang="zh-TW" altLang="en-US" sz="2400"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493887565"/>
                  </a:ext>
                </a:extLst>
              </a:tr>
              <a:tr h="774606">
                <a:tc vMerge="1">
                  <a:txBody>
                    <a:bodyPr/>
                    <a:lstStyle/>
                    <a:p>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b="1" dirty="0"/>
                        <a:t>V</a:t>
                      </a:r>
                      <a:endParaRPr lang="zh-TW" altLang="en-US" sz="2400" b="1" dirty="0"/>
                    </a:p>
                  </a:txBody>
                  <a:tcPr anchor="ctr"/>
                </a:tc>
                <a:tc>
                  <a:txBody>
                    <a:bodyPr/>
                    <a:lstStyle/>
                    <a:p>
                      <a:endParaRPr lang="zh-TW" altLang="en-US" dirty="0"/>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TW" altLang="en-US" sz="2400" b="1" dirty="0"/>
                    </a:p>
                    <a:p>
                      <a:endParaRPr lang="zh-TW" altLang="en-US" dirty="0"/>
                    </a:p>
                  </a:txBody>
                  <a:tcPr anchor="ctr"/>
                </a:tc>
                <a:extLst>
                  <a:ext uri="{0D108BD9-81ED-4DB2-BD59-A6C34878D82A}">
                    <a16:rowId xmlns:a16="http://schemas.microsoft.com/office/drawing/2014/main" val="3333484914"/>
                  </a:ext>
                </a:extLst>
              </a:tr>
            </a:tbl>
          </a:graphicData>
        </a:graphic>
      </p:graphicFrame>
      <p:sp>
        <p:nvSpPr>
          <p:cNvPr id="12" name="文字方塊 11">
            <a:extLst>
              <a:ext uri="{FF2B5EF4-FFF2-40B4-BE49-F238E27FC236}">
                <a16:creationId xmlns:a16="http://schemas.microsoft.com/office/drawing/2014/main" id="{009F415D-EC74-5793-9674-E575075792C7}"/>
              </a:ext>
            </a:extLst>
          </p:cNvPr>
          <p:cNvSpPr txBox="1"/>
          <p:nvPr/>
        </p:nvSpPr>
        <p:spPr>
          <a:xfrm>
            <a:off x="5700422" y="2565415"/>
            <a:ext cx="5931740" cy="1384995"/>
          </a:xfrm>
          <a:prstGeom prst="rect">
            <a:avLst/>
          </a:prstGeom>
          <a:noFill/>
        </p:spPr>
        <p:txBody>
          <a:bodyPr wrap="square" rtlCol="0">
            <a:spAutoFit/>
          </a:bodyPr>
          <a:lstStyle/>
          <a:p>
            <a:pPr marL="457200" indent="-457200">
              <a:buFont typeface="Arial" panose="020B0604020202020204" pitchFamily="34" charset="0"/>
              <a:buChar char="•"/>
            </a:pPr>
            <a:r>
              <a:rPr lang="zh-TW" altLang="en-US" sz="2800" dirty="0">
                <a:solidFill>
                  <a:srgbClr val="0070C0"/>
                </a:solidFill>
                <a:latin typeface="Microsoft YaHei" panose="020B0503020204020204" pitchFamily="34" charset="-122"/>
                <a:ea typeface="Microsoft YaHei" panose="020B0503020204020204" pitchFamily="34" charset="-122"/>
              </a:rPr>
              <a:t>使用</a:t>
            </a:r>
            <a:r>
              <a:rPr lang="en-US" altLang="zh-TW" sz="2800" dirty="0">
                <a:solidFill>
                  <a:srgbClr val="0070C0"/>
                </a:solidFill>
                <a:latin typeface="Microsoft YaHei" panose="020B0503020204020204" pitchFamily="34" charset="-122"/>
                <a:ea typeface="Microsoft YaHei" panose="020B0503020204020204" pitchFamily="34" charset="-122"/>
              </a:rPr>
              <a:t>SPSS</a:t>
            </a:r>
            <a:r>
              <a:rPr lang="zh-TW" altLang="en-US" sz="2800" dirty="0">
                <a:solidFill>
                  <a:srgbClr val="0070C0"/>
                </a:solidFill>
                <a:latin typeface="Microsoft YaHei" panose="020B0503020204020204" pitchFamily="34" charset="-122"/>
                <a:ea typeface="Microsoft YaHei" panose="020B0503020204020204" pitchFamily="34" charset="-122"/>
              </a:rPr>
              <a:t>分析，類別變項使用</a:t>
            </a:r>
            <a:r>
              <a:rPr lang="en-US" altLang="zh-TW" sz="2800" dirty="0">
                <a:solidFill>
                  <a:srgbClr val="0070C0"/>
                </a:solidFill>
                <a:latin typeface="Microsoft YaHei" panose="020B0503020204020204" pitchFamily="34" charset="-122"/>
                <a:ea typeface="Microsoft YaHei" panose="020B0503020204020204" pitchFamily="34" charset="-122"/>
              </a:rPr>
              <a:t>chi-square</a:t>
            </a:r>
            <a:r>
              <a:rPr lang="zh-TW" altLang="en-US" sz="2800" dirty="0">
                <a:solidFill>
                  <a:srgbClr val="0070C0"/>
                </a:solidFill>
                <a:latin typeface="Microsoft YaHei" panose="020B0503020204020204" pitchFamily="34" charset="-122"/>
                <a:ea typeface="Microsoft YaHei" panose="020B0503020204020204" pitchFamily="34" charset="-122"/>
              </a:rPr>
              <a:t>，連續變項使用</a:t>
            </a:r>
            <a:r>
              <a:rPr lang="en-US" altLang="zh-TW" sz="2800" dirty="0">
                <a:solidFill>
                  <a:srgbClr val="0070C0"/>
                </a:solidFill>
                <a:latin typeface="Microsoft YaHei" panose="020B0503020204020204" pitchFamily="34" charset="-122"/>
                <a:ea typeface="Microsoft YaHei" panose="020B0503020204020204" pitchFamily="34" charset="-122"/>
              </a:rPr>
              <a:t>t-test</a:t>
            </a:r>
            <a:r>
              <a:rPr lang="zh-TW" altLang="en-US" sz="2800" dirty="0">
                <a:solidFill>
                  <a:srgbClr val="0070C0"/>
                </a:solidFill>
                <a:latin typeface="Microsoft YaHei" panose="020B0503020204020204" pitchFamily="34" charset="-122"/>
                <a:ea typeface="Microsoft YaHei" panose="020B0503020204020204" pitchFamily="34" charset="-122"/>
              </a:rPr>
              <a:t>，以比較兩組是否有差異。</a:t>
            </a:r>
          </a:p>
        </p:txBody>
      </p:sp>
      <p:pic>
        <p:nvPicPr>
          <p:cNvPr id="6" name="內容版面配置區 5">
            <a:extLst>
              <a:ext uri="{FF2B5EF4-FFF2-40B4-BE49-F238E27FC236}">
                <a16:creationId xmlns:a16="http://schemas.microsoft.com/office/drawing/2014/main" id="{BF849550-EE38-6AA2-F29D-3E7005502A44}"/>
              </a:ext>
            </a:extLst>
          </p:cNvPr>
          <p:cNvPicPr>
            <a:picLocks noGrp="1" noChangeAspect="1"/>
          </p:cNvPicPr>
          <p:nvPr>
            <p:ph idx="1"/>
          </p:nvPr>
        </p:nvPicPr>
        <p:blipFill>
          <a:blip r:embed="rId2"/>
          <a:stretch>
            <a:fillRect/>
          </a:stretch>
        </p:blipFill>
        <p:spPr>
          <a:xfrm>
            <a:off x="761124" y="1866819"/>
            <a:ext cx="4716683" cy="4586183"/>
          </a:xfrm>
        </p:spPr>
      </p:pic>
    </p:spTree>
    <p:extLst>
      <p:ext uri="{BB962C8B-B14F-4D97-AF65-F5344CB8AC3E}">
        <p14:creationId xmlns:p14="http://schemas.microsoft.com/office/powerpoint/2010/main" val="91699797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47C31-9B87-05DD-CAE0-25EDFCDEF4AB}"/>
            </a:ext>
          </a:extLst>
        </p:cNvPr>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3BC66C67-AF8E-72D3-9DFD-8E9C0B356625}"/>
              </a:ext>
            </a:extLst>
          </p:cNvPr>
          <p:cNvSpPr>
            <a:spLocks noGrp="1"/>
          </p:cNvSpPr>
          <p:nvPr>
            <p:ph type="sldNum" sz="quarter" idx="12"/>
          </p:nvPr>
        </p:nvSpPr>
        <p:spPr>
          <a:xfrm>
            <a:off x="11487150" y="6453002"/>
            <a:ext cx="574219" cy="365125"/>
          </a:xfrm>
        </p:spPr>
        <p:txBody>
          <a:bodyPr vert="horz" lIns="91440" tIns="45720" rIns="91440" bIns="45720" rtlCol="0" anchor="ctr">
            <a:noAutofit/>
          </a:bodyPr>
          <a:lstStyle/>
          <a:p>
            <a:pPr>
              <a:spcAft>
                <a:spcPts val="600"/>
              </a:spcAft>
            </a:pPr>
            <a:fld id="{CC057153-B650-4DEB-B370-79DDCFDCE934}" type="slidenum">
              <a:rPr lang="en-US" sz="2400" smtClean="0"/>
              <a:pPr>
                <a:spcAft>
                  <a:spcPts val="600"/>
                </a:spcAft>
              </a:pPr>
              <a:t>28</a:t>
            </a:fld>
            <a:endParaRPr lang="en-US" sz="2400" dirty="0"/>
          </a:p>
        </p:txBody>
      </p:sp>
      <p:graphicFrame>
        <p:nvGraphicFramePr>
          <p:cNvPr id="9" name="表格 8">
            <a:extLst>
              <a:ext uri="{FF2B5EF4-FFF2-40B4-BE49-F238E27FC236}">
                <a16:creationId xmlns:a16="http://schemas.microsoft.com/office/drawing/2014/main" id="{E2682722-99FD-8C10-F69E-095FA295B202}"/>
              </a:ext>
            </a:extLst>
          </p:cNvPr>
          <p:cNvGraphicFramePr>
            <a:graphicFrameLocks noGrp="1"/>
          </p:cNvGraphicFramePr>
          <p:nvPr>
            <p:extLst>
              <p:ext uri="{D42A27DB-BD31-4B8C-83A1-F6EECF244321}">
                <p14:modId xmlns:p14="http://schemas.microsoft.com/office/powerpoint/2010/main" val="3867743272"/>
              </p:ext>
            </p:extLst>
          </p:nvPr>
        </p:nvGraphicFramePr>
        <p:xfrm>
          <a:off x="136753" y="39874"/>
          <a:ext cx="11918493" cy="1920240"/>
        </p:xfrm>
        <a:graphic>
          <a:graphicData uri="http://schemas.openxmlformats.org/drawingml/2006/table">
            <a:tbl>
              <a:tblPr firstRow="1" bandRow="1">
                <a:tableStyleId>{91EBBBCC-DAD2-459C-BE2E-F6DE35CF9A28}</a:tableStyleId>
              </a:tblPr>
              <a:tblGrid>
                <a:gridCol w="6243243">
                  <a:extLst>
                    <a:ext uri="{9D8B030D-6E8A-4147-A177-3AD203B41FA5}">
                      <a16:colId xmlns:a16="http://schemas.microsoft.com/office/drawing/2014/main" val="1340665412"/>
                    </a:ext>
                  </a:extLst>
                </a:gridCol>
                <a:gridCol w="1871576">
                  <a:extLst>
                    <a:ext uri="{9D8B030D-6E8A-4147-A177-3AD203B41FA5}">
                      <a16:colId xmlns:a16="http://schemas.microsoft.com/office/drawing/2014/main" val="4247696271"/>
                    </a:ext>
                  </a:extLst>
                </a:gridCol>
                <a:gridCol w="1941410">
                  <a:extLst>
                    <a:ext uri="{9D8B030D-6E8A-4147-A177-3AD203B41FA5}">
                      <a16:colId xmlns:a16="http://schemas.microsoft.com/office/drawing/2014/main" val="209357475"/>
                    </a:ext>
                  </a:extLst>
                </a:gridCol>
                <a:gridCol w="1862264">
                  <a:extLst>
                    <a:ext uri="{9D8B030D-6E8A-4147-A177-3AD203B41FA5}">
                      <a16:colId xmlns:a16="http://schemas.microsoft.com/office/drawing/2014/main" val="137647530"/>
                    </a:ext>
                  </a:extLst>
                </a:gridCol>
              </a:tblGrid>
              <a:tr h="729943">
                <a:tc rowSpan="2">
                  <a:txBody>
                    <a:bodyPr/>
                    <a:lstStyle/>
                    <a:p>
                      <a:pPr marL="0" indent="0">
                        <a:buNone/>
                      </a:pPr>
                      <a:r>
                        <a:rPr lang="en-US" altLang="zh-TW" sz="2400" dirty="0"/>
                        <a:t>8. Was the precision of the estimate of the intervention or treatment effect reported?</a:t>
                      </a:r>
                    </a:p>
                    <a:p>
                      <a:pPr marL="0" indent="0">
                        <a:buNone/>
                      </a:pPr>
                      <a:r>
                        <a:rPr lang="zh-TW" altLang="en-US" sz="2400" dirty="0"/>
                        <a:t>是否有列出介入</a:t>
                      </a:r>
                      <a:r>
                        <a:rPr lang="en-US" altLang="zh-TW" sz="2400" dirty="0"/>
                        <a:t>/</a:t>
                      </a:r>
                      <a:r>
                        <a:rPr lang="zh-TW" altLang="en-US" sz="2400" dirty="0"/>
                        <a:t>治療的精確度？</a:t>
                      </a:r>
                    </a:p>
                  </a:txBody>
                  <a:tcPr/>
                </a:tc>
                <a:tc>
                  <a:txBody>
                    <a:bodyPr/>
                    <a:lstStyle/>
                    <a:p>
                      <a:pPr algn="ctr"/>
                      <a:endParaRPr lang="en-US" altLang="zh-TW" sz="2400" dirty="0"/>
                    </a:p>
                    <a:p>
                      <a:pPr algn="ctr"/>
                      <a:r>
                        <a:rPr lang="en-US" altLang="zh-TW" sz="2400" dirty="0"/>
                        <a:t>YES</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p>
                    <a:p>
                      <a:pPr algn="ctr"/>
                      <a:r>
                        <a:rPr lang="en-US" altLang="zh-TW" sz="2400" dirty="0"/>
                        <a:t>Can’t tell</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p>
                    <a:p>
                      <a:pPr algn="ctr"/>
                      <a:r>
                        <a:rPr lang="en-US" altLang="zh-TW" sz="2400" dirty="0"/>
                        <a:t>NO</a:t>
                      </a:r>
                      <a:endParaRPr lang="zh-TW" altLang="en-US" sz="2400"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493887565"/>
                  </a:ext>
                </a:extLst>
              </a:tr>
              <a:tr h="973258">
                <a:tc vMerge="1">
                  <a:txBody>
                    <a:bodyPr/>
                    <a:lstStyle/>
                    <a:p>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4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2400" b="1" i="0" u="none" strike="noStrike" kern="1200" cap="none" spc="0" normalizeH="0" baseline="0" noProof="0" dirty="0">
                        <a:ln>
                          <a:noFill/>
                        </a:ln>
                        <a:solidFill>
                          <a:prstClr val="black"/>
                        </a:solidFill>
                        <a:effectLst/>
                        <a:uLnTx/>
                        <a:uFillTx/>
                        <a:latin typeface="+mn-lt"/>
                        <a:ea typeface="+mn-ea"/>
                        <a:cs typeface="+mn-cs"/>
                      </a:endParaRP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TW" altLang="en-US" sz="2400" b="1"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400" b="1" u="none" strike="noStrike" kern="1200" cap="none" spc="0" normalizeH="0" baseline="0" noProof="0" dirty="0">
                          <a:ln>
                            <a:noFill/>
                          </a:ln>
                          <a:solidFill>
                            <a:prstClr val="black"/>
                          </a:solidFill>
                          <a:effectLst/>
                          <a:uLnTx/>
                          <a:uFillTx/>
                        </a:rPr>
                        <a:t>V</a:t>
                      </a:r>
                      <a:endParaRPr kumimoji="0" lang="zh-TW" altLang="en-US" sz="2400" b="1" i="0" u="none" strike="noStrike" kern="1200" cap="none" spc="0" normalizeH="0" baseline="0" noProof="0" dirty="0">
                        <a:ln>
                          <a:noFill/>
                        </a:ln>
                        <a:solidFill>
                          <a:prstClr val="black"/>
                        </a:solidFill>
                        <a:effectLst/>
                        <a:uLnTx/>
                        <a:uFillTx/>
                        <a:latin typeface="+mn-lt"/>
                        <a:ea typeface="+mn-ea"/>
                        <a:cs typeface="+mn-cs"/>
                      </a:endParaRPr>
                    </a:p>
                    <a:p>
                      <a:endParaRPr lang="zh-TW" altLang="en-US" dirty="0"/>
                    </a:p>
                  </a:txBody>
                  <a:tcPr anchor="ctr"/>
                </a:tc>
                <a:extLst>
                  <a:ext uri="{0D108BD9-81ED-4DB2-BD59-A6C34878D82A}">
                    <a16:rowId xmlns:a16="http://schemas.microsoft.com/office/drawing/2014/main" val="3333484914"/>
                  </a:ext>
                </a:extLst>
              </a:tr>
            </a:tbl>
          </a:graphicData>
        </a:graphic>
      </p:graphicFrame>
      <p:sp>
        <p:nvSpPr>
          <p:cNvPr id="12" name="文字方塊 11">
            <a:extLst>
              <a:ext uri="{FF2B5EF4-FFF2-40B4-BE49-F238E27FC236}">
                <a16:creationId xmlns:a16="http://schemas.microsoft.com/office/drawing/2014/main" id="{5568177B-87EC-C76C-8B30-B3E4C8EB426C}"/>
              </a:ext>
            </a:extLst>
          </p:cNvPr>
          <p:cNvSpPr txBox="1"/>
          <p:nvPr/>
        </p:nvSpPr>
        <p:spPr>
          <a:xfrm>
            <a:off x="6407347" y="2313404"/>
            <a:ext cx="5224815" cy="954107"/>
          </a:xfrm>
          <a:prstGeom prst="rect">
            <a:avLst/>
          </a:prstGeom>
          <a:noFill/>
        </p:spPr>
        <p:txBody>
          <a:bodyPr wrap="square" rtlCol="0">
            <a:spAutoFit/>
          </a:bodyPr>
          <a:lstStyle/>
          <a:p>
            <a:pPr marL="457200" indent="-457200">
              <a:buFont typeface="Arial" panose="020B0604020202020204" pitchFamily="34" charset="0"/>
              <a:buChar char="•"/>
            </a:pPr>
            <a:r>
              <a:rPr lang="zh-TW" altLang="en-US" sz="2800" dirty="0">
                <a:solidFill>
                  <a:srgbClr val="0070C0"/>
                </a:solidFill>
                <a:latin typeface="Microsoft YaHei" panose="020B0503020204020204" pitchFamily="34" charset="-122"/>
                <a:ea typeface="Microsoft YaHei" panose="020B0503020204020204" pitchFamily="34" charset="-122"/>
              </a:rPr>
              <a:t>文中未呈現信賴區間。</a:t>
            </a:r>
          </a:p>
          <a:p>
            <a:endParaRPr lang="zh-TW" altLang="en-US" sz="2800" dirty="0">
              <a:solidFill>
                <a:srgbClr val="0070C0"/>
              </a:solidFill>
              <a:latin typeface="Microsoft YaHei" panose="020B0503020204020204" pitchFamily="34" charset="-122"/>
              <a:ea typeface="Microsoft YaHei" panose="020B0503020204020204" pitchFamily="34" charset="-122"/>
            </a:endParaRPr>
          </a:p>
        </p:txBody>
      </p:sp>
      <p:pic>
        <p:nvPicPr>
          <p:cNvPr id="7" name="內容版面配置區 6">
            <a:extLst>
              <a:ext uri="{FF2B5EF4-FFF2-40B4-BE49-F238E27FC236}">
                <a16:creationId xmlns:a16="http://schemas.microsoft.com/office/drawing/2014/main" id="{A22EF742-68DC-5252-D79F-899A0CD6B27A}"/>
              </a:ext>
            </a:extLst>
          </p:cNvPr>
          <p:cNvPicPr>
            <a:picLocks noGrp="1" noChangeAspect="1"/>
          </p:cNvPicPr>
          <p:nvPr>
            <p:ph idx="1"/>
          </p:nvPr>
        </p:nvPicPr>
        <p:blipFill>
          <a:blip r:embed="rId2"/>
          <a:stretch>
            <a:fillRect/>
          </a:stretch>
        </p:blipFill>
        <p:spPr>
          <a:xfrm>
            <a:off x="300813" y="2038473"/>
            <a:ext cx="2060061" cy="545311"/>
          </a:xfrm>
        </p:spPr>
      </p:pic>
      <p:pic>
        <p:nvPicPr>
          <p:cNvPr id="11" name="圖片 10">
            <a:extLst>
              <a:ext uri="{FF2B5EF4-FFF2-40B4-BE49-F238E27FC236}">
                <a16:creationId xmlns:a16="http://schemas.microsoft.com/office/drawing/2014/main" id="{8127E90C-783E-AF18-EBB3-8E5B7DF08AC9}"/>
              </a:ext>
            </a:extLst>
          </p:cNvPr>
          <p:cNvPicPr>
            <a:picLocks noChangeAspect="1"/>
          </p:cNvPicPr>
          <p:nvPr/>
        </p:nvPicPr>
        <p:blipFill>
          <a:blip r:embed="rId3"/>
          <a:stretch>
            <a:fillRect/>
          </a:stretch>
        </p:blipFill>
        <p:spPr>
          <a:xfrm>
            <a:off x="300813" y="2619503"/>
            <a:ext cx="5267701" cy="545310"/>
          </a:xfrm>
          <a:prstGeom prst="rect">
            <a:avLst/>
          </a:prstGeom>
        </p:spPr>
      </p:pic>
      <p:pic>
        <p:nvPicPr>
          <p:cNvPr id="14" name="圖片 13">
            <a:extLst>
              <a:ext uri="{FF2B5EF4-FFF2-40B4-BE49-F238E27FC236}">
                <a16:creationId xmlns:a16="http://schemas.microsoft.com/office/drawing/2014/main" id="{8306D9DD-B999-C551-E517-3E31D985B71E}"/>
              </a:ext>
            </a:extLst>
          </p:cNvPr>
          <p:cNvPicPr>
            <a:picLocks noChangeAspect="1"/>
          </p:cNvPicPr>
          <p:nvPr/>
        </p:nvPicPr>
        <p:blipFill>
          <a:blip r:embed="rId4"/>
          <a:stretch>
            <a:fillRect/>
          </a:stretch>
        </p:blipFill>
        <p:spPr>
          <a:xfrm>
            <a:off x="300813" y="3236250"/>
            <a:ext cx="5267701" cy="3216752"/>
          </a:xfrm>
          <a:prstGeom prst="rect">
            <a:avLst/>
          </a:prstGeom>
        </p:spPr>
      </p:pic>
    </p:spTree>
    <p:extLst>
      <p:ext uri="{BB962C8B-B14F-4D97-AF65-F5344CB8AC3E}">
        <p14:creationId xmlns:p14="http://schemas.microsoft.com/office/powerpoint/2010/main" val="125427738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F9BB4-EA97-DFD2-8F78-0C68C6103812}"/>
            </a:ext>
          </a:extLst>
        </p:cNvPr>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CD6B91C3-932B-DF2D-9FD4-2FDA8A070B81}"/>
              </a:ext>
            </a:extLst>
          </p:cNvPr>
          <p:cNvSpPr>
            <a:spLocks noGrp="1"/>
          </p:cNvSpPr>
          <p:nvPr>
            <p:ph type="sldNum" sz="quarter" idx="12"/>
          </p:nvPr>
        </p:nvSpPr>
        <p:spPr>
          <a:xfrm>
            <a:off x="11472864" y="6329364"/>
            <a:ext cx="588506" cy="488764"/>
          </a:xfrm>
        </p:spPr>
        <p:txBody>
          <a:bodyPr vert="horz" lIns="91440" tIns="45720" rIns="91440" bIns="45720" rtlCol="0" anchor="ctr">
            <a:noAutofit/>
          </a:bodyPr>
          <a:lstStyle/>
          <a:p>
            <a:pPr>
              <a:spcAft>
                <a:spcPts val="600"/>
              </a:spcAft>
            </a:pPr>
            <a:fld id="{CC057153-B650-4DEB-B370-79DDCFDCE934}" type="slidenum">
              <a:rPr lang="en-US" sz="2400" smtClean="0"/>
              <a:pPr>
                <a:spcAft>
                  <a:spcPts val="600"/>
                </a:spcAft>
              </a:pPr>
              <a:t>29</a:t>
            </a:fld>
            <a:endParaRPr lang="en-US" sz="2400" dirty="0"/>
          </a:p>
        </p:txBody>
      </p:sp>
      <p:graphicFrame>
        <p:nvGraphicFramePr>
          <p:cNvPr id="9" name="表格 8">
            <a:extLst>
              <a:ext uri="{FF2B5EF4-FFF2-40B4-BE49-F238E27FC236}">
                <a16:creationId xmlns:a16="http://schemas.microsoft.com/office/drawing/2014/main" id="{5F4D8C5B-A807-6261-E975-404E80B3B684}"/>
              </a:ext>
            </a:extLst>
          </p:cNvPr>
          <p:cNvGraphicFramePr>
            <a:graphicFrameLocks noGrp="1"/>
          </p:cNvGraphicFramePr>
          <p:nvPr>
            <p:extLst>
              <p:ext uri="{D42A27DB-BD31-4B8C-83A1-F6EECF244321}">
                <p14:modId xmlns:p14="http://schemas.microsoft.com/office/powerpoint/2010/main" val="3954636983"/>
              </p:ext>
            </p:extLst>
          </p:nvPr>
        </p:nvGraphicFramePr>
        <p:xfrm>
          <a:off x="136753" y="39874"/>
          <a:ext cx="11918493" cy="1920240"/>
        </p:xfrm>
        <a:graphic>
          <a:graphicData uri="http://schemas.openxmlformats.org/drawingml/2006/table">
            <a:tbl>
              <a:tblPr firstRow="1" bandRow="1">
                <a:tableStyleId>{91EBBBCC-DAD2-459C-BE2E-F6DE35CF9A28}</a:tableStyleId>
              </a:tblPr>
              <a:tblGrid>
                <a:gridCol w="6243243">
                  <a:extLst>
                    <a:ext uri="{9D8B030D-6E8A-4147-A177-3AD203B41FA5}">
                      <a16:colId xmlns:a16="http://schemas.microsoft.com/office/drawing/2014/main" val="1340665412"/>
                    </a:ext>
                  </a:extLst>
                </a:gridCol>
                <a:gridCol w="1871576">
                  <a:extLst>
                    <a:ext uri="{9D8B030D-6E8A-4147-A177-3AD203B41FA5}">
                      <a16:colId xmlns:a16="http://schemas.microsoft.com/office/drawing/2014/main" val="4247696271"/>
                    </a:ext>
                  </a:extLst>
                </a:gridCol>
                <a:gridCol w="1941410">
                  <a:extLst>
                    <a:ext uri="{9D8B030D-6E8A-4147-A177-3AD203B41FA5}">
                      <a16:colId xmlns:a16="http://schemas.microsoft.com/office/drawing/2014/main" val="209357475"/>
                    </a:ext>
                  </a:extLst>
                </a:gridCol>
                <a:gridCol w="1862264">
                  <a:extLst>
                    <a:ext uri="{9D8B030D-6E8A-4147-A177-3AD203B41FA5}">
                      <a16:colId xmlns:a16="http://schemas.microsoft.com/office/drawing/2014/main" val="137647530"/>
                    </a:ext>
                  </a:extLst>
                </a:gridCol>
              </a:tblGrid>
              <a:tr h="628059">
                <a:tc rowSpan="2">
                  <a:txBody>
                    <a:bodyPr/>
                    <a:lstStyle/>
                    <a:p>
                      <a:pPr marL="0" indent="0">
                        <a:buNone/>
                      </a:pPr>
                      <a:r>
                        <a:rPr lang="en-US" altLang="zh-TW" sz="2400" dirty="0"/>
                        <a:t>9.</a:t>
                      </a:r>
                      <a:r>
                        <a:rPr lang="zh-TW" altLang="en-US" sz="2400" dirty="0"/>
                        <a:t> </a:t>
                      </a:r>
                      <a:r>
                        <a:rPr lang="en-US" altLang="zh-TW" sz="2400" dirty="0"/>
                        <a:t>Do the benefits of the experimental intervention outweigh the harms and costs?</a:t>
                      </a:r>
                    </a:p>
                    <a:p>
                      <a:pPr marL="0" indent="0">
                        <a:buNone/>
                      </a:pPr>
                      <a:r>
                        <a:rPr lang="zh-TW" altLang="en-US" sz="2400" dirty="0"/>
                        <a:t>介入措施所帶來的效益是否值得付出傷害及成本的代價？</a:t>
                      </a:r>
                    </a:p>
                  </a:txBody>
                  <a:tcPr/>
                </a:tc>
                <a:tc>
                  <a:txBody>
                    <a:bodyPr/>
                    <a:lstStyle/>
                    <a:p>
                      <a:pPr algn="ctr"/>
                      <a:endParaRPr lang="en-US" altLang="zh-TW" sz="2400" dirty="0"/>
                    </a:p>
                    <a:p>
                      <a:pPr algn="ctr"/>
                      <a:r>
                        <a:rPr lang="en-US" altLang="zh-TW" sz="2400" dirty="0"/>
                        <a:t>YES</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p>
                    <a:p>
                      <a:pPr algn="ctr"/>
                      <a:r>
                        <a:rPr lang="en-US" altLang="zh-TW" sz="2400" dirty="0"/>
                        <a:t>Can’t tell</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p>
                    <a:p>
                      <a:pPr algn="ctr"/>
                      <a:r>
                        <a:rPr lang="en-US" altLang="zh-TW" sz="2400" dirty="0"/>
                        <a:t>NO</a:t>
                      </a:r>
                      <a:endParaRPr lang="zh-TW" altLang="en-US" sz="2400"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493887565"/>
                  </a:ext>
                </a:extLst>
              </a:tr>
              <a:tr h="774606">
                <a:tc vMerge="1">
                  <a:txBody>
                    <a:bodyPr/>
                    <a:lstStyle/>
                    <a:p>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4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1" u="none" strike="noStrike" kern="1200" cap="none" spc="0" normalizeH="0" baseline="0" noProof="0" dirty="0">
                          <a:ln>
                            <a:noFill/>
                          </a:ln>
                          <a:solidFill>
                            <a:prstClr val="black"/>
                          </a:solidFill>
                          <a:effectLst/>
                          <a:uLnTx/>
                          <a:uFillTx/>
                        </a:rPr>
                        <a:t>V</a:t>
                      </a:r>
                      <a:endParaRPr kumimoji="0" lang="zh-TW" altLang="en-US" sz="2400" b="1" i="0" u="none" strike="noStrike" kern="1200" cap="none" spc="0" normalizeH="0" baseline="0" noProof="0" dirty="0">
                        <a:ln>
                          <a:noFill/>
                        </a:ln>
                        <a:solidFill>
                          <a:prstClr val="black"/>
                        </a:solidFill>
                        <a:effectLst/>
                        <a:uLnTx/>
                        <a:uFillTx/>
                        <a:latin typeface="+mn-lt"/>
                        <a:ea typeface="+mn-ea"/>
                        <a:cs typeface="+mn-cs"/>
                      </a:endParaRP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TW" altLang="en-US" sz="2400" b="1" dirty="0"/>
                    </a:p>
                    <a:p>
                      <a:endParaRPr lang="zh-TW" altLang="en-US" dirty="0"/>
                    </a:p>
                  </a:txBody>
                  <a:tcPr anchor="ctr"/>
                </a:tc>
                <a:extLst>
                  <a:ext uri="{0D108BD9-81ED-4DB2-BD59-A6C34878D82A}">
                    <a16:rowId xmlns:a16="http://schemas.microsoft.com/office/drawing/2014/main" val="3333484914"/>
                  </a:ext>
                </a:extLst>
              </a:tr>
            </a:tbl>
          </a:graphicData>
        </a:graphic>
      </p:graphicFrame>
      <p:sp>
        <p:nvSpPr>
          <p:cNvPr id="12" name="文字方塊 11">
            <a:extLst>
              <a:ext uri="{FF2B5EF4-FFF2-40B4-BE49-F238E27FC236}">
                <a16:creationId xmlns:a16="http://schemas.microsoft.com/office/drawing/2014/main" id="{55653E73-BDEF-62EE-AC3F-55442F38B462}"/>
              </a:ext>
            </a:extLst>
          </p:cNvPr>
          <p:cNvSpPr txBox="1"/>
          <p:nvPr/>
        </p:nvSpPr>
        <p:spPr>
          <a:xfrm>
            <a:off x="6463574" y="2617768"/>
            <a:ext cx="5383191" cy="954107"/>
          </a:xfrm>
          <a:prstGeom prst="rect">
            <a:avLst/>
          </a:prstGeom>
          <a:noFill/>
        </p:spPr>
        <p:txBody>
          <a:bodyPr wrap="square" rtlCol="0">
            <a:spAutoFit/>
          </a:bodyPr>
          <a:lstStyle/>
          <a:p>
            <a:pPr marL="457200" indent="-457200">
              <a:buFont typeface="Arial" panose="020B0604020202020204" pitchFamily="34" charset="0"/>
              <a:buChar char="•"/>
            </a:pPr>
            <a:r>
              <a:rPr lang="zh-TW" altLang="en-US" sz="2800" dirty="0">
                <a:solidFill>
                  <a:srgbClr val="0070C0"/>
                </a:solidFill>
                <a:latin typeface="Microsoft YaHei" panose="020B0503020204020204" pitchFamily="34" charset="-122"/>
                <a:ea typeface="Microsoft YaHei" panose="020B0503020204020204" pitchFamily="34" charset="-122"/>
              </a:rPr>
              <a:t>提及此裝置可提升</a:t>
            </a:r>
            <a:r>
              <a:rPr lang="en-US" altLang="zh-TW" sz="2800" dirty="0">
                <a:solidFill>
                  <a:srgbClr val="0070C0"/>
                </a:solidFill>
                <a:latin typeface="Microsoft YaHei" panose="020B0503020204020204" pitchFamily="34" charset="-122"/>
                <a:ea typeface="Microsoft YaHei" panose="020B0503020204020204" pitchFamily="34" charset="-122"/>
              </a:rPr>
              <a:t>CPR</a:t>
            </a:r>
            <a:r>
              <a:rPr lang="zh-TW" altLang="en-US" sz="2800" dirty="0">
                <a:solidFill>
                  <a:srgbClr val="0070C0"/>
                </a:solidFill>
                <a:latin typeface="Microsoft YaHei" panose="020B0503020204020204" pitchFamily="34" charset="-122"/>
                <a:ea typeface="Microsoft YaHei" panose="020B0503020204020204" pitchFamily="34" charset="-122"/>
              </a:rPr>
              <a:t>品質，但風險及成本未提及。</a:t>
            </a:r>
          </a:p>
        </p:txBody>
      </p:sp>
      <p:pic>
        <p:nvPicPr>
          <p:cNvPr id="6" name="內容版面配置區 5">
            <a:extLst>
              <a:ext uri="{FF2B5EF4-FFF2-40B4-BE49-F238E27FC236}">
                <a16:creationId xmlns:a16="http://schemas.microsoft.com/office/drawing/2014/main" id="{F24FB0B5-11D6-1C73-CCFC-D2AA1DE81440}"/>
              </a:ext>
            </a:extLst>
          </p:cNvPr>
          <p:cNvPicPr>
            <a:picLocks noGrp="1" noChangeAspect="1"/>
          </p:cNvPicPr>
          <p:nvPr>
            <p:ph idx="1"/>
          </p:nvPr>
        </p:nvPicPr>
        <p:blipFill>
          <a:blip r:embed="rId2"/>
          <a:stretch>
            <a:fillRect/>
          </a:stretch>
        </p:blipFill>
        <p:spPr>
          <a:xfrm>
            <a:off x="284875" y="2282108"/>
            <a:ext cx="5901619" cy="2975691"/>
          </a:xfrm>
        </p:spPr>
      </p:pic>
    </p:spTree>
    <p:extLst>
      <p:ext uri="{BB962C8B-B14F-4D97-AF65-F5344CB8AC3E}">
        <p14:creationId xmlns:p14="http://schemas.microsoft.com/office/powerpoint/2010/main" val="188755922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F05D8-E7F3-D5D6-7E0B-CD9D9093434D}"/>
            </a:ext>
          </a:extLst>
        </p:cNvPr>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DDBCCAC2-7F3D-AE1A-9B4A-6867BE4D178D}"/>
              </a:ext>
            </a:extLst>
          </p:cNvPr>
          <p:cNvSpPr>
            <a:spLocks noGrp="1"/>
          </p:cNvSpPr>
          <p:nvPr>
            <p:ph type="sldNum" sz="quarter" idx="12"/>
          </p:nvPr>
        </p:nvSpPr>
        <p:spPr>
          <a:xfrm>
            <a:off x="11444288" y="6294908"/>
            <a:ext cx="617081" cy="523219"/>
          </a:xfrm>
        </p:spPr>
        <p:txBody>
          <a:bodyPr vert="horz" lIns="91440" tIns="45720" rIns="91440" bIns="45720" rtlCol="0" anchor="ctr">
            <a:noAutofit/>
          </a:bodyPr>
          <a:lstStyle/>
          <a:p>
            <a:pPr>
              <a:spcAft>
                <a:spcPts val="600"/>
              </a:spcAft>
            </a:pPr>
            <a:fld id="{CC057153-B650-4DEB-B370-79DDCFDCE934}" type="slidenum">
              <a:rPr lang="en-US" sz="2400" smtClean="0"/>
              <a:pPr>
                <a:spcAft>
                  <a:spcPts val="600"/>
                </a:spcAft>
              </a:pPr>
              <a:t>30</a:t>
            </a:fld>
            <a:endParaRPr lang="en-US" sz="2400" dirty="0"/>
          </a:p>
        </p:txBody>
      </p:sp>
      <p:graphicFrame>
        <p:nvGraphicFramePr>
          <p:cNvPr id="9" name="表格 8">
            <a:extLst>
              <a:ext uri="{FF2B5EF4-FFF2-40B4-BE49-F238E27FC236}">
                <a16:creationId xmlns:a16="http://schemas.microsoft.com/office/drawing/2014/main" id="{D7D168FA-4324-B92C-5F37-DE0875AF40A1}"/>
              </a:ext>
            </a:extLst>
          </p:cNvPr>
          <p:cNvGraphicFramePr>
            <a:graphicFrameLocks noGrp="1"/>
          </p:cNvGraphicFramePr>
          <p:nvPr>
            <p:extLst>
              <p:ext uri="{D42A27DB-BD31-4B8C-83A1-F6EECF244321}">
                <p14:modId xmlns:p14="http://schemas.microsoft.com/office/powerpoint/2010/main" val="1357858074"/>
              </p:ext>
            </p:extLst>
          </p:nvPr>
        </p:nvGraphicFramePr>
        <p:xfrm>
          <a:off x="136753" y="39874"/>
          <a:ext cx="11918493" cy="1597566"/>
        </p:xfrm>
        <a:graphic>
          <a:graphicData uri="http://schemas.openxmlformats.org/drawingml/2006/table">
            <a:tbl>
              <a:tblPr firstRow="1" bandRow="1">
                <a:tableStyleId>{91EBBBCC-DAD2-459C-BE2E-F6DE35CF9A28}</a:tableStyleId>
              </a:tblPr>
              <a:tblGrid>
                <a:gridCol w="6243243">
                  <a:extLst>
                    <a:ext uri="{9D8B030D-6E8A-4147-A177-3AD203B41FA5}">
                      <a16:colId xmlns:a16="http://schemas.microsoft.com/office/drawing/2014/main" val="1340665412"/>
                    </a:ext>
                  </a:extLst>
                </a:gridCol>
                <a:gridCol w="1871576">
                  <a:extLst>
                    <a:ext uri="{9D8B030D-6E8A-4147-A177-3AD203B41FA5}">
                      <a16:colId xmlns:a16="http://schemas.microsoft.com/office/drawing/2014/main" val="4247696271"/>
                    </a:ext>
                  </a:extLst>
                </a:gridCol>
                <a:gridCol w="1941410">
                  <a:extLst>
                    <a:ext uri="{9D8B030D-6E8A-4147-A177-3AD203B41FA5}">
                      <a16:colId xmlns:a16="http://schemas.microsoft.com/office/drawing/2014/main" val="209357475"/>
                    </a:ext>
                  </a:extLst>
                </a:gridCol>
                <a:gridCol w="1862264">
                  <a:extLst>
                    <a:ext uri="{9D8B030D-6E8A-4147-A177-3AD203B41FA5}">
                      <a16:colId xmlns:a16="http://schemas.microsoft.com/office/drawing/2014/main" val="137647530"/>
                    </a:ext>
                  </a:extLst>
                </a:gridCol>
              </a:tblGrid>
              <a:tr h="628059">
                <a:tc rowSpan="2">
                  <a:txBody>
                    <a:bodyPr/>
                    <a:lstStyle/>
                    <a:p>
                      <a:pPr marL="0" indent="0">
                        <a:buNone/>
                      </a:pPr>
                      <a:r>
                        <a:rPr lang="en-US" altLang="zh-TW" sz="2400" dirty="0"/>
                        <a:t>10.  Can the results be applied to your local population/in your context?</a:t>
                      </a:r>
                    </a:p>
                    <a:p>
                      <a:pPr marL="0" indent="0">
                        <a:buNone/>
                      </a:pPr>
                      <a:r>
                        <a:rPr lang="zh-TW" altLang="en-US" sz="2400" dirty="0"/>
                        <a:t>研究結果是否可以應用在你的情境當中（或當地族群？）</a:t>
                      </a:r>
                    </a:p>
                  </a:txBody>
                  <a:tcPr/>
                </a:tc>
                <a:tc>
                  <a:txBody>
                    <a:bodyPr/>
                    <a:lstStyle/>
                    <a:p>
                      <a:pPr algn="ctr"/>
                      <a:endParaRPr lang="en-US" altLang="zh-TW" sz="2400" dirty="0"/>
                    </a:p>
                    <a:p>
                      <a:pPr algn="ctr"/>
                      <a:r>
                        <a:rPr lang="en-US" altLang="zh-TW" sz="2400" dirty="0"/>
                        <a:t>YES</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p>
                    <a:p>
                      <a:pPr algn="ctr"/>
                      <a:r>
                        <a:rPr lang="en-US" altLang="zh-TW" sz="2400" dirty="0"/>
                        <a:t>Can’t tell</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p>
                    <a:p>
                      <a:pPr algn="ctr"/>
                      <a:r>
                        <a:rPr lang="en-US" altLang="zh-TW" sz="2400" dirty="0"/>
                        <a:t>NO</a:t>
                      </a:r>
                      <a:endParaRPr lang="zh-TW" altLang="en-US" sz="2400"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493887565"/>
                  </a:ext>
                </a:extLst>
              </a:tr>
              <a:tr h="774606">
                <a:tc vMerge="1">
                  <a:txBody>
                    <a:bodyPr/>
                    <a:lstStyle/>
                    <a:p>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4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1" u="none" strike="noStrike" kern="1200" cap="none" spc="0" normalizeH="0" baseline="0" noProof="0" dirty="0">
                          <a:ln>
                            <a:noFill/>
                          </a:ln>
                          <a:solidFill>
                            <a:prstClr val="black"/>
                          </a:solidFill>
                          <a:effectLst/>
                          <a:uLnTx/>
                          <a:uFillTx/>
                        </a:rPr>
                        <a:t>V</a:t>
                      </a:r>
                      <a:endParaRPr kumimoji="0" lang="zh-TW" altLang="en-US" sz="2400" b="1" i="0" u="none" strike="noStrike" kern="1200" cap="none" spc="0" normalizeH="0" baseline="0" noProof="0" dirty="0">
                        <a:ln>
                          <a:noFill/>
                        </a:ln>
                        <a:solidFill>
                          <a:prstClr val="black"/>
                        </a:solidFill>
                        <a:effectLst/>
                        <a:uLnTx/>
                        <a:uFillTx/>
                        <a:latin typeface="+mn-lt"/>
                        <a:ea typeface="+mn-ea"/>
                        <a:cs typeface="+mn-cs"/>
                      </a:endParaRP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TW" altLang="en-US" sz="2400" b="1" dirty="0"/>
                    </a:p>
                    <a:p>
                      <a:endParaRPr lang="zh-TW" altLang="en-US" dirty="0"/>
                    </a:p>
                  </a:txBody>
                  <a:tcPr anchor="ctr"/>
                </a:tc>
                <a:extLst>
                  <a:ext uri="{0D108BD9-81ED-4DB2-BD59-A6C34878D82A}">
                    <a16:rowId xmlns:a16="http://schemas.microsoft.com/office/drawing/2014/main" val="3333484914"/>
                  </a:ext>
                </a:extLst>
              </a:tr>
            </a:tbl>
          </a:graphicData>
        </a:graphic>
      </p:graphicFrame>
      <p:sp>
        <p:nvSpPr>
          <p:cNvPr id="12" name="文字方塊 11">
            <a:extLst>
              <a:ext uri="{FF2B5EF4-FFF2-40B4-BE49-F238E27FC236}">
                <a16:creationId xmlns:a16="http://schemas.microsoft.com/office/drawing/2014/main" id="{64109952-370C-6DB8-5B85-CF1F2E000A79}"/>
              </a:ext>
            </a:extLst>
          </p:cNvPr>
          <p:cNvSpPr txBox="1"/>
          <p:nvPr/>
        </p:nvSpPr>
        <p:spPr>
          <a:xfrm>
            <a:off x="614363" y="2234359"/>
            <a:ext cx="11176175" cy="523220"/>
          </a:xfrm>
          <a:prstGeom prst="rect">
            <a:avLst/>
          </a:prstGeom>
          <a:noFill/>
        </p:spPr>
        <p:txBody>
          <a:bodyPr wrap="square" rtlCol="0">
            <a:spAutoFit/>
          </a:bodyPr>
          <a:lstStyle/>
          <a:p>
            <a:pPr marL="457200" indent="-457200">
              <a:buFont typeface="Arial" panose="020B0604020202020204" pitchFamily="34" charset="0"/>
              <a:buChar char="•"/>
            </a:pPr>
            <a:r>
              <a:rPr lang="zh-TW" altLang="en-US" sz="2800" dirty="0">
                <a:solidFill>
                  <a:srgbClr val="0070C0"/>
                </a:solidFill>
                <a:latin typeface="Microsoft YaHei" panose="020B0503020204020204" pitchFamily="34" charset="-122"/>
                <a:ea typeface="Microsoft YaHei" panose="020B0503020204020204" pitchFamily="34" charset="-122"/>
              </a:rPr>
              <a:t>本研究為模擬演練，不確定能否外推至臨床實務中。</a:t>
            </a:r>
          </a:p>
        </p:txBody>
      </p:sp>
    </p:spTree>
    <p:extLst>
      <p:ext uri="{BB962C8B-B14F-4D97-AF65-F5344CB8AC3E}">
        <p14:creationId xmlns:p14="http://schemas.microsoft.com/office/powerpoint/2010/main" val="248508402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9B58F-FD1A-07F3-9224-11E2557867B8}"/>
            </a:ext>
          </a:extLst>
        </p:cNvPr>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6928DF2A-A008-D918-A67C-9B689C11180E}"/>
              </a:ext>
            </a:extLst>
          </p:cNvPr>
          <p:cNvSpPr>
            <a:spLocks noGrp="1"/>
          </p:cNvSpPr>
          <p:nvPr>
            <p:ph type="sldNum" sz="quarter" idx="12"/>
          </p:nvPr>
        </p:nvSpPr>
        <p:spPr>
          <a:xfrm>
            <a:off x="11487150" y="6400800"/>
            <a:ext cx="574219" cy="417327"/>
          </a:xfrm>
        </p:spPr>
        <p:txBody>
          <a:bodyPr vert="horz" lIns="91440" tIns="45720" rIns="91440" bIns="45720" rtlCol="0" anchor="ctr">
            <a:noAutofit/>
          </a:bodyPr>
          <a:lstStyle/>
          <a:p>
            <a:pPr>
              <a:spcAft>
                <a:spcPts val="600"/>
              </a:spcAft>
            </a:pPr>
            <a:fld id="{CC057153-B650-4DEB-B370-79DDCFDCE934}" type="slidenum">
              <a:rPr lang="en-US" sz="2400" smtClean="0"/>
              <a:pPr>
                <a:spcAft>
                  <a:spcPts val="600"/>
                </a:spcAft>
              </a:pPr>
              <a:t>31</a:t>
            </a:fld>
            <a:endParaRPr lang="en-US" sz="2400" dirty="0"/>
          </a:p>
        </p:txBody>
      </p:sp>
      <p:graphicFrame>
        <p:nvGraphicFramePr>
          <p:cNvPr id="9" name="表格 8">
            <a:extLst>
              <a:ext uri="{FF2B5EF4-FFF2-40B4-BE49-F238E27FC236}">
                <a16:creationId xmlns:a16="http://schemas.microsoft.com/office/drawing/2014/main" id="{BCDB1BC0-F599-5673-BE65-A1819B0ACA7D}"/>
              </a:ext>
            </a:extLst>
          </p:cNvPr>
          <p:cNvGraphicFramePr>
            <a:graphicFrameLocks noGrp="1"/>
          </p:cNvGraphicFramePr>
          <p:nvPr>
            <p:extLst>
              <p:ext uri="{D42A27DB-BD31-4B8C-83A1-F6EECF244321}">
                <p14:modId xmlns:p14="http://schemas.microsoft.com/office/powerpoint/2010/main" val="2659865466"/>
              </p:ext>
            </p:extLst>
          </p:nvPr>
        </p:nvGraphicFramePr>
        <p:xfrm>
          <a:off x="136753" y="39874"/>
          <a:ext cx="11918493" cy="2286000"/>
        </p:xfrm>
        <a:graphic>
          <a:graphicData uri="http://schemas.openxmlformats.org/drawingml/2006/table">
            <a:tbl>
              <a:tblPr firstRow="1" bandRow="1">
                <a:tableStyleId>{91EBBBCC-DAD2-459C-BE2E-F6DE35CF9A28}</a:tableStyleId>
              </a:tblPr>
              <a:tblGrid>
                <a:gridCol w="6243243">
                  <a:extLst>
                    <a:ext uri="{9D8B030D-6E8A-4147-A177-3AD203B41FA5}">
                      <a16:colId xmlns:a16="http://schemas.microsoft.com/office/drawing/2014/main" val="1340665412"/>
                    </a:ext>
                  </a:extLst>
                </a:gridCol>
                <a:gridCol w="1871576">
                  <a:extLst>
                    <a:ext uri="{9D8B030D-6E8A-4147-A177-3AD203B41FA5}">
                      <a16:colId xmlns:a16="http://schemas.microsoft.com/office/drawing/2014/main" val="4247696271"/>
                    </a:ext>
                  </a:extLst>
                </a:gridCol>
                <a:gridCol w="1941410">
                  <a:extLst>
                    <a:ext uri="{9D8B030D-6E8A-4147-A177-3AD203B41FA5}">
                      <a16:colId xmlns:a16="http://schemas.microsoft.com/office/drawing/2014/main" val="209357475"/>
                    </a:ext>
                  </a:extLst>
                </a:gridCol>
                <a:gridCol w="1862264">
                  <a:extLst>
                    <a:ext uri="{9D8B030D-6E8A-4147-A177-3AD203B41FA5}">
                      <a16:colId xmlns:a16="http://schemas.microsoft.com/office/drawing/2014/main" val="137647530"/>
                    </a:ext>
                  </a:extLst>
                </a:gridCol>
              </a:tblGrid>
              <a:tr h="628059">
                <a:tc rowSpan="2">
                  <a:txBody>
                    <a:bodyPr/>
                    <a:lstStyle/>
                    <a:p>
                      <a:pPr marL="0" indent="0">
                        <a:buNone/>
                      </a:pPr>
                      <a:r>
                        <a:rPr lang="en-US" altLang="zh-TW" sz="2400" dirty="0"/>
                        <a:t>11. Would the experimental intervention</a:t>
                      </a:r>
                      <a:r>
                        <a:rPr lang="zh-TW" altLang="en-US" sz="2400" dirty="0"/>
                        <a:t> </a:t>
                      </a:r>
                      <a:endParaRPr lang="en-US" altLang="zh-TW" sz="2400" dirty="0"/>
                    </a:p>
                    <a:p>
                      <a:pPr marL="0" indent="0">
                        <a:buNone/>
                      </a:pPr>
                      <a:r>
                        <a:rPr lang="en-US" altLang="zh-TW" sz="2400" dirty="0"/>
                        <a:t>provide greater value to the people in your care than any of the existing interventions?</a:t>
                      </a:r>
                    </a:p>
                    <a:p>
                      <a:pPr marL="0" indent="0">
                        <a:buNone/>
                      </a:pPr>
                      <a:r>
                        <a:rPr lang="zh-TW" altLang="en-US" sz="2400" dirty="0"/>
                        <a:t>研究中的介入方法對您的患者們是否比起任何現存介入方式更有價值？</a:t>
                      </a:r>
                      <a:endParaRPr lang="en-US" altLang="zh-TW" sz="2400" dirty="0"/>
                    </a:p>
                  </a:txBody>
                  <a:tcPr/>
                </a:tc>
                <a:tc>
                  <a:txBody>
                    <a:bodyPr/>
                    <a:lstStyle/>
                    <a:p>
                      <a:pPr algn="ctr"/>
                      <a:endParaRPr lang="en-US" altLang="zh-TW" sz="2400" dirty="0"/>
                    </a:p>
                    <a:p>
                      <a:pPr algn="ctr"/>
                      <a:r>
                        <a:rPr lang="en-US" altLang="zh-TW" sz="2400" dirty="0"/>
                        <a:t>YES</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p>
                    <a:p>
                      <a:pPr algn="ctr"/>
                      <a:r>
                        <a:rPr lang="en-US" altLang="zh-TW" sz="2400" dirty="0"/>
                        <a:t>Can’t tell</a:t>
                      </a:r>
                      <a:endParaRPr lang="zh-TW" altLang="en-US" sz="2400" dirty="0">
                        <a:latin typeface="Microsoft YaHei" panose="020B0503020204020204" pitchFamily="34" charset="-122"/>
                        <a:ea typeface="Microsoft YaHei" panose="020B0503020204020204" pitchFamily="34" charset="-122"/>
                      </a:endParaRPr>
                    </a:p>
                  </a:txBody>
                  <a:tcPr/>
                </a:tc>
                <a:tc>
                  <a:txBody>
                    <a:bodyPr/>
                    <a:lstStyle/>
                    <a:p>
                      <a:pPr algn="ctr"/>
                      <a:endParaRPr lang="en-US" altLang="zh-TW" sz="2400" dirty="0"/>
                    </a:p>
                    <a:p>
                      <a:pPr algn="ctr"/>
                      <a:r>
                        <a:rPr lang="en-US" altLang="zh-TW" sz="2400" dirty="0"/>
                        <a:t>NO</a:t>
                      </a:r>
                      <a:endParaRPr lang="zh-TW" altLang="en-US" sz="2400"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493887565"/>
                  </a:ext>
                </a:extLst>
              </a:tr>
              <a:tr h="774606">
                <a:tc vMerge="1">
                  <a:txBody>
                    <a:bodyPr/>
                    <a:lstStyle/>
                    <a:p>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4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1" u="none" strike="noStrike" kern="1200" cap="none" spc="0" normalizeH="0" baseline="0" noProof="0" dirty="0">
                          <a:ln>
                            <a:noFill/>
                          </a:ln>
                          <a:solidFill>
                            <a:prstClr val="black"/>
                          </a:solidFill>
                          <a:effectLst/>
                          <a:uLnTx/>
                          <a:uFillTx/>
                        </a:rPr>
                        <a:t>V</a:t>
                      </a:r>
                      <a:endParaRPr kumimoji="0" lang="zh-TW" altLang="en-US" sz="2400" b="1" i="0" u="none" strike="noStrike" kern="1200" cap="none" spc="0" normalizeH="0" baseline="0" noProof="0" dirty="0">
                        <a:ln>
                          <a:noFill/>
                        </a:ln>
                        <a:solidFill>
                          <a:prstClr val="black"/>
                        </a:solidFill>
                        <a:effectLst/>
                        <a:uLnTx/>
                        <a:uFillTx/>
                        <a:latin typeface="+mn-lt"/>
                        <a:ea typeface="+mn-ea"/>
                        <a:cs typeface="+mn-cs"/>
                      </a:endParaRP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TW" altLang="en-US" sz="2400" b="1" dirty="0"/>
                    </a:p>
                    <a:p>
                      <a:endParaRPr lang="zh-TW" altLang="en-US" dirty="0"/>
                    </a:p>
                  </a:txBody>
                  <a:tcPr anchor="ctr"/>
                </a:tc>
                <a:extLst>
                  <a:ext uri="{0D108BD9-81ED-4DB2-BD59-A6C34878D82A}">
                    <a16:rowId xmlns:a16="http://schemas.microsoft.com/office/drawing/2014/main" val="3333484914"/>
                  </a:ext>
                </a:extLst>
              </a:tr>
            </a:tbl>
          </a:graphicData>
        </a:graphic>
      </p:graphicFrame>
      <p:sp>
        <p:nvSpPr>
          <p:cNvPr id="3" name="文字方塊 2">
            <a:extLst>
              <a:ext uri="{FF2B5EF4-FFF2-40B4-BE49-F238E27FC236}">
                <a16:creationId xmlns:a16="http://schemas.microsoft.com/office/drawing/2014/main" id="{7483BC53-0048-8152-7FCD-C69098FE5F3D}"/>
              </a:ext>
            </a:extLst>
          </p:cNvPr>
          <p:cNvSpPr txBox="1"/>
          <p:nvPr/>
        </p:nvSpPr>
        <p:spPr>
          <a:xfrm>
            <a:off x="455987" y="2905780"/>
            <a:ext cx="11176175" cy="954107"/>
          </a:xfrm>
          <a:prstGeom prst="rect">
            <a:avLst/>
          </a:prstGeom>
          <a:noFill/>
        </p:spPr>
        <p:txBody>
          <a:bodyPr wrap="square" rtlCol="0">
            <a:spAutoFit/>
          </a:bodyPr>
          <a:lstStyle/>
          <a:p>
            <a:pPr marL="457200" indent="-457200">
              <a:buFont typeface="Arial" panose="020B0604020202020204" pitchFamily="34" charset="0"/>
              <a:buChar char="•"/>
            </a:pPr>
            <a:r>
              <a:rPr lang="zh-TW" altLang="en-US" sz="2800" dirty="0">
                <a:solidFill>
                  <a:srgbClr val="0070C0"/>
                </a:solidFill>
                <a:latin typeface="Microsoft YaHei" panose="020B0503020204020204" pitchFamily="34" charset="-122"/>
                <a:ea typeface="Microsoft YaHei" panose="020B0503020204020204" pitchFamily="34" charset="-122"/>
              </a:rPr>
              <a:t>配戴</a:t>
            </a:r>
            <a:r>
              <a:rPr lang="en-US" altLang="zh-TW" sz="2800" dirty="0">
                <a:solidFill>
                  <a:srgbClr val="0070C0"/>
                </a:solidFill>
                <a:latin typeface="Microsoft YaHei" panose="020B0503020204020204" pitchFamily="34" charset="-122"/>
                <a:ea typeface="Microsoft YaHei" panose="020B0503020204020204" pitchFamily="34" charset="-122"/>
              </a:rPr>
              <a:t>smartwatch</a:t>
            </a:r>
            <a:r>
              <a:rPr lang="zh-TW" altLang="en-US" sz="2800" dirty="0">
                <a:solidFill>
                  <a:srgbClr val="0070C0"/>
                </a:solidFill>
                <a:latin typeface="Microsoft YaHei" panose="020B0503020204020204" pitchFamily="34" charset="-122"/>
                <a:ea typeface="Microsoft YaHei" panose="020B0503020204020204" pitchFamily="34" charset="-122"/>
              </a:rPr>
              <a:t>裝置可改善</a:t>
            </a:r>
            <a:r>
              <a:rPr lang="en-US" altLang="zh-TW" sz="2800" dirty="0">
                <a:solidFill>
                  <a:srgbClr val="0070C0"/>
                </a:solidFill>
                <a:latin typeface="Microsoft YaHei" panose="020B0503020204020204" pitchFamily="34" charset="-122"/>
                <a:ea typeface="Microsoft YaHei" panose="020B0503020204020204" pitchFamily="34" charset="-122"/>
              </a:rPr>
              <a:t>CPR</a:t>
            </a:r>
            <a:r>
              <a:rPr lang="zh-TW" altLang="en-US" sz="2800" dirty="0">
                <a:solidFill>
                  <a:srgbClr val="0070C0"/>
                </a:solidFill>
                <a:latin typeface="Microsoft YaHei" panose="020B0503020204020204" pitchFamily="34" charset="-122"/>
                <a:ea typeface="Microsoft YaHei" panose="020B0503020204020204" pitchFamily="34" charset="-122"/>
              </a:rPr>
              <a:t>速率、深度、品質之實務價值，但臨床證據不足。</a:t>
            </a:r>
          </a:p>
        </p:txBody>
      </p:sp>
    </p:spTree>
    <p:extLst>
      <p:ext uri="{BB962C8B-B14F-4D97-AF65-F5344CB8AC3E}">
        <p14:creationId xmlns:p14="http://schemas.microsoft.com/office/powerpoint/2010/main" val="282889562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5A92A98-187D-1D81-86FD-8D40CC69B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A1FDF207-C6ED-4E13-A04B-5F4C550035E8}"/>
              </a:ext>
            </a:extLst>
          </p:cNvPr>
          <p:cNvSpPr>
            <a:spLocks noGrp="1"/>
          </p:cNvSpPr>
          <p:nvPr>
            <p:ph type="title"/>
          </p:nvPr>
        </p:nvSpPr>
        <p:spPr>
          <a:xfrm>
            <a:off x="492940" y="473829"/>
            <a:ext cx="11294162" cy="1170252"/>
          </a:xfrm>
        </p:spPr>
        <p:txBody>
          <a:bodyPr vert="horz" lIns="91440" tIns="45720" rIns="91440" bIns="45720" rtlCol="0" anchor="b">
            <a:normAutofit/>
          </a:bodyPr>
          <a:lstStyle/>
          <a:p>
            <a:r>
              <a:rPr lang="zh-TW" altLang="en-US" sz="4400" dirty="0">
                <a:latin typeface="Microsoft YaHei" panose="020B0503020204020204" pitchFamily="34" charset="-122"/>
                <a:ea typeface="Microsoft YaHei" panose="020B0503020204020204" pitchFamily="34" charset="-122"/>
              </a:rPr>
              <a:t>臨床建議及執行計畫</a:t>
            </a:r>
            <a:endParaRPr lang="zh-TW" altLang="en-US" sz="2800" dirty="0">
              <a:latin typeface="Microsoft YaHei" panose="020B0503020204020204" pitchFamily="34" charset="-122"/>
              <a:ea typeface="Microsoft YaHei" panose="020B0503020204020204" pitchFamily="34" charset="-122"/>
            </a:endParaRPr>
          </a:p>
        </p:txBody>
      </p:sp>
      <p:pic>
        <p:nvPicPr>
          <p:cNvPr id="7" name="內容版面配置區 6">
            <a:extLst>
              <a:ext uri="{FF2B5EF4-FFF2-40B4-BE49-F238E27FC236}">
                <a16:creationId xmlns:a16="http://schemas.microsoft.com/office/drawing/2014/main" id="{AC30DC24-D8BE-FDF5-422A-FF1057865342}"/>
              </a:ext>
            </a:extLst>
          </p:cNvPr>
          <p:cNvPicPr>
            <a:picLocks noGrp="1" noChangeAspect="1"/>
          </p:cNvPicPr>
          <p:nvPr>
            <p:ph idx="1"/>
          </p:nvPr>
        </p:nvPicPr>
        <p:blipFill>
          <a:blip r:embed="rId3"/>
          <a:stretch>
            <a:fillRect/>
          </a:stretch>
        </p:blipFill>
        <p:spPr>
          <a:xfrm>
            <a:off x="492940" y="1831461"/>
            <a:ext cx="5559552" cy="2633471"/>
          </a:xfrm>
          <a:prstGeom prst="rect">
            <a:avLst/>
          </a:prstGeom>
        </p:spPr>
      </p:pic>
      <p:pic>
        <p:nvPicPr>
          <p:cNvPr id="9" name="圖片 8">
            <a:extLst>
              <a:ext uri="{FF2B5EF4-FFF2-40B4-BE49-F238E27FC236}">
                <a16:creationId xmlns:a16="http://schemas.microsoft.com/office/drawing/2014/main" id="{89F7F369-41F7-0CD3-4BC9-99D2EED448B2}"/>
              </a:ext>
            </a:extLst>
          </p:cNvPr>
          <p:cNvPicPr>
            <a:picLocks noChangeAspect="1"/>
          </p:cNvPicPr>
          <p:nvPr/>
        </p:nvPicPr>
        <p:blipFill>
          <a:blip r:embed="rId4"/>
          <a:stretch>
            <a:fillRect/>
          </a:stretch>
        </p:blipFill>
        <p:spPr>
          <a:xfrm>
            <a:off x="6287213" y="1831461"/>
            <a:ext cx="5559552" cy="1906839"/>
          </a:xfrm>
          <a:prstGeom prst="rect">
            <a:avLst/>
          </a:prstGeom>
        </p:spPr>
      </p:pic>
      <p:sp>
        <p:nvSpPr>
          <p:cNvPr id="6" name="投影片編號版面配置區 5">
            <a:extLst>
              <a:ext uri="{FF2B5EF4-FFF2-40B4-BE49-F238E27FC236}">
                <a16:creationId xmlns:a16="http://schemas.microsoft.com/office/drawing/2014/main" id="{521429B1-4815-8FE9-DBE0-E225F8E9FCF9}"/>
              </a:ext>
            </a:extLst>
          </p:cNvPr>
          <p:cNvSpPr>
            <a:spLocks noGrp="1"/>
          </p:cNvSpPr>
          <p:nvPr>
            <p:ph type="sldNum" sz="quarter" idx="12"/>
          </p:nvPr>
        </p:nvSpPr>
        <p:spPr>
          <a:xfrm>
            <a:off x="11472864" y="6500813"/>
            <a:ext cx="588506" cy="317314"/>
          </a:xfrm>
        </p:spPr>
        <p:txBody>
          <a:bodyPr vert="horz" lIns="91440" tIns="45720" rIns="91440" bIns="45720" rtlCol="0" anchor="ctr">
            <a:noAutofit/>
          </a:bodyPr>
          <a:lstStyle/>
          <a:p>
            <a:pPr>
              <a:spcAft>
                <a:spcPts val="600"/>
              </a:spcAft>
            </a:pPr>
            <a:fld id="{CC057153-B650-4DEB-B370-79DDCFDCE934}" type="slidenum">
              <a:rPr lang="en-US" sz="2400" smtClean="0"/>
              <a:pPr>
                <a:spcAft>
                  <a:spcPts val="600"/>
                </a:spcAft>
              </a:pPr>
              <a:t>32</a:t>
            </a:fld>
            <a:endParaRPr lang="en-US" sz="2400" dirty="0"/>
          </a:p>
        </p:txBody>
      </p:sp>
      <p:sp>
        <p:nvSpPr>
          <p:cNvPr id="10" name="標題 1">
            <a:extLst>
              <a:ext uri="{FF2B5EF4-FFF2-40B4-BE49-F238E27FC236}">
                <a16:creationId xmlns:a16="http://schemas.microsoft.com/office/drawing/2014/main" id="{8DA6BA12-33ED-3504-C2C0-5F232A2AAB15}"/>
              </a:ext>
            </a:extLst>
          </p:cNvPr>
          <p:cNvSpPr txBox="1">
            <a:spLocks/>
          </p:cNvSpPr>
          <p:nvPr/>
        </p:nvSpPr>
        <p:spPr>
          <a:xfrm>
            <a:off x="583104" y="4646899"/>
            <a:ext cx="5379223" cy="1731859"/>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zh-TW" altLang="en-US" sz="2800" b="0" dirty="0">
                <a:solidFill>
                  <a:srgbClr val="0070C0"/>
                </a:solidFill>
                <a:latin typeface="Microsoft YaHei" panose="020B0503020204020204" pitchFamily="34" charset="-122"/>
                <a:ea typeface="Microsoft YaHei" panose="020B0503020204020204" pitchFamily="34" charset="-122"/>
                <a:cs typeface="Microsoft Tai Le" panose="020B0502040204020203" pitchFamily="34" charset="0"/>
              </a:rPr>
              <a:t>在缺乏回饋裝置的情況下，節拍器或音樂等聽覺輔助工具可幫助施作者記住理想的胸外按壓速率，並提升胸外按壓的品質。</a:t>
            </a:r>
          </a:p>
        </p:txBody>
      </p:sp>
      <p:sp>
        <p:nvSpPr>
          <p:cNvPr id="12" name="標題 1">
            <a:extLst>
              <a:ext uri="{FF2B5EF4-FFF2-40B4-BE49-F238E27FC236}">
                <a16:creationId xmlns:a16="http://schemas.microsoft.com/office/drawing/2014/main" id="{EB0261AC-EC60-1E0F-19B0-5656D5A0225B}"/>
              </a:ext>
            </a:extLst>
          </p:cNvPr>
          <p:cNvSpPr txBox="1">
            <a:spLocks/>
          </p:cNvSpPr>
          <p:nvPr/>
        </p:nvSpPr>
        <p:spPr>
          <a:xfrm>
            <a:off x="6432634" y="3920244"/>
            <a:ext cx="5379223" cy="1731859"/>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zh-TW" altLang="en-US" sz="2800" b="0" dirty="0">
                <a:solidFill>
                  <a:srgbClr val="0070C0"/>
                </a:solidFill>
                <a:latin typeface="Microsoft YaHei" panose="020B0503020204020204" pitchFamily="34" charset="-122"/>
                <a:ea typeface="Microsoft YaHei" panose="020B0503020204020204" pitchFamily="34" charset="-122"/>
                <a:cs typeface="Microsoft Tai Le" panose="020B0502040204020203" pitchFamily="34" charset="0"/>
              </a:rPr>
              <a:t>相較於 </a:t>
            </a:r>
            <a:r>
              <a:rPr lang="en-US" altLang="zh-TW" sz="2800" b="0" dirty="0">
                <a:solidFill>
                  <a:srgbClr val="0070C0"/>
                </a:solidFill>
                <a:latin typeface="Microsoft YaHei" panose="020B0503020204020204" pitchFamily="34" charset="-122"/>
                <a:ea typeface="Microsoft YaHei" panose="020B0503020204020204" pitchFamily="34" charset="-122"/>
                <a:cs typeface="Microsoft Tai Le" panose="020B0502040204020203" pitchFamily="34" charset="0"/>
              </a:rPr>
              <a:t>119 bpm</a:t>
            </a:r>
            <a:r>
              <a:rPr lang="zh-TW" altLang="en-US" sz="2800" b="0" dirty="0">
                <a:solidFill>
                  <a:srgbClr val="0070C0"/>
                </a:solidFill>
                <a:latin typeface="Microsoft YaHei" panose="020B0503020204020204" pitchFamily="34" charset="-122"/>
                <a:ea typeface="Microsoft YaHei" panose="020B0503020204020204" pitchFamily="34" charset="-122"/>
                <a:cs typeface="Microsoft Tai Le" panose="020B0502040204020203" pitchFamily="34" charset="0"/>
              </a:rPr>
              <a:t>快節奏音樂，使用 </a:t>
            </a:r>
            <a:r>
              <a:rPr lang="en-US" altLang="zh-TW" sz="2800" b="0" dirty="0">
                <a:solidFill>
                  <a:srgbClr val="0070C0"/>
                </a:solidFill>
                <a:latin typeface="Microsoft YaHei" panose="020B0503020204020204" pitchFamily="34" charset="-122"/>
                <a:ea typeface="Microsoft YaHei" panose="020B0503020204020204" pitchFamily="34" charset="-122"/>
                <a:cs typeface="Microsoft Tai Le" panose="020B0502040204020203" pitchFamily="34" charset="0"/>
              </a:rPr>
              <a:t>104 bpm</a:t>
            </a:r>
            <a:r>
              <a:rPr lang="zh-TW" altLang="en-US" sz="2800" b="0" dirty="0">
                <a:solidFill>
                  <a:srgbClr val="0070C0"/>
                </a:solidFill>
                <a:latin typeface="Microsoft YaHei" panose="020B0503020204020204" pitchFamily="34" charset="-122"/>
                <a:ea typeface="Microsoft YaHei" panose="020B0503020204020204" pitchFamily="34" charset="-122"/>
                <a:cs typeface="Microsoft Tai Le" panose="020B0502040204020203" pitchFamily="34" charset="0"/>
              </a:rPr>
              <a:t>慢節奏音樂進行</a:t>
            </a:r>
            <a:r>
              <a:rPr lang="en-US" altLang="zh-TW" sz="2800" b="0" dirty="0">
                <a:solidFill>
                  <a:srgbClr val="0070C0"/>
                </a:solidFill>
                <a:latin typeface="Microsoft YaHei" panose="020B0503020204020204" pitchFamily="34" charset="-122"/>
                <a:ea typeface="Microsoft YaHei" panose="020B0503020204020204" pitchFamily="34" charset="-122"/>
                <a:cs typeface="Microsoft Tai Le" panose="020B0502040204020203" pitchFamily="34" charset="0"/>
              </a:rPr>
              <a:t>CPR</a:t>
            </a:r>
            <a:r>
              <a:rPr lang="zh-TW" altLang="en-US" sz="2800" b="0" dirty="0">
                <a:solidFill>
                  <a:srgbClr val="0070C0"/>
                </a:solidFill>
                <a:latin typeface="Microsoft YaHei" panose="020B0503020204020204" pitchFamily="34" charset="-122"/>
                <a:ea typeface="Microsoft YaHei" panose="020B0503020204020204" pitchFamily="34" charset="-122"/>
                <a:cs typeface="Microsoft Tai Le" panose="020B0502040204020203" pitchFamily="34" charset="0"/>
              </a:rPr>
              <a:t>不僅能達到建議的按壓深度，且在按壓深度合規率方面表現更佳。</a:t>
            </a:r>
          </a:p>
        </p:txBody>
      </p:sp>
      <p:sp>
        <p:nvSpPr>
          <p:cNvPr id="13" name="文字方塊 12">
            <a:extLst>
              <a:ext uri="{FF2B5EF4-FFF2-40B4-BE49-F238E27FC236}">
                <a16:creationId xmlns:a16="http://schemas.microsoft.com/office/drawing/2014/main" id="{060FD547-B2DF-4798-058B-4CA19DF3319B}"/>
              </a:ext>
            </a:extLst>
          </p:cNvPr>
          <p:cNvSpPr txBox="1"/>
          <p:nvPr/>
        </p:nvSpPr>
        <p:spPr>
          <a:xfrm>
            <a:off x="8907464" y="6285284"/>
            <a:ext cx="2565400" cy="369332"/>
          </a:xfrm>
          <a:prstGeom prst="rect">
            <a:avLst/>
          </a:prstGeom>
          <a:noFill/>
        </p:spPr>
        <p:txBody>
          <a:bodyPr wrap="square" rtlCol="0">
            <a:spAutoFit/>
          </a:bodyPr>
          <a:lstStyle/>
          <a:p>
            <a:r>
              <a:rPr lang="en-US" altLang="zh-TW">
                <a:latin typeface="Microsoft YaHei" panose="020B0503020204020204" pitchFamily="34" charset="-122"/>
                <a:ea typeface="Microsoft YaHei" panose="020B0503020204020204" pitchFamily="34" charset="-122"/>
              </a:rPr>
              <a:t>(Lan et al., 2025)</a:t>
            </a:r>
            <a:endParaRPr lang="zh-TW" altLang="en-US" dirty="0"/>
          </a:p>
        </p:txBody>
      </p:sp>
    </p:spTree>
    <p:extLst>
      <p:ext uri="{BB962C8B-B14F-4D97-AF65-F5344CB8AC3E}">
        <p14:creationId xmlns:p14="http://schemas.microsoft.com/office/powerpoint/2010/main" val="401290129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ECA996-3499-DD67-7E4F-1C4B6C2FA8F5}"/>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35A92A98-187D-1D81-86FD-8D40CC69B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1BD2B6AB-EA54-AF1C-8FCE-A98A5726E666}"/>
              </a:ext>
            </a:extLst>
          </p:cNvPr>
          <p:cNvSpPr>
            <a:spLocks noGrp="1"/>
          </p:cNvSpPr>
          <p:nvPr>
            <p:ph type="title"/>
          </p:nvPr>
        </p:nvSpPr>
        <p:spPr>
          <a:xfrm>
            <a:off x="476315" y="425388"/>
            <a:ext cx="11294162" cy="731240"/>
          </a:xfrm>
        </p:spPr>
        <p:txBody>
          <a:bodyPr vert="horz" lIns="91440" tIns="45720" rIns="91440" bIns="45720" rtlCol="0" anchor="b">
            <a:noAutofit/>
          </a:bodyPr>
          <a:lstStyle/>
          <a:p>
            <a:r>
              <a:rPr lang="zh-TW" altLang="en-US" sz="4800" dirty="0"/>
              <a:t>臨床建議及執行計畫</a:t>
            </a:r>
          </a:p>
        </p:txBody>
      </p:sp>
      <p:sp>
        <p:nvSpPr>
          <p:cNvPr id="10" name="標題 1">
            <a:extLst>
              <a:ext uri="{FF2B5EF4-FFF2-40B4-BE49-F238E27FC236}">
                <a16:creationId xmlns:a16="http://schemas.microsoft.com/office/drawing/2014/main" id="{1FF427E0-7323-1DD5-DC3C-381A4AB9005E}"/>
              </a:ext>
            </a:extLst>
          </p:cNvPr>
          <p:cNvSpPr txBox="1">
            <a:spLocks/>
          </p:cNvSpPr>
          <p:nvPr/>
        </p:nvSpPr>
        <p:spPr>
          <a:xfrm>
            <a:off x="476314" y="4767567"/>
            <a:ext cx="11294163" cy="1475291"/>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nSpc>
                <a:spcPct val="110000"/>
              </a:lnSpc>
              <a:spcBef>
                <a:spcPts val="1000"/>
              </a:spcBef>
            </a:pPr>
            <a:r>
              <a:rPr lang="zh-TW" altLang="en-US" sz="2400" b="0" dirty="0">
                <a:solidFill>
                  <a:srgbClr val="0070C0"/>
                </a:solidFill>
                <a:latin typeface="Microsoft YaHei" panose="020B0503020204020204" pitchFamily="34" charset="-122"/>
                <a:ea typeface="Microsoft YaHei" panose="020B0503020204020204" pitchFamily="34" charset="-122"/>
                <a:cs typeface="+mn-cs"/>
              </a:rPr>
              <a:t>此智慧手錶應用程式提供三種不同的回饋機制：手錶螢幕上的視覺回饋、揚聲器輸出的聲音回饋，及設定為</a:t>
            </a:r>
            <a:r>
              <a:rPr lang="en-US" altLang="zh-TW" sz="2400" b="0" dirty="0">
                <a:solidFill>
                  <a:srgbClr val="0070C0"/>
                </a:solidFill>
                <a:latin typeface="Microsoft YaHei" panose="020B0503020204020204" pitchFamily="34" charset="-122"/>
                <a:ea typeface="Microsoft YaHei" panose="020B0503020204020204" pitchFamily="34" charset="-122"/>
                <a:cs typeface="+mn-cs"/>
              </a:rPr>
              <a:t>110 bpm</a:t>
            </a:r>
            <a:r>
              <a:rPr lang="zh-TW" altLang="en-US" sz="2400" b="0" dirty="0">
                <a:solidFill>
                  <a:srgbClr val="0070C0"/>
                </a:solidFill>
                <a:latin typeface="Microsoft YaHei" panose="020B0503020204020204" pitchFamily="34" charset="-122"/>
                <a:ea typeface="Microsoft YaHei" panose="020B0503020204020204" pitchFamily="34" charset="-122"/>
                <a:cs typeface="+mn-cs"/>
              </a:rPr>
              <a:t>節拍器。儘管我們觀察到介入組與控制組之間的差異，但無法確定究竟是哪一種回饋機制造成這些差異。未來需進一步研究，以比較各種回饋機制的個別效果。</a:t>
            </a:r>
          </a:p>
        </p:txBody>
      </p:sp>
      <p:pic>
        <p:nvPicPr>
          <p:cNvPr id="13" name="圖片 12">
            <a:extLst>
              <a:ext uri="{FF2B5EF4-FFF2-40B4-BE49-F238E27FC236}">
                <a16:creationId xmlns:a16="http://schemas.microsoft.com/office/drawing/2014/main" id="{D7F6BE65-6C2C-028A-F86E-8A4B1086F3A8}"/>
              </a:ext>
            </a:extLst>
          </p:cNvPr>
          <p:cNvPicPr>
            <a:picLocks noChangeAspect="1"/>
          </p:cNvPicPr>
          <p:nvPr/>
        </p:nvPicPr>
        <p:blipFill>
          <a:blip r:embed="rId3"/>
          <a:stretch>
            <a:fillRect/>
          </a:stretch>
        </p:blipFill>
        <p:spPr>
          <a:xfrm>
            <a:off x="890213" y="1419289"/>
            <a:ext cx="3722174" cy="3070794"/>
          </a:xfrm>
          <a:prstGeom prst="rect">
            <a:avLst/>
          </a:prstGeom>
        </p:spPr>
      </p:pic>
      <p:sp>
        <p:nvSpPr>
          <p:cNvPr id="6" name="投影片編號版面配置區 5">
            <a:extLst>
              <a:ext uri="{FF2B5EF4-FFF2-40B4-BE49-F238E27FC236}">
                <a16:creationId xmlns:a16="http://schemas.microsoft.com/office/drawing/2014/main" id="{70685A19-BD48-E98C-44A9-F6BD5BE5055B}"/>
              </a:ext>
            </a:extLst>
          </p:cNvPr>
          <p:cNvSpPr>
            <a:spLocks noGrp="1"/>
          </p:cNvSpPr>
          <p:nvPr>
            <p:ph type="sldNum" sz="quarter" idx="12"/>
          </p:nvPr>
        </p:nvSpPr>
        <p:spPr>
          <a:xfrm>
            <a:off x="11487150" y="6411648"/>
            <a:ext cx="574219" cy="406479"/>
          </a:xfrm>
        </p:spPr>
        <p:txBody>
          <a:bodyPr vert="horz" lIns="91440" tIns="45720" rIns="91440" bIns="45720" rtlCol="0" anchor="ctr">
            <a:noAutofit/>
          </a:bodyPr>
          <a:lstStyle/>
          <a:p>
            <a:pPr>
              <a:spcAft>
                <a:spcPts val="600"/>
              </a:spcAft>
            </a:pPr>
            <a:fld id="{CC057153-B650-4DEB-B370-79DDCFDCE934}" type="slidenum">
              <a:rPr lang="en-US" sz="2400" smtClean="0"/>
              <a:pPr>
                <a:spcAft>
                  <a:spcPts val="600"/>
                </a:spcAft>
              </a:pPr>
              <a:t>33</a:t>
            </a:fld>
            <a:endParaRPr lang="en-US" sz="2400" dirty="0"/>
          </a:p>
        </p:txBody>
      </p:sp>
      <p:pic>
        <p:nvPicPr>
          <p:cNvPr id="19" name="圖片 18">
            <a:extLst>
              <a:ext uri="{FF2B5EF4-FFF2-40B4-BE49-F238E27FC236}">
                <a16:creationId xmlns:a16="http://schemas.microsoft.com/office/drawing/2014/main" id="{5846DCC7-481F-8935-5E22-9A77890E1D49}"/>
              </a:ext>
            </a:extLst>
          </p:cNvPr>
          <p:cNvPicPr>
            <a:picLocks noChangeAspect="1"/>
          </p:cNvPicPr>
          <p:nvPr/>
        </p:nvPicPr>
        <p:blipFill>
          <a:blip r:embed="rId4"/>
          <a:stretch>
            <a:fillRect/>
          </a:stretch>
        </p:blipFill>
        <p:spPr>
          <a:xfrm>
            <a:off x="6837619" y="262662"/>
            <a:ext cx="4022076" cy="4242244"/>
          </a:xfrm>
          <a:prstGeom prst="rect">
            <a:avLst/>
          </a:prstGeom>
        </p:spPr>
      </p:pic>
      <p:sp>
        <p:nvSpPr>
          <p:cNvPr id="20" name="文字方塊 19">
            <a:extLst>
              <a:ext uri="{FF2B5EF4-FFF2-40B4-BE49-F238E27FC236}">
                <a16:creationId xmlns:a16="http://schemas.microsoft.com/office/drawing/2014/main" id="{59C361E2-472C-6C2D-0747-129B37538557}"/>
              </a:ext>
            </a:extLst>
          </p:cNvPr>
          <p:cNvSpPr txBox="1"/>
          <p:nvPr/>
        </p:nvSpPr>
        <p:spPr>
          <a:xfrm>
            <a:off x="9433664" y="6360221"/>
            <a:ext cx="2565400" cy="369332"/>
          </a:xfrm>
          <a:prstGeom prst="rect">
            <a:avLst/>
          </a:prstGeom>
          <a:noFill/>
        </p:spPr>
        <p:txBody>
          <a:bodyPr wrap="square" rtlCol="0">
            <a:spAutoFit/>
          </a:bodyPr>
          <a:lstStyle/>
          <a:p>
            <a:r>
              <a:rPr lang="en-US" altLang="zh-TW" dirty="0">
                <a:latin typeface="Microsoft YaHei" panose="020B0503020204020204" pitchFamily="34" charset="-122"/>
                <a:ea typeface="Microsoft YaHei" panose="020B0503020204020204" pitchFamily="34" charset="-122"/>
              </a:rPr>
              <a:t>(Lu et al., 2019)</a:t>
            </a:r>
            <a:endParaRPr lang="zh-TW" altLang="en-US" dirty="0"/>
          </a:p>
        </p:txBody>
      </p:sp>
    </p:spTree>
    <p:extLst>
      <p:ext uri="{BB962C8B-B14F-4D97-AF65-F5344CB8AC3E}">
        <p14:creationId xmlns:p14="http://schemas.microsoft.com/office/powerpoint/2010/main" val="372465291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47462-29BF-0CD0-421A-3FDAB24B155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2C14D420-43E0-E482-B476-D77A3E289967}"/>
              </a:ext>
            </a:extLst>
          </p:cNvPr>
          <p:cNvSpPr>
            <a:spLocks noGrp="1"/>
          </p:cNvSpPr>
          <p:nvPr>
            <p:ph type="title"/>
          </p:nvPr>
        </p:nvSpPr>
        <p:spPr/>
        <p:txBody>
          <a:bodyPr/>
          <a:lstStyle/>
          <a:p>
            <a:r>
              <a:rPr lang="zh-TW" altLang="en-US" dirty="0"/>
              <a:t>臨床建議及執行計畫</a:t>
            </a:r>
          </a:p>
        </p:txBody>
      </p:sp>
      <p:graphicFrame>
        <p:nvGraphicFramePr>
          <p:cNvPr id="11" name="內容版面配置區 2">
            <a:extLst>
              <a:ext uri="{FF2B5EF4-FFF2-40B4-BE49-F238E27FC236}">
                <a16:creationId xmlns:a16="http://schemas.microsoft.com/office/drawing/2014/main" id="{CFB8C1CD-C30E-9311-16EE-5EAB6003A449}"/>
              </a:ext>
            </a:extLst>
          </p:cNvPr>
          <p:cNvGraphicFramePr>
            <a:graphicFrameLocks noGrp="1"/>
          </p:cNvGraphicFramePr>
          <p:nvPr>
            <p:ph idx="1"/>
            <p:extLst>
              <p:ext uri="{D42A27DB-BD31-4B8C-83A1-F6EECF244321}">
                <p14:modId xmlns:p14="http://schemas.microsoft.com/office/powerpoint/2010/main" val="1488486225"/>
              </p:ext>
            </p:extLst>
          </p:nvPr>
        </p:nvGraphicFramePr>
        <p:xfrm>
          <a:off x="612647" y="1229334"/>
          <a:ext cx="10653579" cy="45938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投影片編號版面配置區 5">
            <a:extLst>
              <a:ext uri="{FF2B5EF4-FFF2-40B4-BE49-F238E27FC236}">
                <a16:creationId xmlns:a16="http://schemas.microsoft.com/office/drawing/2014/main" id="{25464FEB-EE2E-3E60-FA62-1D2A141D006F}"/>
              </a:ext>
            </a:extLst>
          </p:cNvPr>
          <p:cNvSpPr>
            <a:spLocks noGrp="1"/>
          </p:cNvSpPr>
          <p:nvPr>
            <p:ph type="sldNum" sz="quarter" idx="12"/>
          </p:nvPr>
        </p:nvSpPr>
        <p:spPr>
          <a:xfrm>
            <a:off x="11472864" y="6500813"/>
            <a:ext cx="588506" cy="317314"/>
          </a:xfrm>
        </p:spPr>
        <p:txBody>
          <a:bodyPr/>
          <a:lstStyle/>
          <a:p>
            <a:fld id="{CC057153-B650-4DEB-B370-79DDCFDCE934}" type="slidenum">
              <a:rPr lang="en-US" sz="2400" smtClean="0"/>
              <a:t>34</a:t>
            </a:fld>
            <a:endParaRPr lang="en-US" sz="2400" dirty="0"/>
          </a:p>
        </p:txBody>
      </p:sp>
    </p:spTree>
    <p:extLst>
      <p:ext uri="{BB962C8B-B14F-4D97-AF65-F5344CB8AC3E}">
        <p14:creationId xmlns:p14="http://schemas.microsoft.com/office/powerpoint/2010/main" val="124055595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EF275CF-B15C-2CE2-FA5E-667F8FCCEB7E}"/>
              </a:ext>
            </a:extLst>
          </p:cNvPr>
          <p:cNvSpPr>
            <a:spLocks noGrp="1"/>
          </p:cNvSpPr>
          <p:nvPr>
            <p:ph type="title"/>
          </p:nvPr>
        </p:nvSpPr>
        <p:spPr/>
        <p:txBody>
          <a:bodyPr/>
          <a:lstStyle/>
          <a:p>
            <a:r>
              <a:rPr lang="zh-TW" altLang="en-US" dirty="0"/>
              <a:t>文獻查證</a:t>
            </a:r>
          </a:p>
        </p:txBody>
      </p:sp>
      <p:sp>
        <p:nvSpPr>
          <p:cNvPr id="3" name="內容版面配置區 2">
            <a:extLst>
              <a:ext uri="{FF2B5EF4-FFF2-40B4-BE49-F238E27FC236}">
                <a16:creationId xmlns:a16="http://schemas.microsoft.com/office/drawing/2014/main" id="{BBB113FD-1870-16F6-519F-B97DE5B2B19C}"/>
              </a:ext>
            </a:extLst>
          </p:cNvPr>
          <p:cNvSpPr>
            <a:spLocks noGrp="1"/>
          </p:cNvSpPr>
          <p:nvPr>
            <p:ph idx="1"/>
          </p:nvPr>
        </p:nvSpPr>
        <p:spPr>
          <a:xfrm>
            <a:off x="612647" y="1294410"/>
            <a:ext cx="10653579" cy="5014950"/>
          </a:xfrm>
        </p:spPr>
        <p:txBody>
          <a:bodyPr>
            <a:normAutofit fontScale="85000" lnSpcReduction="20000"/>
          </a:bodyPr>
          <a:lstStyle/>
          <a:p>
            <a:r>
              <a:rPr lang="en-US" altLang="zh-TW" dirty="0" err="1">
                <a:latin typeface="Microsoft YaHei" panose="020B0503020204020204" pitchFamily="34" charset="-122"/>
                <a:ea typeface="Microsoft YaHei" panose="020B0503020204020204" pitchFamily="34" charset="-122"/>
              </a:rPr>
              <a:t>Çalışkan</a:t>
            </a:r>
            <a:r>
              <a:rPr lang="en-US" altLang="zh-TW" dirty="0">
                <a:latin typeface="Microsoft YaHei" panose="020B0503020204020204" pitchFamily="34" charset="-122"/>
                <a:ea typeface="Microsoft YaHei" panose="020B0503020204020204" pitchFamily="34" charset="-122"/>
              </a:rPr>
              <a:t>, D., </a:t>
            </a:r>
            <a:r>
              <a:rPr lang="en-US" altLang="zh-TW" dirty="0" err="1">
                <a:latin typeface="Microsoft YaHei" panose="020B0503020204020204" pitchFamily="34" charset="-122"/>
                <a:ea typeface="Microsoft YaHei" panose="020B0503020204020204" pitchFamily="34" charset="-122"/>
              </a:rPr>
              <a:t>Bildik</a:t>
            </a:r>
            <a:r>
              <a:rPr lang="en-US" altLang="zh-TW" dirty="0">
                <a:latin typeface="Microsoft YaHei" panose="020B0503020204020204" pitchFamily="34" charset="-122"/>
                <a:ea typeface="Microsoft YaHei" panose="020B0503020204020204" pitchFamily="34" charset="-122"/>
              </a:rPr>
              <a:t>, F., Aslaner, M. A., Kılıçaslan, İ., Keleş, A., &amp; Demircan, A. (2021). Effects of metronome use on cardiopulmonary resuscitation quality. Turkish journal of emergency medicine, 21(2), 51–55. https://doi.org/10.4103/2452-2473.309137</a:t>
            </a:r>
          </a:p>
          <a:p>
            <a:r>
              <a:rPr lang="en-US" altLang="zh-TW" dirty="0">
                <a:latin typeface="Microsoft YaHei" panose="020B0503020204020204" pitchFamily="34" charset="-122"/>
                <a:ea typeface="Microsoft YaHei" panose="020B0503020204020204" pitchFamily="34" charset="-122"/>
              </a:rPr>
              <a:t>Del Rios, M., Bartos, J. A., Panchal, A. R., Atkins, D. L., Cabañas, J. G., Cao, D., ... &amp; Previdi, J. K. (2025). Part 1: executive summary: 2025 American Heart Association Guidelines for cardiopulmonary resuscitation and emergency cardiovascular care. Circulation, 152(16_suppl_2), S284-S312.</a:t>
            </a:r>
          </a:p>
          <a:p>
            <a:r>
              <a:rPr lang="en-US" altLang="zh-TW" dirty="0">
                <a:latin typeface="Microsoft YaHei" panose="020B0503020204020204" pitchFamily="34" charset="-122"/>
                <a:ea typeface="Microsoft YaHei" panose="020B0503020204020204" pitchFamily="34" charset="-122"/>
              </a:rPr>
              <a:t>Kennedy, J., Machado, K., Maynard, C., Walker, R. G., Sayre, M. R., &amp; Counts, C. R. (2023). Metronome use improves achievement of a target compression rate in out-of-hospital cardiac arrest: A retrospective analysis. Resuscitation plus, 15, 100417. </a:t>
            </a:r>
            <a:r>
              <a:rPr lang="en-US" altLang="zh-TW" dirty="0">
                <a:latin typeface="Microsoft YaHei" panose="020B0503020204020204" pitchFamily="34" charset="-122"/>
                <a:ea typeface="Microsoft YaHei" panose="020B0503020204020204" pitchFamily="34" charset="-122"/>
                <a:hlinkClick r:id="rId2">
                  <a:extLst>
                    <a:ext uri="{A12FA001-AC4F-418D-AE19-62706E023703}">
                      <ahyp:hlinkClr xmlns:ahyp="http://schemas.microsoft.com/office/drawing/2018/hyperlinkcolor" val="tx"/>
                    </a:ext>
                  </a:extLst>
                </a:hlinkClick>
              </a:rPr>
              <a:t>https://doi.org/10.1016/j.resplu.2023.100417</a:t>
            </a:r>
            <a:endParaRPr lang="en-US" altLang="zh-TW" dirty="0">
              <a:latin typeface="Microsoft YaHei" panose="020B0503020204020204" pitchFamily="34" charset="-122"/>
              <a:ea typeface="Microsoft YaHei" panose="020B0503020204020204" pitchFamily="34" charset="-122"/>
            </a:endParaRPr>
          </a:p>
          <a:p>
            <a:r>
              <a:rPr lang="en-US" altLang="zh-TW" dirty="0">
                <a:latin typeface="Microsoft YaHei" panose="020B0503020204020204" pitchFamily="34" charset="-122"/>
                <a:ea typeface="Microsoft YaHei" panose="020B0503020204020204" pitchFamily="34" charset="-122"/>
              </a:rPr>
              <a:t>Lan, C., Shen, H., &amp; Li, Y. (2025). Effectiveness of different music tempos in guiding cardiopulmonary resuscitation training. Postgraduate medical journal, 101(1201), 1189–1194. </a:t>
            </a:r>
            <a:r>
              <a:rPr lang="en-US" altLang="zh-TW" dirty="0">
                <a:latin typeface="Microsoft YaHei" panose="020B0503020204020204" pitchFamily="34" charset="-122"/>
                <a:ea typeface="Microsoft YaHei" panose="020B0503020204020204" pitchFamily="34" charset="-122"/>
                <a:hlinkClick r:id="rId3">
                  <a:extLst>
                    <a:ext uri="{A12FA001-AC4F-418D-AE19-62706E023703}">
                      <ahyp:hlinkClr xmlns:ahyp="http://schemas.microsoft.com/office/drawing/2018/hyperlinkcolor" val="tx"/>
                    </a:ext>
                  </a:extLst>
                </a:hlinkClick>
              </a:rPr>
              <a:t>https://doi.org/10.1093/postmj/qgaf068</a:t>
            </a:r>
            <a:endParaRPr lang="en-US" altLang="zh-TW" dirty="0">
              <a:latin typeface="Microsoft YaHei" panose="020B0503020204020204" pitchFamily="34" charset="-122"/>
              <a:ea typeface="Microsoft YaHei" panose="020B0503020204020204" pitchFamily="34" charset="-122"/>
            </a:endParaRPr>
          </a:p>
          <a:p>
            <a:r>
              <a:rPr lang="en-US" altLang="zh-TW" dirty="0">
                <a:latin typeface="Microsoft YaHei" panose="020B0503020204020204" pitchFamily="34" charset="-122"/>
                <a:ea typeface="Microsoft YaHei" panose="020B0503020204020204" pitchFamily="34" charset="-122"/>
              </a:rPr>
              <a:t>Lu, T. C., Chang, Y. T., Ho, T. W., Chen, Y., Lee, Y. T., Wang, Y. S., Chen, Y. P., Tsai, C. L., Ma, M. H., Fang, C. C., Lai, F., </a:t>
            </a:r>
            <a:r>
              <a:rPr lang="en-US" altLang="zh-TW" dirty="0" err="1">
                <a:latin typeface="Microsoft YaHei" panose="020B0503020204020204" pitchFamily="34" charset="-122"/>
                <a:ea typeface="Microsoft YaHei" panose="020B0503020204020204" pitchFamily="34" charset="-122"/>
              </a:rPr>
              <a:t>Meischke</a:t>
            </a:r>
            <a:r>
              <a:rPr lang="en-US" altLang="zh-TW" dirty="0">
                <a:latin typeface="Microsoft YaHei" panose="020B0503020204020204" pitchFamily="34" charset="-122"/>
                <a:ea typeface="Microsoft YaHei" panose="020B0503020204020204" pitchFamily="34" charset="-122"/>
              </a:rPr>
              <a:t>, H. W., &amp; Turner, A. M. (2019). Using a smartwatch with real-time feedback improves the delivery of high-quality cardiopulmonary resuscitation by healthcare professionals. Resuscitation, 140, 16–22. https://doi.org/10.1016/j.resuscitation.2019.04.050</a:t>
            </a:r>
          </a:p>
          <a:p>
            <a:endParaRPr lang="en-US" altLang="zh-TW" dirty="0"/>
          </a:p>
          <a:p>
            <a:endParaRPr lang="zh-TW" altLang="en-US" dirty="0"/>
          </a:p>
        </p:txBody>
      </p:sp>
      <p:sp>
        <p:nvSpPr>
          <p:cNvPr id="5" name="投影片編號版面配置區 4">
            <a:extLst>
              <a:ext uri="{FF2B5EF4-FFF2-40B4-BE49-F238E27FC236}">
                <a16:creationId xmlns:a16="http://schemas.microsoft.com/office/drawing/2014/main" id="{0F3439EE-F24D-E2BC-4A2D-81F42A9A36CC}"/>
              </a:ext>
            </a:extLst>
          </p:cNvPr>
          <p:cNvSpPr>
            <a:spLocks noGrp="1"/>
          </p:cNvSpPr>
          <p:nvPr>
            <p:ph type="sldNum" sz="quarter" idx="12"/>
          </p:nvPr>
        </p:nvSpPr>
        <p:spPr>
          <a:xfrm>
            <a:off x="11472864" y="6486525"/>
            <a:ext cx="588506" cy="331602"/>
          </a:xfrm>
        </p:spPr>
        <p:txBody>
          <a:bodyPr/>
          <a:lstStyle/>
          <a:p>
            <a:fld id="{CC057153-B650-4DEB-B370-79DDCFDCE934}" type="slidenum">
              <a:rPr lang="en-US" sz="2400" smtClean="0"/>
              <a:t>35</a:t>
            </a:fld>
            <a:endParaRPr lang="en-US" sz="2400" dirty="0"/>
          </a:p>
        </p:txBody>
      </p:sp>
    </p:spTree>
    <p:extLst>
      <p:ext uri="{BB962C8B-B14F-4D97-AF65-F5344CB8AC3E}">
        <p14:creationId xmlns:p14="http://schemas.microsoft.com/office/powerpoint/2010/main" val="345156534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9" name="Rectangle 2054">
            <a:extLst>
              <a:ext uri="{FF2B5EF4-FFF2-40B4-BE49-F238E27FC236}">
                <a16:creationId xmlns:a16="http://schemas.microsoft.com/office/drawing/2014/main" id="{35D3817B-01DA-DCDA-FA18-49D6FF0037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感謝聆聽">
            <a:extLst>
              <a:ext uri="{FF2B5EF4-FFF2-40B4-BE49-F238E27FC236}">
                <a16:creationId xmlns:a16="http://schemas.microsoft.com/office/drawing/2014/main" id="{8A5BC0E8-2B5C-3EFA-9B79-DD08F8A3CF9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667"/>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4" name="投影片編號版面配置區 3">
            <a:extLst>
              <a:ext uri="{FF2B5EF4-FFF2-40B4-BE49-F238E27FC236}">
                <a16:creationId xmlns:a16="http://schemas.microsoft.com/office/drawing/2014/main" id="{2FCAEB14-90B4-0935-5812-D33CEE0CE332}"/>
              </a:ext>
            </a:extLst>
          </p:cNvPr>
          <p:cNvSpPr>
            <a:spLocks noGrp="1"/>
          </p:cNvSpPr>
          <p:nvPr>
            <p:ph type="sldNum" sz="quarter" idx="12"/>
          </p:nvPr>
        </p:nvSpPr>
        <p:spPr>
          <a:xfrm>
            <a:off x="11632162" y="6453002"/>
            <a:ext cx="429207" cy="365125"/>
          </a:xfrm>
        </p:spPr>
        <p:txBody>
          <a:bodyPr vert="horz" lIns="91440" tIns="45720" rIns="91440" bIns="45720" rtlCol="0" anchor="ctr">
            <a:normAutofit/>
          </a:bodyPr>
          <a:lstStyle/>
          <a:p>
            <a:pPr>
              <a:spcAft>
                <a:spcPts val="600"/>
              </a:spcAft>
            </a:pPr>
            <a:fld id="{CC057153-B650-4DEB-B370-79DDCFDCE934}" type="slidenum">
              <a:rPr lang="en-US">
                <a:solidFill>
                  <a:srgbClr val="FFFFFF"/>
                </a:solidFill>
              </a:rPr>
              <a:pPr>
                <a:spcAft>
                  <a:spcPts val="600"/>
                </a:spcAft>
              </a:pPr>
              <a:t>36</a:t>
            </a:fld>
            <a:endParaRPr lang="en-US">
              <a:solidFill>
                <a:srgbClr val="FFFFFF"/>
              </a:solidFill>
            </a:endParaRPr>
          </a:p>
        </p:txBody>
      </p:sp>
    </p:spTree>
    <p:extLst>
      <p:ext uri="{BB962C8B-B14F-4D97-AF65-F5344CB8AC3E}">
        <p14:creationId xmlns:p14="http://schemas.microsoft.com/office/powerpoint/2010/main" val="25855268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1040</TotalTime>
  <Words>2560</Words>
  <Application>Microsoft Office PowerPoint</Application>
  <PresentationFormat>寬螢幕</PresentationFormat>
  <Paragraphs>377</Paragraphs>
  <Slides>36</Slides>
  <Notes>5</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36</vt:i4>
      </vt:variant>
    </vt:vector>
  </HeadingPairs>
  <TitlesOfParts>
    <vt:vector size="42" baseType="lpstr">
      <vt:lpstr>Microsoft YaHei</vt:lpstr>
      <vt:lpstr>Aptos</vt:lpstr>
      <vt:lpstr>Arial</vt:lpstr>
      <vt:lpstr>Neue Haas Grotesk Text Pro</vt:lpstr>
      <vt:lpstr>Wingdings</vt:lpstr>
      <vt:lpstr>VanillaVTI</vt:lpstr>
      <vt:lpstr>使用語音導引輔助系統是否能提升醫護人員執行心肺復甦術流程之的遵循率</vt:lpstr>
      <vt:lpstr>臨床情境</vt:lpstr>
      <vt:lpstr>瞭解護理師的主要問題</vt:lpstr>
      <vt:lpstr>瞭解護理師的期望</vt:lpstr>
      <vt:lpstr>背景知識</vt:lpstr>
      <vt:lpstr>根據臨床問題形成一個PICO</vt:lpstr>
      <vt:lpstr>實證搜尋步驟-關鍵字</vt:lpstr>
      <vt:lpstr>PRISMA flow chart</vt:lpstr>
      <vt:lpstr>實證搜尋步驟-CASP評讀</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臨床建議及執行計畫</vt:lpstr>
      <vt:lpstr>臨床建議及執行計畫</vt:lpstr>
      <vt:lpstr>臨床建議及執行計畫</vt:lpstr>
      <vt:lpstr>文獻查證</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萬先亞</dc:creator>
  <cp:lastModifiedBy>萬先亞</cp:lastModifiedBy>
  <cp:revision>170</cp:revision>
  <dcterms:created xsi:type="dcterms:W3CDTF">2025-11-03T10:11:07Z</dcterms:created>
  <dcterms:modified xsi:type="dcterms:W3CDTF">2025-12-14T09:55:18Z</dcterms:modified>
</cp:coreProperties>
</file>