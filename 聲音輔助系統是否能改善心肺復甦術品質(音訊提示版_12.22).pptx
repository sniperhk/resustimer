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latin typeface="Microsoft JhengHei"/>
              </a:rPr>
              <a:t>語音提示計時器是否能提升高品質 CPR？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EBP 聚焦：預錄語音提示／時間點語音引導（非「節拍器」為主）</a:t>
            </a:r>
          </a:p>
          <a:p>
            <a:r>
              <a:rPr sz="2000">
                <a:latin typeface="Microsoft JhengHei"/>
              </a:rPr>
              <a:t>2025-12-22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臨床情境（IHCA / first responder）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JhengHei"/>
              </a:rPr>
              <a:t>夜班病房常僅 2 人值班；IHCA 發生時急救團隊抵達前約 3–5 分鐘需由 first responder 先撐住</a:t>
            </a:r>
          </a:p>
          <a:p>
            <a:pPr/>
            <a:r>
              <a:rPr sz="2000">
                <a:latin typeface="Microsoft JhengHei"/>
              </a:rPr>
              <a:t>壓力下「流程與時間」最容易亂：2 分鐘循環、心律檢查、換手、給藥時點</a:t>
            </a:r>
          </a:p>
          <a:p>
            <a:pPr/>
            <a:r>
              <a:rPr sz="2000">
                <a:latin typeface="Microsoft JhengHei"/>
              </a:rPr>
              <a:t>同時還要維持高品質壓胸：深度、頻率、最小化中斷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  <a:latin typeface="Microsoft JhengHei"/>
              </a:rPr>
              <a:t>背景參考：Abella 2005 (JAMA, PMID:15657323)；SGH 2024 (PMID:38331344)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本次 EBP 要解的核心問題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JhengHei"/>
              </a:rPr>
              <a:t>不是只問「按壓頻率怎麼維持」</a:t>
            </a:r>
          </a:p>
          <a:p>
            <a:pPr/>
            <a:r>
              <a:rPr sz="2000">
                <a:latin typeface="Microsoft JhengHei"/>
              </a:rPr>
              <a:t>而是：能否用「語音提示」降低記憶負荷，讓 first responder 在混亂中仍能：</a:t>
            </a:r>
          </a:p>
          <a:p>
            <a:pPr lvl="1"/>
            <a:r>
              <a:rPr sz="2000">
                <a:latin typeface="Microsoft JhengHei"/>
              </a:rPr>
              <a:t>把 2 分鐘循環做準、減少 hands-off / no-flow</a:t>
            </a:r>
          </a:p>
          <a:p>
            <a:pPr lvl="1"/>
            <a:r>
              <a:rPr sz="2000">
                <a:latin typeface="Microsoft JhengHei"/>
              </a:rPr>
              <a:t>把關鍵處置時點做準（心律檢查、換手、給藥提醒）</a:t>
            </a:r>
          </a:p>
          <a:p>
            <a:pPr lvl="1"/>
            <a:r>
              <a:rPr sz="2000">
                <a:latin typeface="Microsoft JhengHei"/>
              </a:rPr>
              <a:t>同時維持按壓深度/頻率達標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介入定義（Audio Prompt 為主，Metronome 為可選）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JhengHei"/>
              </a:rPr>
              <a:t>核心：預錄語音 prompts + 重要時間點提醒（2:00 心律檢查/換手、給藥等）</a:t>
            </a:r>
          </a:p>
          <a:p>
            <a:pPr/>
            <a:r>
              <a:rPr sz="2000">
                <a:latin typeface="Microsoft JhengHei"/>
              </a:rPr>
              <a:t>回饋型態：純聽覺（不依賴視覺回饋）</a:t>
            </a:r>
          </a:p>
          <a:p>
            <a:pPr/>
            <a:r>
              <a:rPr sz="2000">
                <a:latin typeface="Microsoft JhengHei"/>
              </a:rPr>
              <a:t>節拍器：100–120 BPM（預設 110）可作為可選模組，但不作為主要結論依據</a:t>
            </a:r>
          </a:p>
          <a:p>
            <a:pPr/>
            <a:r>
              <a:rPr sz="2000">
                <a:latin typeface="Microsoft JhengHei"/>
              </a:rPr>
              <a:t>排除：music tempo-only、dispatcher-only、real-time feedback device、VAM 作為介入本體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PICO（修訂後）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424160"/>
              </a:tblGrid>
              <a:tr h="1097280">
                <a:tc>
                  <a:txBody>
                    <a:bodyPr/>
                    <a:lstStyle/>
                    <a:p>
                      <a:r>
                        <a:rPr sz="1600" b="1">
                          <a:latin typeface="Microsoft JhengHei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Microsoft JhengHei"/>
                        </a:rPr>
                        <a:t>非急救專責一般醫護人員（病房/門診護理師、值班住院醫師）於模擬 IHCA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600" b="0">
                          <a:latin typeface="Microsoft JhengHei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Microsoft JhengHei"/>
                        </a:rPr>
                        <a:t>自動語音提示計時器（預錄語音 prompts + 2 分鐘循環/心律檢查/給藥等時間提醒；純聽覺）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600" b="0">
                          <a:latin typeface="Microsoft JhengHei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Microsoft JhengHei"/>
                        </a:rPr>
                        <a:t>傳統急救流程（無語音引導，自行計時與流程管理）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600" b="0">
                          <a:latin typeface="Microsoft JhengHei"/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Microsoft JhengHei"/>
                        </a:rPr>
                        <a:t>Primary：壓胸深度/頻率達標率；Secondary：hands-off/no-flow、時間偏差、給藥準確度、自我效能/焦慮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文獻搜尋（摘要）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JhengHei"/>
              </a:rPr>
              <a:t>策略一（audio/voice prompt）：11 篇 → 高度相關 2 篇（Chiang 2005；Milander 1995）</a:t>
            </a:r>
          </a:p>
          <a:p>
            <a:pPr/>
            <a:r>
              <a:rPr sz="2000">
                <a:latin typeface="Microsoft JhengHei"/>
              </a:rPr>
              <a:t>策略二（擴充敏感性）：76 篇 → 高度相關（audio/voice prompt）6 篇；metronome 類 22 篇</a:t>
            </a:r>
          </a:p>
          <a:p>
            <a:pPr/>
            <a:r>
              <a:rPr sz="2000">
                <a:latin typeface="Microsoft JhengHei"/>
              </a:rPr>
              <a:t>篩選重點：優先納入「語音提示/預錄指令/時間點引導」可分離者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  <a:latin typeface="Microsoft JhengHei"/>
              </a:rPr>
              <a:t>詳細紀錄：文獻搜尋結果_策略一.md、文獻搜尋結果_策略二.md（2025-12-20）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核心證據 1：臨床情境的 Audio-prompts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JhengHei"/>
              </a:rPr>
              <a:t>Chiang WC et al., Resuscitation 2005 (PMID:15733757, DOI:10.1016/j.resuscitation.2004.09.010)</a:t>
            </a:r>
          </a:p>
          <a:p>
            <a:pPr/>
            <a:r>
              <a:rPr sz="2000">
                <a:latin typeface="Microsoft JhengHei"/>
              </a:rPr>
              <a:t>介入：audio-prompts（語音提示）導入臨床急救（影片分析）</a:t>
            </a:r>
          </a:p>
          <a:p>
            <a:pPr/>
            <a:r>
              <a:rPr sz="2000">
                <a:latin typeface="Microsoft JhengHei"/>
              </a:rPr>
              <a:t>結果：hands-off periods 與總 hands-off time 顯著下降；插管效率提升（&lt;20s：10%→56.3%）</a:t>
            </a:r>
          </a:p>
          <a:p>
            <a:pPr/>
            <a:r>
              <a:rPr sz="2000">
                <a:latin typeface="Microsoft JhengHei"/>
              </a:rPr>
              <a:t>意義：語音 prompts 可改善「流程遵循/中斷時間」等關鍵品質指標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核心證據 2：預錄語音指令/聽覺引導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JhengHei"/>
              </a:rPr>
              <a:t>Milander MM et al., Acad Emerg Med 1995 (PMID:7584749)</a:t>
            </a:r>
          </a:p>
          <a:p>
            <a:pPr/>
            <a:r>
              <a:rPr sz="2000">
                <a:latin typeface="Microsoft JhengHei"/>
              </a:rPr>
              <a:t>介入：audible tone guidance（聽覺音調引導）→ 壓胸頻率由 74±22 提升至 100±3 /min</a:t>
            </a:r>
          </a:p>
          <a:p>
            <a:pPr/>
            <a:r>
              <a:rPr sz="2000">
                <a:latin typeface="Microsoft JhengHei"/>
              </a:rPr>
              <a:t>Birkun A et al., World J Emerg Med 2018 (DOI:10.5847/wjem.j.1920–8642.2018.03.001)</a:t>
            </a:r>
          </a:p>
          <a:p>
            <a:pPr/>
            <a:r>
              <a:rPr sz="2000">
                <a:latin typeface="Microsoft JhengHei"/>
              </a:rPr>
              <a:t>介入：telephone CPR 以「預錄 instructional audio」 vs dispatcher assistance → 效果不劣且可縮短至首次按壓時間</a:t>
            </a:r>
          </a:p>
          <a:p>
            <a:pPr/>
            <a:r>
              <a:rPr sz="2000">
                <a:latin typeface="Microsoft JhengHei"/>
              </a:rPr>
              <a:t>意義：預錄音訊可在高壓/新手場景提供可標準化的即時引導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反證/限制與 Research Gap（為什麼要做自己的研究）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JhengHei"/>
              </a:rPr>
              <a:t>Bohn 2011 (PMID:21146279)：在 EMS + 既有 metronome/visual feedback/訓練/持續 debriefing 情境下，加 voice prompts 未見額外效益</a:t>
            </a:r>
          </a:p>
          <a:p>
            <a:pPr/>
            <a:r>
              <a:rPr sz="2000">
                <a:latin typeface="Microsoft JhengHei"/>
              </a:rPr>
              <a:t>解讀：當 baseline 品質已高且已有多模態回饋時，voice prompts 的邊際效益可能下降</a:t>
            </a:r>
          </a:p>
          <a:p>
            <a:pPr/>
            <a:r>
              <a:rPr sz="2000">
                <a:latin typeface="Microsoft JhengHei"/>
              </a:rPr>
              <a:t>Gap：缺乏針對「非急救專責」+「IHCA」+「純聽覺語音提示」的近期 RCT/前瞻性研究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臨床建議（回到 Audio Prompt）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JhengHei"/>
              </a:rPr>
              <a:t>在缺乏昂貴即時回饋裝置、且 first responder 需獨撐的情境，可導入「自動語音提示計時器」作為低成本認知輔助</a:t>
            </a:r>
          </a:p>
          <a:p>
            <a:pPr/>
            <a:r>
              <a:rPr sz="2000">
                <a:latin typeface="Microsoft JhengHei"/>
              </a:rPr>
              <a:t>主目標：把時間與流程做準（2 分鐘循環、心律檢查、換手、給藥提醒），同時提升/維持壓胸品質</a:t>
            </a:r>
          </a:p>
          <a:p>
            <a:pPr/>
            <a:r>
              <a:rPr sz="2000">
                <a:latin typeface="Microsoft JhengHei"/>
              </a:rPr>
              <a:t>節拍器僅作為「按壓頻率輔助」的可選模組，避免讓介入被理解成只是一個 metronome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Microsoft JhengHei"/>
              </a:rPr>
              <a:t>研究/導入計畫（MVP）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JhengHei"/>
              </a:rPr>
              <a:t>設計：Prospective randomized controlled simulation study</a:t>
            </a:r>
          </a:p>
          <a:p>
            <a:pPr/>
            <a:r>
              <a:rPr sz="2000">
                <a:latin typeface="Microsoft JhengHei"/>
              </a:rPr>
              <a:t>對象：病房護理師、值班住院醫師（非急救專責）</a:t>
            </a:r>
          </a:p>
          <a:p>
            <a:pPr/>
            <a:r>
              <a:rPr sz="2000">
                <a:latin typeface="Microsoft JhengHei"/>
              </a:rPr>
              <a:t>介入：語音提示計時器 vs 傳統流程（自行計時）</a:t>
            </a:r>
          </a:p>
          <a:p>
            <a:pPr/>
            <a:r>
              <a:rPr sz="2000">
                <a:latin typeface="Microsoft JhengHei"/>
              </a:rPr>
              <a:t>主要指標：壓胸深度/頻率達標率、chest compression fraction、hands-off/no-flow</a:t>
            </a:r>
          </a:p>
          <a:p>
            <a:pPr/>
            <a:r>
              <a:rPr sz="2000">
                <a:latin typeface="Microsoft JhengHei"/>
              </a:rPr>
              <a:t>次要指標：2 分鐘循環偏差、給藥時間準確度、自我效能/焦慮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  <a:latin typeface="Microsoft JhengHei"/>
              </a:rPr>
              <a:t>介入原型：cpr_timer_app/（含語音提示與可選節拍器）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